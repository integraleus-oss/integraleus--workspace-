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0000"/>
          </a:xfrm>
          <a:prstGeom prst="rect">
            <a:avLst/>
          </a:prstGeom>
          <a:solidFill>
            <a:srgbClr val="0997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000" y="300000"/>
            <a:ext cx="2600000" cy="400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0000" y="1200000"/>
            <a:ext cx="8000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FFFFFF"/>
                </a:solidFill>
                <a:latin typeface="Arial"/>
              </a:defRPr>
            </a:pPr>
            <a:r>
              <a:t>Альфа платформа</a:t>
            </a:r>
          </a:p>
          <a:p>
            <a:pPr>
              <a:spcBef>
                <a:spcPts val="600"/>
              </a:spcBef>
              <a:defRPr sz="2800" b="1">
                <a:solidFill>
                  <a:srgbClr val="0997C8"/>
                </a:solidFill>
                <a:latin typeface="Arial"/>
              </a:defRPr>
            </a:pPr>
            <a:r>
              <a:t>Стратегия замены PI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0000" y="2700000"/>
            <a:ext cx="7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CCDD"/>
                </a:solidFill>
                <a:latin typeface="Arial"/>
              </a:defRPr>
            </a:pPr>
            <a:r>
              <a:t>От зависимости к контролю. Подход к импортозамещению для IT и автоматизации.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400000"/>
            <a:ext cx="9144000" cy="1"/>
          </a:xfrm>
          <a:prstGeom prst="rect">
            <a:avLst/>
          </a:prstGeom>
          <a:solidFill>
            <a:srgbClr val="334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0000" y="4500000"/>
            <a:ext cx="5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E6E6E"/>
                </a:solidFill>
                <a:latin typeface="Arial"/>
              </a:defRPr>
            </a:pPr>
            <a:r>
              <a:t>АО «Атомик Софт»  •  automiq.ru  •  Конфиденциально</a:t>
            </a:r>
          </a:p>
        </p:txBody>
      </p:sp>
      <p:sp>
        <p:nvSpPr>
          <p:cNvPr id="9" name="Rectangle 8"/>
          <p:cNvSpPr/>
          <p:nvPr/>
        </p:nvSpPr>
        <p:spPr>
          <a:xfrm>
            <a:off x="6500000" y="4450000"/>
            <a:ext cx="2300000" cy="350000"/>
          </a:xfrm>
          <a:prstGeom prst="rect">
            <a:avLst/>
          </a:prstGeom>
          <a:solidFill>
            <a:srgbClr val="22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00000" y="4480000"/>
            <a:ext cx="23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899BB"/>
                </a:solidFill>
                <a:latin typeface="Arial"/>
              </a:defRPr>
            </a:pPr>
            <a:r>
              <a:t>Внутренняя встреча •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98120"/>
            <a:ext cx="9144000" cy="586740"/>
          </a:xfrm>
          <a:prstGeom prst="rect">
            <a:avLst/>
          </a:prstGeom>
          <a:solidFill>
            <a:srgbClr val="0054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3128" y="230000"/>
            <a:ext cx="8000000" cy="5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Arial"/>
              </a:defRPr>
            </a:pPr>
            <a:r>
              <a:t>Ситуация: почему нужно действовать сейчас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84860"/>
            <a:ext cx="9144000" cy="25000"/>
          </a:xfrm>
          <a:prstGeom prst="rect">
            <a:avLst/>
          </a:prstGeom>
          <a:solidFill>
            <a:srgbClr val="0997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0000" y="240000"/>
            <a:ext cx="1500000" cy="230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4950000"/>
            <a:ext cx="9144000" cy="40000"/>
          </a:xfrm>
          <a:prstGeom prst="rect">
            <a:avLst/>
          </a:prstGeom>
          <a:solidFill>
            <a:srgbClr val="0997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4990000"/>
            <a:ext cx="9144000" cy="153500"/>
          </a:xfrm>
          <a:prstGeom prst="rect">
            <a:avLst/>
          </a:prstGeom>
          <a:solidFill>
            <a:srgbClr val="0054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50000" y="950000"/>
            <a:ext cx="2700000" cy="300000"/>
          </a:xfrm>
          <a:prstGeom prst="rect">
            <a:avLst/>
          </a:prstGeom>
          <a:solidFill>
            <a:srgbClr val="0054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0000" y="1005000"/>
            <a:ext cx="254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⚠️  Санкционный риск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0000" y="1320000"/>
            <a:ext cx="2540000" cy="11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  <a:defRPr sz="1000">
                <a:solidFill>
                  <a:srgbClr val="445469"/>
                </a:solidFill>
                <a:latin typeface="Arial"/>
              </a:defRPr>
            </a:pPr>
            <a:r>
              <a:t>•  AVEVA прекратила продажи и поддержку в РФ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000">
                <a:solidFill>
                  <a:srgbClr val="445469"/>
                </a:solidFill>
                <a:latin typeface="Arial"/>
              </a:defRPr>
            </a:pPr>
            <a:r>
              <a:t>•  Нет обновлений безопасности с 2022 г.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000">
                <a:solidFill>
                  <a:srgbClr val="445469"/>
                </a:solidFill>
                <a:latin typeface="Arial"/>
              </a:defRPr>
            </a:pPr>
            <a:r>
              <a:t>•  Нет техподдержки на русском языке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000">
                <a:solidFill>
                  <a:srgbClr val="445469"/>
                </a:solidFill>
                <a:latin typeface="Arial"/>
              </a:defRPr>
            </a:pPr>
            <a:r>
              <a:t>•  Контрактные обязательства не исполняются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00000" y="950000"/>
            <a:ext cx="2700000" cy="300000"/>
          </a:xfrm>
          <a:prstGeom prst="rect">
            <a:avLst/>
          </a:prstGeom>
          <a:solidFill>
            <a:srgbClr val="0997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80000" y="1005000"/>
            <a:ext cx="254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💰  Финансовый риск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80000" y="1320000"/>
            <a:ext cx="2540000" cy="11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  <a:defRPr sz="1000">
                <a:solidFill>
                  <a:srgbClr val="445469"/>
                </a:solidFill>
                <a:latin typeface="Arial"/>
              </a:defRPr>
            </a:pPr>
            <a:r>
              <a:t>•  AVEVA Flex: ~$108K/год за подписку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000">
                <a:solidFill>
                  <a:srgbClr val="445469"/>
                </a:solidFill>
                <a:latin typeface="Arial"/>
              </a:defRPr>
            </a:pPr>
            <a:r>
              <a:t>•  При неоплате — ПО перестаёт работать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000">
                <a:solidFill>
                  <a:srgbClr val="445469"/>
                </a:solidFill>
                <a:latin typeface="Arial"/>
              </a:defRPr>
            </a:pPr>
            <a:r>
              <a:t>•  Валютный риск (расчёты в долларах)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000">
                <a:solidFill>
                  <a:srgbClr val="445469"/>
                </a:solidFill>
                <a:latin typeface="Arial"/>
              </a:defRPr>
            </a:pPr>
            <a:r>
              <a:t>•  Непредсказуемый бюджет, нет контроля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50000" y="950000"/>
            <a:ext cx="2700000" cy="300000"/>
          </a:xfrm>
          <a:prstGeom prst="rect">
            <a:avLst/>
          </a:prstGeom>
          <a:solidFill>
            <a:srgbClr val="82C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30000" y="1005000"/>
            <a:ext cx="254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📋  Регуляторный риск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30000" y="1320000"/>
            <a:ext cx="2540000" cy="11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  <a:defRPr sz="1000">
                <a:solidFill>
                  <a:srgbClr val="445469"/>
                </a:solidFill>
                <a:latin typeface="Arial"/>
              </a:defRPr>
            </a:pPr>
            <a:r>
              <a:t>•  ФЗ-187 о безопасности КИИ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000">
                <a:solidFill>
                  <a:srgbClr val="445469"/>
                </a:solidFill>
                <a:latin typeface="Arial"/>
              </a:defRPr>
            </a:pPr>
            <a:r>
              <a:t>•  Указ Президента №250 (2022)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000">
                <a:solidFill>
                  <a:srgbClr val="445469"/>
                </a:solidFill>
                <a:latin typeface="Arial"/>
              </a:defRPr>
            </a:pPr>
            <a:r>
              <a:t>•  Сроки перехода ужесточаются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000">
                <a:solidFill>
                  <a:srgbClr val="445469"/>
                </a:solidFill>
                <a:latin typeface="Arial"/>
              </a:defRPr>
            </a:pPr>
            <a:r>
              <a:t>•  Регулярные проверки ФСТЭК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50000" y="4350000"/>
            <a:ext cx="8600000" cy="380000"/>
          </a:xfrm>
          <a:prstGeom prst="roundRect">
            <a:avLst/>
          </a:prstGeom>
          <a:solidFill>
            <a:srgbClr val="FE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0000" y="4400000"/>
            <a:ext cx="82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8B4A00"/>
                </a:solidFill>
                <a:latin typeface="Arial"/>
              </a:defRPr>
            </a:pPr>
            <a:r>
              <a:t>⏱  Каждый месяц без решения — $9K подписки + растущий риск отключения + нарушение требований КИИ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98120"/>
            <a:ext cx="9144000" cy="586740"/>
          </a:xfrm>
          <a:prstGeom prst="rect">
            <a:avLst/>
          </a:prstGeom>
          <a:solidFill>
            <a:srgbClr val="0054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3128" y="230000"/>
            <a:ext cx="8000000" cy="5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Arial"/>
              </a:defRPr>
            </a:pPr>
            <a:r>
              <a:t>Решение: Альфа платформа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3128" y="530000"/>
            <a:ext cx="80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DDEE"/>
                </a:solidFill>
                <a:latin typeface="Arial"/>
              </a:defRPr>
            </a:pPr>
            <a:r>
              <a:t>Российская SCADA-платформа №1 в реестре Минцифры — АО «Атомик Софт», Томск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784860"/>
            <a:ext cx="9144000" cy="25000"/>
          </a:xfrm>
          <a:prstGeom prst="rect">
            <a:avLst/>
          </a:prstGeom>
          <a:solidFill>
            <a:srgbClr val="0997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0000" y="240000"/>
            <a:ext cx="1500000" cy="2300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4950000"/>
            <a:ext cx="9144000" cy="40000"/>
          </a:xfrm>
          <a:prstGeom prst="rect">
            <a:avLst/>
          </a:prstGeom>
          <a:solidFill>
            <a:srgbClr val="0997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4990000"/>
            <a:ext cx="9144000" cy="153500"/>
          </a:xfrm>
          <a:prstGeom prst="rect">
            <a:avLst/>
          </a:prstGeom>
          <a:solidFill>
            <a:srgbClr val="0054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0000" y="950000"/>
            <a:ext cx="1800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0997C8"/>
                </a:solidFill>
                <a:latin typeface="Arial"/>
              </a:defRPr>
            </a:pPr>
            <a:r>
              <a:t>6 500+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0000" y="1330000"/>
            <a:ext cx="18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445469"/>
                </a:solidFill>
                <a:latin typeface="Arial"/>
              </a:defRPr>
            </a:pPr>
            <a:r>
              <a:t>инсталляций</a:t>
            </a:r>
            <a:br/>
            <a:r>
              <a:t>в России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00000" y="950000"/>
            <a:ext cx="1800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0997C8"/>
                </a:solidFill>
                <a:latin typeface="Arial"/>
              </a:defRPr>
            </a:pPr>
            <a:r>
              <a:t>120+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00000" y="1330000"/>
            <a:ext cx="18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445469"/>
                </a:solidFill>
                <a:latin typeface="Arial"/>
              </a:defRPr>
            </a:pPr>
            <a:r>
              <a:t>сотрудников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0000" y="950000"/>
            <a:ext cx="1800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0997C8"/>
                </a:solidFill>
                <a:latin typeface="Arial"/>
              </a:defRPr>
            </a:pPr>
            <a:r>
              <a:t>25+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00000" y="1330000"/>
            <a:ext cx="18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445469"/>
                </a:solidFill>
                <a:latin typeface="Arial"/>
              </a:defRPr>
            </a:pPr>
            <a:r>
              <a:t>коммуникационных</a:t>
            </a:r>
            <a:br/>
            <a:r>
              <a:t>протоколов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00000" y="950000"/>
            <a:ext cx="1800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0997C8"/>
                </a:solidFill>
                <a:latin typeface="Arial"/>
              </a:defRPr>
            </a:pPr>
            <a:r>
              <a:t>2 000 000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0000" y="1330000"/>
            <a:ext cx="18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445469"/>
                </a:solidFill>
                <a:latin typeface="Arial"/>
              </a:defRPr>
            </a:pPr>
            <a:r>
              <a:t>тегов</a:t>
            </a:r>
            <a:br/>
            <a:r>
              <a:t>макс. ёмкость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0000" y="1900000"/>
            <a:ext cx="83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45469"/>
                </a:solidFill>
                <a:latin typeface="Arial"/>
              </a:defRPr>
            </a:pPr>
            <a:r>
              <a:t>✅  Реестр Минцифры + лицензия ФСТЭК на разработку средств защиты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0000" y="2210000"/>
            <a:ext cx="83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45469"/>
                </a:solidFill>
                <a:latin typeface="Arial"/>
              </a:defRPr>
            </a:pPr>
            <a:r>
              <a:t>✅  Бессрочная лицензия в рублях — предсказуемый бюджет, нет подписок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0000" y="2520000"/>
            <a:ext cx="83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45469"/>
                </a:solidFill>
                <a:latin typeface="Arial"/>
              </a:defRPr>
            </a:pPr>
            <a:r>
              <a:t>✅  Windows + Linux (Astra Linux, РЕД ОС) — сертифицированные ОС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0000" y="2830000"/>
            <a:ext cx="83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45469"/>
                </a:solidFill>
                <a:latin typeface="Arial"/>
              </a:defRPr>
            </a:pPr>
            <a:r>
              <a:t>✅  Техподдержка 24/7 на русском языке, вендор в г. Томск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0000" y="3140000"/>
            <a:ext cx="83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45469"/>
                </a:solidFill>
                <a:latin typeface="Arial"/>
              </a:defRPr>
            </a:pPr>
            <a:r>
              <a:t>✅  Собственный Historian для архивирования данных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0000" y="3450000"/>
            <a:ext cx="83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45469"/>
                </a:solidFill>
                <a:latin typeface="Arial"/>
              </a:defRPr>
            </a:pPr>
            <a:r>
              <a:t>✅  Веб-доступ к мнемосхемам через Alpha.HMI.WebViewer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98120"/>
            <a:ext cx="9144000" cy="586740"/>
          </a:xfrm>
          <a:prstGeom prst="rect">
            <a:avLst/>
          </a:prstGeom>
          <a:solidFill>
            <a:srgbClr val="0054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3128" y="230000"/>
            <a:ext cx="8000000" cy="5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Arial"/>
              </a:defRPr>
            </a:pPr>
            <a:r>
              <a:t>Что меняется: суть перехода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3128" y="530000"/>
            <a:ext cx="80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DDEE"/>
                </a:solidFill>
                <a:latin typeface="Arial"/>
              </a:defRPr>
            </a:pPr>
            <a:r>
              <a:t>PI System и Альфа платформа — разные по архитектуре, но совместимые по задачам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784860"/>
            <a:ext cx="9144000" cy="25000"/>
          </a:xfrm>
          <a:prstGeom prst="rect">
            <a:avLst/>
          </a:prstGeom>
          <a:solidFill>
            <a:srgbClr val="0997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0000" y="240000"/>
            <a:ext cx="1500000" cy="2300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4950000"/>
            <a:ext cx="9144000" cy="40000"/>
          </a:xfrm>
          <a:prstGeom prst="rect">
            <a:avLst/>
          </a:prstGeom>
          <a:solidFill>
            <a:srgbClr val="0997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4990000"/>
            <a:ext cx="9144000" cy="153500"/>
          </a:xfrm>
          <a:prstGeom prst="rect">
            <a:avLst/>
          </a:prstGeom>
          <a:solidFill>
            <a:srgbClr val="0054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00000" y="950000"/>
            <a:ext cx="3900000" cy="350000"/>
          </a:xfrm>
          <a:prstGeom prst="rect">
            <a:avLst/>
          </a:prstGeom>
          <a:solidFill>
            <a:srgbClr val="0054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1010000"/>
            <a:ext cx="37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rial"/>
              </a:defRPr>
            </a:pPr>
            <a:r>
              <a:t>AVEVA PI System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00000" y="950000"/>
            <a:ext cx="3900000" cy="350000"/>
          </a:xfrm>
          <a:prstGeom prst="rect">
            <a:avLst/>
          </a:prstGeom>
          <a:solidFill>
            <a:srgbClr val="0997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00000" y="1010000"/>
            <a:ext cx="37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rial"/>
              </a:defRPr>
            </a:pPr>
            <a:r>
              <a:t>Альфа платформа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0000" y="1370000"/>
            <a:ext cx="3740000" cy="1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  <a:defRPr sz="1100">
                <a:solidFill>
                  <a:srgbClr val="445469"/>
                </a:solidFill>
                <a:latin typeface="Arial"/>
              </a:defRPr>
            </a:pPr>
            <a:r>
              <a:t>▪  Платформа управления данными (Data Infrastructure)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100">
                <a:solidFill>
                  <a:srgbClr val="445469"/>
                </a:solidFill>
                <a:latin typeface="Arial"/>
              </a:defRPr>
            </a:pPr>
            <a:r>
              <a:t>▪  Фокус: сбор → хранение → раздача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100">
                <a:solidFill>
                  <a:srgbClr val="445469"/>
                </a:solidFill>
                <a:latin typeface="Arial"/>
              </a:defRPr>
            </a:pPr>
            <a:r>
              <a:t>▪  Аналитикам, BI, облаку, Excel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100">
                <a:solidFill>
                  <a:srgbClr val="445469"/>
                </a:solidFill>
                <a:latin typeface="Arial"/>
              </a:defRPr>
            </a:pPr>
            <a:r>
              <a:t>▪  Подписка в долларах, облако за рубежом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100">
                <a:solidFill>
                  <a:srgbClr val="445469"/>
                </a:solidFill>
                <a:latin typeface="Arial"/>
              </a:defRPr>
            </a:pPr>
            <a:r>
              <a:t>▪  Управление процессом — не его задача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80000" y="1370000"/>
            <a:ext cx="3740000" cy="1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  <a:defRPr sz="1100">
                <a:solidFill>
                  <a:srgbClr val="445469"/>
                </a:solidFill>
                <a:latin typeface="Arial"/>
              </a:defRPr>
            </a:pPr>
            <a:r>
              <a:t>▪  SCADA-платформа (управление + данные)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100">
                <a:solidFill>
                  <a:srgbClr val="445469"/>
                </a:solidFill>
                <a:latin typeface="Arial"/>
              </a:defRPr>
            </a:pPr>
            <a:r>
              <a:t>▪  Фокус: оператор видит и управляет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100">
                <a:solidFill>
                  <a:srgbClr val="445469"/>
                </a:solidFill>
                <a:latin typeface="Arial"/>
              </a:defRPr>
            </a:pPr>
            <a:r>
              <a:t>▪  HMI + Historian + алармы + отчёты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100">
                <a:solidFill>
                  <a:srgbClr val="445469"/>
                </a:solidFill>
                <a:latin typeface="Arial"/>
              </a:defRPr>
            </a:pPr>
            <a:r>
              <a:t>▪  Бессрочная лицензия, рубли, on-premise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100">
                <a:solidFill>
                  <a:srgbClr val="445469"/>
                </a:solidFill>
                <a:latin typeface="Arial"/>
              </a:defRPr>
            </a:pPr>
            <a:r>
              <a:t>▪  Хранение данных тоже есть (Historian)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0000" y="3750000"/>
            <a:ext cx="83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45469"/>
                </a:solidFill>
                <a:latin typeface="Arial"/>
              </a:defRPr>
            </a:pPr>
            <a:r>
              <a:t>Ключевой момент для руководства:</a:t>
            </a:r>
            <a:br/>
            <a:r>
              <a:t>PI System — это «умный склад данных». Альфа — это «диспетчерская с пультом управления».</a:t>
            </a:r>
            <a:br/>
            <a:r>
              <a:t>Данные PI можно мигрировать в Alpha.Historian. Экраны — пересоздать в Alpha.HMI.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98120"/>
            <a:ext cx="9144000" cy="586740"/>
          </a:xfrm>
          <a:prstGeom prst="rect">
            <a:avLst/>
          </a:prstGeom>
          <a:solidFill>
            <a:srgbClr val="0054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3128" y="230000"/>
            <a:ext cx="8000000" cy="5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Arial"/>
              </a:defRPr>
            </a:pPr>
            <a:r>
              <a:t>Покрытие функционала PI System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84860"/>
            <a:ext cx="9144000" cy="25000"/>
          </a:xfrm>
          <a:prstGeom prst="rect">
            <a:avLst/>
          </a:prstGeom>
          <a:solidFill>
            <a:srgbClr val="0997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0000" y="240000"/>
            <a:ext cx="1500000" cy="230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4950000"/>
            <a:ext cx="9144000" cy="40000"/>
          </a:xfrm>
          <a:prstGeom prst="rect">
            <a:avLst/>
          </a:prstGeom>
          <a:solidFill>
            <a:srgbClr val="0997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4990000"/>
            <a:ext cx="9144000" cy="153500"/>
          </a:xfrm>
          <a:prstGeom prst="rect">
            <a:avLst/>
          </a:prstGeom>
          <a:solidFill>
            <a:srgbClr val="0054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00000" y="900000"/>
            <a:ext cx="4000000" cy="300000"/>
          </a:xfrm>
          <a:prstGeom prst="rect">
            <a:avLst/>
          </a:prstGeom>
          <a:solidFill>
            <a:srgbClr val="82C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00000" y="935000"/>
            <a:ext cx="38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✅  Полная замена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0000" y="1300000"/>
            <a:ext cx="1700000" cy="2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Arial"/>
              </a:defRPr>
            </a:pPr>
            <a:r>
              <a:t>PI Data Archive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00000" y="1300000"/>
            <a:ext cx="50000" cy="2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997C8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50000" y="1300000"/>
            <a:ext cx="1900000" cy="2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445469"/>
                </a:solidFill>
                <a:latin typeface="Arial"/>
              </a:defRPr>
            </a:pPr>
            <a:r>
              <a:t>Alpha.Historian 4.0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0000" y="1550000"/>
            <a:ext cx="1700000" cy="2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Arial"/>
              </a:defRPr>
            </a:pPr>
            <a:r>
              <a:t>PI ProcessBook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00000" y="1550000"/>
            <a:ext cx="50000" cy="2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997C8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50000" y="1550000"/>
            <a:ext cx="1900000" cy="2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445469"/>
                </a:solidFill>
                <a:latin typeface="Arial"/>
              </a:defRPr>
            </a:pPr>
            <a:r>
              <a:t>Alpha.HMI 2.0 (мнемосхемы)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0000" y="1800000"/>
            <a:ext cx="1700000" cy="2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Arial"/>
              </a:defRPr>
            </a:pPr>
            <a:r>
              <a:t>PI Notifications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00000" y="1800000"/>
            <a:ext cx="50000" cy="2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997C8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50000" y="1800000"/>
            <a:ext cx="1900000" cy="2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445469"/>
                </a:solidFill>
                <a:latin typeface="Arial"/>
              </a:defRPr>
            </a:pPr>
            <a:r>
              <a:t>Alpha.HMI.Alarms 3.3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0000" y="2050000"/>
            <a:ext cx="1700000" cy="2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Arial"/>
              </a:defRPr>
            </a:pPr>
            <a:r>
              <a:t>PI Buffer Subsystem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00000" y="2050000"/>
            <a:ext cx="50000" cy="2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997C8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50000" y="2050000"/>
            <a:ext cx="1900000" cy="2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445469"/>
                </a:solidFill>
                <a:latin typeface="Arial"/>
              </a:defRPr>
            </a:pPr>
            <a:r>
              <a:t>Alpha.Server (буферизация)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0000" y="2300000"/>
            <a:ext cx="1700000" cy="2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Arial"/>
              </a:defRPr>
            </a:pPr>
            <a:r>
              <a:t>PI System Management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00000" y="2300000"/>
            <a:ext cx="50000" cy="2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997C8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50000" y="2300000"/>
            <a:ext cx="1900000" cy="2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445469"/>
                </a:solidFill>
                <a:latin typeface="Arial"/>
              </a:defRPr>
            </a:pPr>
            <a:r>
              <a:t>Alpha.DevStudio + Security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00000" y="2550000"/>
            <a:ext cx="1700000" cy="2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Arial"/>
              </a:defRPr>
            </a:pPr>
            <a:r>
              <a:t>PI SDK / AF SDK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00000" y="2550000"/>
            <a:ext cx="50000" cy="2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997C8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50000" y="2550000"/>
            <a:ext cx="1900000" cy="2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445469"/>
                </a:solidFill>
                <a:latin typeface="Arial"/>
              </a:defRPr>
            </a:pPr>
            <a:r>
              <a:t>Alpha.Server OPC UA + RMap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00000" y="2800000"/>
            <a:ext cx="1700000" cy="2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Arial"/>
              </a:defRPr>
            </a:pPr>
            <a:r>
              <a:t>PI Vision (веб)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200000" y="2800000"/>
            <a:ext cx="50000" cy="2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997C8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350000" y="2800000"/>
            <a:ext cx="1900000" cy="2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445469"/>
                </a:solidFill>
                <a:latin typeface="Arial"/>
              </a:defRPr>
            </a:pPr>
            <a:r>
              <a:t>Alpha.HMI.WebViewer 2.0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800000" y="900000"/>
            <a:ext cx="4000000" cy="30000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900000" y="935000"/>
            <a:ext cx="38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🔄  Требует проработки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900000" y="1300000"/>
            <a:ext cx="3800000" cy="1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  <a:defRPr sz="1000">
                <a:solidFill>
                  <a:srgbClr val="445469"/>
                </a:solidFill>
                <a:latin typeface="Arial"/>
              </a:defRPr>
            </a:pPr>
            <a:r>
              <a:t>•  PI AF (Asset Framework) — иерархия через Alpha.Domain + Alpha.Om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000">
                <a:solidFill>
                  <a:srgbClr val="445469"/>
                </a:solidFill>
                <a:latin typeface="Arial"/>
              </a:defRPr>
            </a:pPr>
            <a:r>
              <a:t>•  PI Analytics / Event Frames — Alpha.Om формулы + Alpha.Reports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000">
                <a:solidFill>
                  <a:srgbClr val="445469"/>
                </a:solidFill>
                <a:latin typeface="Arial"/>
              </a:defRPr>
            </a:pPr>
            <a:r>
              <a:t>•  PI Integrator for BA — интеграция через Alpha.RMap (SQL-доступ)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000">
                <a:solidFill>
                  <a:srgbClr val="445469"/>
                </a:solidFill>
                <a:latin typeface="Arial"/>
              </a:defRPr>
            </a:pPr>
            <a:r>
              <a:t>•  PI DataLink (Excel) — Excel-надстройка через OPC UA или RMap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000">
                <a:solidFill>
                  <a:srgbClr val="445469"/>
                </a:solidFill>
                <a:latin typeface="Arial"/>
              </a:defRPr>
            </a:pPr>
            <a:r>
              <a:t>•  Кастомные скрипты — переработка на Alpha.Om / JavaScript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98120"/>
            <a:ext cx="9144000" cy="586740"/>
          </a:xfrm>
          <a:prstGeom prst="rect">
            <a:avLst/>
          </a:prstGeom>
          <a:solidFill>
            <a:srgbClr val="0054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3128" y="230000"/>
            <a:ext cx="8000000" cy="5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Arial"/>
              </a:defRPr>
            </a:pPr>
            <a:r>
              <a:t>Опыт в нефтегазовой отрасли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3128" y="530000"/>
            <a:ext cx="80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DDEE"/>
                </a:solidFill>
                <a:latin typeface="Arial"/>
              </a:defRPr>
            </a:pPr>
            <a:r>
              <a:t>Альфа платформа уже работает на объектах уровня Новатэк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784860"/>
            <a:ext cx="9144000" cy="25000"/>
          </a:xfrm>
          <a:prstGeom prst="rect">
            <a:avLst/>
          </a:prstGeom>
          <a:solidFill>
            <a:srgbClr val="0997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0000" y="240000"/>
            <a:ext cx="1500000" cy="2300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4950000"/>
            <a:ext cx="9144000" cy="40000"/>
          </a:xfrm>
          <a:prstGeom prst="rect">
            <a:avLst/>
          </a:prstGeom>
          <a:solidFill>
            <a:srgbClr val="0997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4990000"/>
            <a:ext cx="9144000" cy="153500"/>
          </a:xfrm>
          <a:prstGeom prst="rect">
            <a:avLst/>
          </a:prstGeom>
          <a:solidFill>
            <a:srgbClr val="0054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00000" y="950000"/>
            <a:ext cx="4100000" cy="14000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D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00000" y="950000"/>
            <a:ext cx="50000" cy="1400000"/>
          </a:xfrm>
          <a:prstGeom prst="rect">
            <a:avLst/>
          </a:prstGeom>
          <a:solidFill>
            <a:srgbClr val="0997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0000" y="1070000"/>
            <a:ext cx="38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5497"/>
                </a:solidFill>
                <a:latin typeface="Arial"/>
              </a:defRPr>
            </a:pPr>
            <a:r>
              <a:t>НОВАТЭК Арктик СПГ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0000" y="1370000"/>
            <a:ext cx="38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5469"/>
                </a:solidFill>
                <a:latin typeface="Arial"/>
              </a:defRPr>
            </a:pPr>
            <a:r>
              <a:t>Автоматизация технологических процессов СПГ-производства.</a:t>
            </a:r>
            <a:br/>
            <a:r>
              <a:t>Альфа платформа в составе АСУ ТП объекта.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00000" y="950000"/>
            <a:ext cx="4100000" cy="14000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D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700000" y="950000"/>
            <a:ext cx="50000" cy="1400000"/>
          </a:xfrm>
          <a:prstGeom prst="rect">
            <a:avLst/>
          </a:prstGeom>
          <a:solidFill>
            <a:srgbClr val="0997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30000" y="1070000"/>
            <a:ext cx="38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5497"/>
                </a:solidFill>
                <a:latin typeface="Arial"/>
              </a:defRPr>
            </a:pPr>
            <a:r>
              <a:t>ПАО «Транснефть» ВСТО-II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30000" y="1370000"/>
            <a:ext cx="38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5469"/>
                </a:solidFill>
                <a:latin typeface="Arial"/>
              </a:defRPr>
            </a:pPr>
            <a:r>
              <a:t>Магистральный нефтепровод Восточная Сибирь — Тихий океан.</a:t>
            </a:r>
            <a:br/>
            <a:r>
              <a:t>Диспетчеризация и управление НПС.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00000" y="2600000"/>
            <a:ext cx="4100000" cy="14000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D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00000" y="2600000"/>
            <a:ext cx="50000" cy="1400000"/>
          </a:xfrm>
          <a:prstGeom prst="rect">
            <a:avLst/>
          </a:prstGeom>
          <a:solidFill>
            <a:srgbClr val="0997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0000" y="2720000"/>
            <a:ext cx="38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5497"/>
                </a:solidFill>
                <a:latin typeface="Arial"/>
              </a:defRPr>
            </a:pPr>
            <a:r>
              <a:t>Сочинская ТЭС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0000" y="3020000"/>
            <a:ext cx="38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5469"/>
                </a:solidFill>
                <a:latin typeface="Arial"/>
              </a:defRPr>
            </a:pPr>
            <a:r>
              <a:t>Автоматизация тепловой электростанции.</a:t>
            </a:r>
            <a:br/>
            <a:r>
              <a:t>Мнемосхемы + архивирование + тревоги.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700000" y="2600000"/>
            <a:ext cx="4100000" cy="14000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D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700000" y="2600000"/>
            <a:ext cx="50000" cy="1400000"/>
          </a:xfrm>
          <a:prstGeom prst="rect">
            <a:avLst/>
          </a:prstGeom>
          <a:solidFill>
            <a:srgbClr val="0997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30000" y="2720000"/>
            <a:ext cx="38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5497"/>
                </a:solidFill>
                <a:latin typeface="Arial"/>
              </a:defRPr>
            </a:pPr>
            <a:r>
              <a:t>СИБУР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30000" y="3020000"/>
            <a:ext cx="38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5469"/>
                </a:solidFill>
                <a:latin typeface="Arial"/>
              </a:defRPr>
            </a:pPr>
            <a:r>
              <a:t>Крупнейший нефтехимический холдинг.</a:t>
            </a:r>
            <a:br/>
            <a:r>
              <a:t>Альфа в составе систем управления.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98120"/>
            <a:ext cx="9144000" cy="586740"/>
          </a:xfrm>
          <a:prstGeom prst="rect">
            <a:avLst/>
          </a:prstGeom>
          <a:solidFill>
            <a:srgbClr val="0054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3128" y="230000"/>
            <a:ext cx="8000000" cy="5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Arial"/>
              </a:defRPr>
            </a:pPr>
            <a:r>
              <a:t>Технологическая совместимость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3128" y="530000"/>
            <a:ext cx="80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DDEE"/>
                </a:solidFill>
                <a:latin typeface="Arial"/>
              </a:defRPr>
            </a:pPr>
            <a:r>
              <a:t>Альфа платформа интегрируется с существующей инфраструктурой Новатэк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784860"/>
            <a:ext cx="9144000" cy="25000"/>
          </a:xfrm>
          <a:prstGeom prst="rect">
            <a:avLst/>
          </a:prstGeom>
          <a:solidFill>
            <a:srgbClr val="0997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0000" y="240000"/>
            <a:ext cx="1500000" cy="2300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4950000"/>
            <a:ext cx="9144000" cy="40000"/>
          </a:xfrm>
          <a:prstGeom prst="rect">
            <a:avLst/>
          </a:prstGeom>
          <a:solidFill>
            <a:srgbClr val="0997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4990000"/>
            <a:ext cx="9144000" cy="153500"/>
          </a:xfrm>
          <a:prstGeom prst="rect">
            <a:avLst/>
          </a:prstGeom>
          <a:solidFill>
            <a:srgbClr val="0054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00000" y="950000"/>
            <a:ext cx="2800000" cy="380000"/>
          </a:xfrm>
          <a:prstGeom prst="rect">
            <a:avLst/>
          </a:prstGeom>
          <a:solidFill>
            <a:srgbClr val="0054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0000" y="990000"/>
            <a:ext cx="264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Промышленные</a:t>
            </a:r>
            <a:br/>
            <a:r>
              <a:t>протоколы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0000" y="1400000"/>
            <a:ext cx="2640000" cy="16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  <a:defRPr sz="1000">
                <a:solidFill>
                  <a:srgbClr val="445469"/>
                </a:solidFill>
                <a:latin typeface="Arial"/>
              </a:defRPr>
            </a:pPr>
            <a:r>
              <a:t>▸  OPC UA/DA (клиент + сервер)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000">
                <a:solidFill>
                  <a:srgbClr val="445469"/>
                </a:solidFill>
                <a:latin typeface="Arial"/>
              </a:defRPr>
            </a:pPr>
            <a:r>
              <a:t>▸  Modbus TCP/RTU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000">
                <a:solidFill>
                  <a:srgbClr val="445469"/>
                </a:solidFill>
                <a:latin typeface="Arial"/>
              </a:defRPr>
            </a:pPr>
            <a:r>
              <a:t>▸  IEC 60870-5-104/101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000">
                <a:solidFill>
                  <a:srgbClr val="445469"/>
                </a:solidFill>
                <a:latin typeface="Arial"/>
              </a:defRPr>
            </a:pPr>
            <a:r>
              <a:t>▸  IEC 61850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000">
                <a:solidFill>
                  <a:srgbClr val="445469"/>
                </a:solidFill>
                <a:latin typeface="Arial"/>
              </a:defRPr>
            </a:pPr>
            <a:r>
              <a:t>▸  S7 (Siemens)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000">
                <a:solidFill>
                  <a:srgbClr val="445469"/>
                </a:solidFill>
                <a:latin typeface="Arial"/>
              </a:defRPr>
            </a:pPr>
            <a:r>
              <a:t>▸  MQTT, SNMP, BACnet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000" y="950000"/>
            <a:ext cx="2800000" cy="380000"/>
          </a:xfrm>
          <a:prstGeom prst="rect">
            <a:avLst/>
          </a:prstGeom>
          <a:solidFill>
            <a:srgbClr val="0997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80000" y="990000"/>
            <a:ext cx="264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Операционные</a:t>
            </a:r>
            <a:br/>
            <a:r>
              <a:t>системы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80000" y="1400000"/>
            <a:ext cx="2640000" cy="16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  <a:defRPr sz="1000">
                <a:solidFill>
                  <a:srgbClr val="445469"/>
                </a:solidFill>
                <a:latin typeface="Arial"/>
              </a:defRPr>
            </a:pPr>
            <a:r>
              <a:t>▸  Windows 10/11, Server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000">
                <a:solidFill>
                  <a:srgbClr val="445469"/>
                </a:solidFill>
                <a:latin typeface="Arial"/>
              </a:defRPr>
            </a:pPr>
            <a:r>
              <a:t>▸  Astra Linux (сертиф.)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000">
                <a:solidFill>
                  <a:srgbClr val="445469"/>
                </a:solidFill>
                <a:latin typeface="Arial"/>
              </a:defRPr>
            </a:pPr>
            <a:r>
              <a:t>▸  РЕД ОС (сертиф.)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000">
                <a:solidFill>
                  <a:srgbClr val="445469"/>
                </a:solidFill>
                <a:latin typeface="Arial"/>
              </a:defRPr>
            </a:pPr>
            <a:r>
              <a:t>▸  Ubuntu, ALT Linux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000">
                <a:solidFill>
                  <a:srgbClr val="445469"/>
                </a:solidFill>
                <a:latin typeface="Arial"/>
              </a:defRPr>
            </a:pPr>
            <a:r>
              <a:t>▸  Кросс-платформенный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000">
                <a:solidFill>
                  <a:srgbClr val="445469"/>
                </a:solidFill>
                <a:latin typeface="Arial"/>
              </a:defRPr>
            </a:pPr>
            <a:r>
              <a:t>▸  HMI — включая веб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00000" y="950000"/>
            <a:ext cx="2800000" cy="380000"/>
          </a:xfrm>
          <a:prstGeom prst="rect">
            <a:avLst/>
          </a:prstGeom>
          <a:solidFill>
            <a:srgbClr val="82C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80000" y="990000"/>
            <a:ext cx="264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Интеграция</a:t>
            </a:r>
            <a:br/>
            <a:r>
              <a:t>с 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80000" y="1400000"/>
            <a:ext cx="2640000" cy="16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  <a:defRPr sz="1000">
                <a:solidFill>
                  <a:srgbClr val="445469"/>
                </a:solidFill>
                <a:latin typeface="Arial"/>
              </a:defRPr>
            </a:pPr>
            <a:r>
              <a:t>▸  SQL-доступ через Alpha.RMap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000">
                <a:solidFill>
                  <a:srgbClr val="445469"/>
                </a:solidFill>
                <a:latin typeface="Arial"/>
              </a:defRPr>
            </a:pPr>
            <a:r>
              <a:t>▸  OPC UA — стандарт Industry 4.0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000">
                <a:solidFill>
                  <a:srgbClr val="445469"/>
                </a:solidFill>
                <a:latin typeface="Arial"/>
              </a:defRPr>
            </a:pPr>
            <a:r>
              <a:t>▸  Syslog для SIEM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000">
                <a:solidFill>
                  <a:srgbClr val="445469"/>
                </a:solidFill>
                <a:latin typeface="Arial"/>
              </a:defRPr>
            </a:pPr>
            <a:r>
              <a:t>▸  LDAP/Active Directory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000">
                <a:solidFill>
                  <a:srgbClr val="445469"/>
                </a:solidFill>
                <a:latin typeface="Arial"/>
              </a:defRPr>
            </a:pPr>
            <a:r>
              <a:t>▸  REST API (планируется)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000">
                <a:solidFill>
                  <a:srgbClr val="445469"/>
                </a:solidFill>
                <a:latin typeface="Arial"/>
              </a:defRPr>
            </a:pPr>
            <a:r>
              <a:t>▸  Экспорт CSV/PDF/XLSX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98120"/>
            <a:ext cx="9144000" cy="586740"/>
          </a:xfrm>
          <a:prstGeom prst="rect">
            <a:avLst/>
          </a:prstGeom>
          <a:solidFill>
            <a:srgbClr val="0054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3128" y="230000"/>
            <a:ext cx="8000000" cy="5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Arial"/>
              </a:defRPr>
            </a:pPr>
            <a:r>
              <a:t>Экономика перехода: TCO за 5 лет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84860"/>
            <a:ext cx="9144000" cy="25000"/>
          </a:xfrm>
          <a:prstGeom prst="rect">
            <a:avLst/>
          </a:prstGeom>
          <a:solidFill>
            <a:srgbClr val="0997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0000" y="240000"/>
            <a:ext cx="1500000" cy="230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4950000"/>
            <a:ext cx="9144000" cy="40000"/>
          </a:xfrm>
          <a:prstGeom prst="rect">
            <a:avLst/>
          </a:prstGeom>
          <a:solidFill>
            <a:srgbClr val="0997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4990000"/>
            <a:ext cx="9144000" cy="153500"/>
          </a:xfrm>
          <a:prstGeom prst="rect">
            <a:avLst/>
          </a:prstGeom>
          <a:solidFill>
            <a:srgbClr val="0054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00000" y="900000"/>
            <a:ext cx="38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C3333"/>
                </a:solidFill>
                <a:latin typeface="Arial"/>
              </a:defRPr>
            </a:pPr>
            <a:r>
              <a:t>PI System (AVEVA Flex)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0000" y="1250000"/>
            <a:ext cx="3800000" cy="16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  <a:defRPr sz="1100">
                <a:solidFill>
                  <a:srgbClr val="445469"/>
                </a:solidFill>
                <a:latin typeface="Arial"/>
              </a:defRPr>
            </a:pPr>
            <a:r>
              <a:t>✗  Подписка: ~$108K/год (~₽10.8М при ₽100/$)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100">
                <a:solidFill>
                  <a:srgbClr val="445469"/>
                </a:solidFill>
                <a:latin typeface="Arial"/>
              </a:defRPr>
            </a:pPr>
            <a:r>
              <a:t>✗  За 5 лет: ~₽54М только подписка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100">
                <a:solidFill>
                  <a:srgbClr val="445469"/>
                </a:solidFill>
                <a:latin typeface="Arial"/>
              </a:defRPr>
            </a:pPr>
            <a:r>
              <a:t>✗  Нет собственности — ПО арендуется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100">
                <a:solidFill>
                  <a:srgbClr val="445469"/>
                </a:solidFill>
                <a:latin typeface="Arial"/>
              </a:defRPr>
            </a:pPr>
            <a:r>
              <a:t>✗  Риск деактивации при неоплате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100">
                <a:solidFill>
                  <a:srgbClr val="445469"/>
                </a:solidFill>
                <a:latin typeface="Arial"/>
              </a:defRPr>
            </a:pPr>
            <a:r>
              <a:t>✗  Валютный риск при ослаблении рубля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100">
                <a:solidFill>
                  <a:srgbClr val="445469"/>
                </a:solidFill>
                <a:latin typeface="Arial"/>
              </a:defRPr>
            </a:pPr>
            <a:r>
              <a:t>✗  Поддержка недоступна (санкции)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00000" y="900000"/>
            <a:ext cx="38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82C444"/>
                </a:solidFill>
                <a:latin typeface="Arial"/>
              </a:defRPr>
            </a:pPr>
            <a:r>
              <a:t>Альфа платформа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00000" y="1250000"/>
            <a:ext cx="3800000" cy="16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  <a:defRPr sz="1100">
                <a:solidFill>
                  <a:srgbClr val="445469"/>
                </a:solidFill>
                <a:latin typeface="Arial"/>
              </a:defRPr>
            </a:pPr>
            <a:r>
              <a:t>✓  Разовая покупка лицензий в рублях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100">
                <a:solidFill>
                  <a:srgbClr val="445469"/>
                </a:solidFill>
                <a:latin typeface="Arial"/>
              </a:defRPr>
            </a:pPr>
            <a:r>
              <a:t>✓  Проект миграции: 8–14 месяцев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100">
                <a:solidFill>
                  <a:srgbClr val="445469"/>
                </a:solidFill>
                <a:latin typeface="Arial"/>
              </a:defRPr>
            </a:pPr>
            <a:r>
              <a:t>✓  Годовая техподдержка: ~15% от лицензии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100">
                <a:solidFill>
                  <a:srgbClr val="445469"/>
                </a:solidFill>
                <a:latin typeface="Arial"/>
              </a:defRPr>
            </a:pPr>
            <a:r>
              <a:t>✓  За 5 лет: значительно ниже TCO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100">
                <a:solidFill>
                  <a:srgbClr val="445469"/>
                </a:solidFill>
                <a:latin typeface="Arial"/>
              </a:defRPr>
            </a:pPr>
            <a:r>
              <a:t>✓  Бессрочная собственность на ПО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100">
                <a:solidFill>
                  <a:srgbClr val="445469"/>
                </a:solidFill>
                <a:latin typeface="Arial"/>
              </a:defRPr>
            </a:pPr>
            <a:r>
              <a:t>✓  Полная техподдержка в России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00000" y="3800000"/>
            <a:ext cx="8300000" cy="75000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0000" y="3870000"/>
            <a:ext cx="7900000" cy="6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E7D32"/>
                </a:solidFill>
                <a:latin typeface="Arial"/>
              </a:defRPr>
            </a:pPr>
            <a:r>
              <a:t>Точка окупаемости: 2–3 года</a:t>
            </a:r>
          </a:p>
          <a:p>
            <a:pPr>
              <a:spcBef>
                <a:spcPts val="400"/>
              </a:spcBef>
              <a:defRPr sz="1000">
                <a:solidFill>
                  <a:srgbClr val="445469"/>
                </a:solidFill>
                <a:latin typeface="Arial"/>
              </a:defRPr>
            </a:pPr>
            <a:r>
              <a:t>С учётом стоимости миграции, обучения персонала и годовой техподдержки — совокупная стоимость владения Альфа платформой за 5 лет существенно ниже, чем продление подписки PI System. Точные цифры — после аудита инфраструктуры.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98120"/>
            <a:ext cx="9144000" cy="586740"/>
          </a:xfrm>
          <a:prstGeom prst="rect">
            <a:avLst/>
          </a:prstGeom>
          <a:solidFill>
            <a:srgbClr val="0054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3128" y="230000"/>
            <a:ext cx="8000000" cy="5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Arial"/>
              </a:defRPr>
            </a:pPr>
            <a:r>
              <a:t>План перехода: фазы и сроки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3128" y="530000"/>
            <a:ext cx="80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DDEE"/>
                </a:solidFill>
                <a:latin typeface="Arial"/>
              </a:defRPr>
            </a:pPr>
            <a:r>
              <a:t>Общая длительность 8–14 месяцев. Нулевой простой — PI и Альфа работают параллельно.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784860"/>
            <a:ext cx="9144000" cy="25000"/>
          </a:xfrm>
          <a:prstGeom prst="rect">
            <a:avLst/>
          </a:prstGeom>
          <a:solidFill>
            <a:srgbClr val="0997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0000" y="240000"/>
            <a:ext cx="1500000" cy="2300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4950000"/>
            <a:ext cx="9144000" cy="40000"/>
          </a:xfrm>
          <a:prstGeom prst="rect">
            <a:avLst/>
          </a:prstGeom>
          <a:solidFill>
            <a:srgbClr val="0997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4990000"/>
            <a:ext cx="9144000" cy="153500"/>
          </a:xfrm>
          <a:prstGeom prst="rect">
            <a:avLst/>
          </a:prstGeom>
          <a:solidFill>
            <a:srgbClr val="0054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50000" y="950000"/>
            <a:ext cx="350000" cy="350000"/>
          </a:xfrm>
          <a:prstGeom prst="ellipse">
            <a:avLst/>
          </a:prstGeom>
          <a:solidFill>
            <a:srgbClr val="0054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0000" y="1005000"/>
            <a:ext cx="35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0000" y="1380000"/>
            <a:ext cx="165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5497"/>
                </a:solidFill>
                <a:latin typeface="Arial"/>
              </a:defRPr>
            </a:pPr>
            <a:r>
              <a:t>АУДИТ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0000" y="1630000"/>
            <a:ext cx="165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E6E6E"/>
                </a:solidFill>
                <a:latin typeface="Arial"/>
              </a:defRPr>
            </a:pPr>
            <a:r>
              <a:t>1–2 мес.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0000" y="1900000"/>
            <a:ext cx="159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445469"/>
                </a:solidFill>
                <a:latin typeface="Arial"/>
              </a:defRPr>
            </a:pPr>
            <a:r>
              <a:t>Инвентаризация тегов, протоколов,</a:t>
            </a:r>
            <a:br/>
            <a:r>
              <a:t>скриптов, отчётов, Event Frames</a:t>
            </a:r>
          </a:p>
        </p:txBody>
      </p:sp>
      <p:sp>
        <p:nvSpPr>
          <p:cNvPr id="14" name="Oval 13"/>
          <p:cNvSpPr/>
          <p:nvPr/>
        </p:nvSpPr>
        <p:spPr>
          <a:xfrm>
            <a:off x="2560000" y="950000"/>
            <a:ext cx="350000" cy="350000"/>
          </a:xfrm>
          <a:prstGeom prst="ellipse">
            <a:avLst/>
          </a:prstGeom>
          <a:solidFill>
            <a:srgbClr val="3375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560000" y="1005000"/>
            <a:ext cx="35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10000" y="1380000"/>
            <a:ext cx="165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3375AD"/>
                </a:solidFill>
                <a:latin typeface="Arial"/>
              </a:defRPr>
            </a:pPr>
            <a:r>
              <a:t>ПРОЕКТ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10000" y="1630000"/>
            <a:ext cx="165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E6E6E"/>
                </a:solidFill>
                <a:latin typeface="Arial"/>
              </a:defRPr>
            </a:pPr>
            <a:r>
              <a:t>1 мес.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40000" y="1900000"/>
            <a:ext cx="159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445469"/>
                </a:solidFill>
                <a:latin typeface="Arial"/>
              </a:defRPr>
            </a:pPr>
            <a:r>
              <a:t>Архитектура решения, лицензии,</a:t>
            </a:r>
            <a:br/>
            <a:r>
              <a:t>бюджет, рабочая группа</a:t>
            </a:r>
          </a:p>
        </p:txBody>
      </p:sp>
      <p:sp>
        <p:nvSpPr>
          <p:cNvPr id="19" name="Oval 18"/>
          <p:cNvSpPr/>
          <p:nvPr/>
        </p:nvSpPr>
        <p:spPr>
          <a:xfrm>
            <a:off x="4270000" y="950000"/>
            <a:ext cx="350000" cy="350000"/>
          </a:xfrm>
          <a:prstGeom prst="ellipse">
            <a:avLst/>
          </a:prstGeom>
          <a:solidFill>
            <a:srgbClr val="0997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70000" y="1005000"/>
            <a:ext cx="35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20000" y="1380000"/>
            <a:ext cx="165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997C8"/>
                </a:solidFill>
                <a:latin typeface="Arial"/>
              </a:defRPr>
            </a:pPr>
            <a:r>
              <a:t>ПИЛОТ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20000" y="1630000"/>
            <a:ext cx="165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E6E6E"/>
                </a:solidFill>
                <a:latin typeface="Arial"/>
              </a:defRPr>
            </a:pPr>
            <a:r>
              <a:t>2–3 мес.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0000" y="1900000"/>
            <a:ext cx="159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445469"/>
                </a:solidFill>
                <a:latin typeface="Arial"/>
              </a:defRPr>
            </a:pPr>
            <a:r>
              <a:t>Один объект, параллельная работа</a:t>
            </a:r>
            <a:br/>
            <a:r>
              <a:t>PI + Альфа, валидация данных</a:t>
            </a:r>
          </a:p>
        </p:txBody>
      </p:sp>
      <p:sp>
        <p:nvSpPr>
          <p:cNvPr id="24" name="Oval 23"/>
          <p:cNvSpPr/>
          <p:nvPr/>
        </p:nvSpPr>
        <p:spPr>
          <a:xfrm>
            <a:off x="5980000" y="950000"/>
            <a:ext cx="350000" cy="350000"/>
          </a:xfrm>
          <a:prstGeom prst="ellipse">
            <a:avLst/>
          </a:prstGeom>
          <a:solidFill>
            <a:srgbClr val="82C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80000" y="1005000"/>
            <a:ext cx="35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30000" y="1380000"/>
            <a:ext cx="165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82C444"/>
                </a:solidFill>
                <a:latin typeface="Arial"/>
              </a:defRPr>
            </a:pPr>
            <a:r>
              <a:t>МИГРАЦИЯ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30000" y="1630000"/>
            <a:ext cx="165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E6E6E"/>
                </a:solidFill>
                <a:latin typeface="Arial"/>
              </a:defRPr>
            </a:pPr>
            <a:r>
              <a:t>3–6 мес.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60000" y="1900000"/>
            <a:ext cx="159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445469"/>
                </a:solidFill>
                <a:latin typeface="Arial"/>
              </a:defRPr>
            </a:pPr>
            <a:r>
              <a:t>Поэтапный перенос объектов,</a:t>
            </a:r>
            <a:br/>
            <a:r>
              <a:t>обучение персонала</a:t>
            </a:r>
          </a:p>
        </p:txBody>
      </p:sp>
      <p:sp>
        <p:nvSpPr>
          <p:cNvPr id="29" name="Oval 28"/>
          <p:cNvSpPr/>
          <p:nvPr/>
        </p:nvSpPr>
        <p:spPr>
          <a:xfrm>
            <a:off x="7690000" y="950000"/>
            <a:ext cx="350000" cy="350000"/>
          </a:xfrm>
          <a:prstGeom prst="ellipse">
            <a:avLst/>
          </a:prstGeom>
          <a:solidFill>
            <a:srgbClr val="6196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90000" y="1005000"/>
            <a:ext cx="35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40000" y="1380000"/>
            <a:ext cx="165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61962F"/>
                </a:solidFill>
                <a:latin typeface="Arial"/>
              </a:defRPr>
            </a:pPr>
            <a:r>
              <a:t>ЗАВЕРШЕНИЕ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40000" y="1630000"/>
            <a:ext cx="165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E6E6E"/>
                </a:solidFill>
                <a:latin typeface="Arial"/>
              </a:defRPr>
            </a:pPr>
            <a:r>
              <a:t>1–2 мес.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70000" y="1900000"/>
            <a:ext cx="159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445469"/>
                </a:solidFill>
                <a:latin typeface="Arial"/>
              </a:defRPr>
            </a:pPr>
            <a:r>
              <a:t>Вывод PI, оптимизация,</a:t>
            </a:r>
            <a:br/>
            <a:r>
              <a:t>передача в эксплуатацию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850000" y="1120000"/>
            <a:ext cx="60000" cy="12000"/>
          </a:xfrm>
          <a:prstGeom prst="rect">
            <a:avLst/>
          </a:prstGeom>
          <a:solidFill>
            <a:srgbClr val="6E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560000" y="1120000"/>
            <a:ext cx="60000" cy="12000"/>
          </a:xfrm>
          <a:prstGeom prst="rect">
            <a:avLst/>
          </a:prstGeom>
          <a:solidFill>
            <a:srgbClr val="6E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270000" y="1120000"/>
            <a:ext cx="60000" cy="12000"/>
          </a:xfrm>
          <a:prstGeom prst="rect">
            <a:avLst/>
          </a:prstGeom>
          <a:solidFill>
            <a:srgbClr val="6E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980000" y="1120000"/>
            <a:ext cx="60000" cy="12000"/>
          </a:xfrm>
          <a:prstGeom prst="rect">
            <a:avLst/>
          </a:prstGeom>
          <a:solidFill>
            <a:srgbClr val="6E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00000" y="4050000"/>
            <a:ext cx="83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5497"/>
                </a:solidFill>
                <a:latin typeface="Arial"/>
              </a:defRPr>
            </a:pPr>
            <a:r>
              <a:t>Ключевой принцип: параллельная работа. PI System и Альфа работают одновременно на каждом этапе.</a:t>
            </a:r>
            <a:br/>
            <a:r>
              <a:t>Переключение только после подтверждения корректности данных. Нулевой простой.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98120"/>
            <a:ext cx="9144000" cy="586740"/>
          </a:xfrm>
          <a:prstGeom prst="rect">
            <a:avLst/>
          </a:prstGeom>
          <a:solidFill>
            <a:srgbClr val="0054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3128" y="230000"/>
            <a:ext cx="8000000" cy="5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Arial"/>
              </a:defRPr>
            </a:pPr>
            <a:r>
              <a:t>Риски и как мы их снимаем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84860"/>
            <a:ext cx="9144000" cy="25000"/>
          </a:xfrm>
          <a:prstGeom prst="rect">
            <a:avLst/>
          </a:prstGeom>
          <a:solidFill>
            <a:srgbClr val="0997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0000" y="240000"/>
            <a:ext cx="1500000" cy="230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4950000"/>
            <a:ext cx="9144000" cy="40000"/>
          </a:xfrm>
          <a:prstGeom prst="rect">
            <a:avLst/>
          </a:prstGeom>
          <a:solidFill>
            <a:srgbClr val="0997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4990000"/>
            <a:ext cx="9144000" cy="153500"/>
          </a:xfrm>
          <a:prstGeom prst="rect">
            <a:avLst/>
          </a:prstGeom>
          <a:solidFill>
            <a:srgbClr val="0054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50000" y="920000"/>
            <a:ext cx="3400000" cy="720000"/>
          </a:xfrm>
          <a:prstGeom prst="roundRect">
            <a:avLst/>
          </a:prstGeom>
          <a:solidFill>
            <a:srgbClr val="F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0000" y="1000000"/>
            <a:ext cx="32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62828"/>
                </a:solidFill>
                <a:latin typeface="Arial"/>
              </a:defRPr>
            </a:pPr>
            <a:r>
              <a:t>Функциональные разрывы</a:t>
            </a:r>
            <a:br/>
            <a:r>
              <a:t>(PI AF, Analytics)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00000" y="1120000"/>
            <a:ext cx="4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997C8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0000" y="920000"/>
            <a:ext cx="4700000" cy="72000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50000" y="1000000"/>
            <a:ext cx="44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E7D32"/>
                </a:solidFill>
                <a:latin typeface="Arial"/>
              </a:defRPr>
            </a:pPr>
            <a:r>
              <a:t>Маппинг функций на этапе аудита.</a:t>
            </a:r>
            <a:br/>
            <a:r>
              <a:t>PI AF → Alpha.Domain + Alpha.Om.</a:t>
            </a:r>
            <a:br/>
            <a:r>
              <a:t>Нет 1:1 копии — есть решение задач.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50000" y="1740000"/>
            <a:ext cx="3400000" cy="720000"/>
          </a:xfrm>
          <a:prstGeom prst="roundRect">
            <a:avLst/>
          </a:prstGeom>
          <a:solidFill>
            <a:srgbClr val="F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0000" y="1820000"/>
            <a:ext cx="32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62828"/>
                </a:solidFill>
                <a:latin typeface="Arial"/>
              </a:defRPr>
            </a:pPr>
            <a:r>
              <a:t>Сопротивление персонала</a:t>
            </a:r>
            <a:br/>
            <a:r>
              <a:t>(привычка к PI)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00000" y="1940000"/>
            <a:ext cx="4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997C8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00000" y="1740000"/>
            <a:ext cx="4700000" cy="72000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50000" y="1820000"/>
            <a:ext cx="44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E7D32"/>
                </a:solidFill>
                <a:latin typeface="Arial"/>
              </a:defRPr>
            </a:pPr>
            <a:r>
              <a:t>Обучение от вендора. Параллельная работа.</a:t>
            </a:r>
            <a:br/>
            <a:r>
              <a:t>Пилот на одном объекте — доказательство.</a:t>
            </a:r>
            <a:br/>
            <a:r>
              <a:t>Учебные курсы Атомик Софт.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50000" y="2560000"/>
            <a:ext cx="3400000" cy="720000"/>
          </a:xfrm>
          <a:prstGeom prst="roundRect">
            <a:avLst/>
          </a:prstGeom>
          <a:solidFill>
            <a:srgbClr val="F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0000" y="2640000"/>
            <a:ext cx="32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62828"/>
                </a:solidFill>
                <a:latin typeface="Arial"/>
              </a:defRPr>
            </a:pPr>
            <a:r>
              <a:t>Потеря исторических данных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00000" y="2760000"/>
            <a:ext cx="4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997C8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00000" y="2560000"/>
            <a:ext cx="4700000" cy="72000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50000" y="2640000"/>
            <a:ext cx="44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E7D32"/>
                </a:solidFill>
                <a:latin typeface="Arial"/>
              </a:defRPr>
            </a:pPr>
            <a:r>
              <a:t>Конвертация архивов PI → Alpha.Historian.</a:t>
            </a:r>
            <a:br/>
            <a:r>
              <a:t>Формат 4.0 поддерживает импорт.</a:t>
            </a:r>
            <a:br/>
            <a:r>
              <a:t>Верификация на этапе пилота.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50000" y="3380000"/>
            <a:ext cx="3400000" cy="720000"/>
          </a:xfrm>
          <a:prstGeom prst="roundRect">
            <a:avLst/>
          </a:prstGeom>
          <a:solidFill>
            <a:srgbClr val="F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70000" y="3460000"/>
            <a:ext cx="32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62828"/>
                </a:solidFill>
                <a:latin typeface="Arial"/>
              </a:defRPr>
            </a:pPr>
            <a:r>
              <a:t>Сроки и бюджет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00000" y="3580000"/>
            <a:ext cx="4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997C8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00000" y="3380000"/>
            <a:ext cx="4700000" cy="72000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50000" y="3460000"/>
            <a:ext cx="44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E7D32"/>
                </a:solidFill>
                <a:latin typeface="Arial"/>
              </a:defRPr>
            </a:pPr>
            <a:r>
              <a:t>Фиксированные этапы с контрольными точками.</a:t>
            </a:r>
            <a:br/>
            <a:r>
              <a:t>POC за 2–3 месяца. Бюджет в рублях.</a:t>
            </a:r>
            <a:br/>
            <a:r>
              <a:t>Ежемесячная отчётность.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98120"/>
            <a:ext cx="9144000" cy="586740"/>
          </a:xfrm>
          <a:prstGeom prst="rect">
            <a:avLst/>
          </a:prstGeom>
          <a:solidFill>
            <a:srgbClr val="0054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3128" y="230000"/>
            <a:ext cx="8000000" cy="5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Arial"/>
              </a:defRPr>
            </a:pPr>
            <a:r>
              <a:t>Предлагаемые следующие шаги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84860"/>
            <a:ext cx="9144000" cy="25000"/>
          </a:xfrm>
          <a:prstGeom prst="rect">
            <a:avLst/>
          </a:prstGeom>
          <a:solidFill>
            <a:srgbClr val="0997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0000" y="240000"/>
            <a:ext cx="1500000" cy="230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4950000"/>
            <a:ext cx="9144000" cy="40000"/>
          </a:xfrm>
          <a:prstGeom prst="rect">
            <a:avLst/>
          </a:prstGeom>
          <a:solidFill>
            <a:srgbClr val="0997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4990000"/>
            <a:ext cx="9144000" cy="153500"/>
          </a:xfrm>
          <a:prstGeom prst="rect">
            <a:avLst/>
          </a:prstGeom>
          <a:solidFill>
            <a:srgbClr val="0054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50000" y="1000000"/>
            <a:ext cx="500000" cy="500000"/>
          </a:xfrm>
          <a:prstGeom prst="ellipse">
            <a:avLst/>
          </a:prstGeom>
          <a:solidFill>
            <a:srgbClr val="0054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0000" y="1100000"/>
            <a:ext cx="5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0000" y="1020000"/>
            <a:ext cx="75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5497"/>
                </a:solidFill>
                <a:latin typeface="Arial"/>
              </a:defRPr>
            </a:pPr>
            <a:r>
              <a:t>Запуск аудита PI-инфраструктуры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0000" y="1280000"/>
            <a:ext cx="75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45469"/>
                </a:solidFill>
                <a:latin typeface="Arial"/>
              </a:defRPr>
            </a:pPr>
            <a:r>
              <a:t>Инвентаризация: теги, протоколы, скрипты, отчёты, Event Frames.</a:t>
            </a:r>
            <a:br/>
            <a:r>
              <a:t>Срок: 1–2 месяца. Результат: отчёт с рекомендациями и бюджетом.</a:t>
            </a:r>
          </a:p>
        </p:txBody>
      </p:sp>
      <p:sp>
        <p:nvSpPr>
          <p:cNvPr id="12" name="Oval 11"/>
          <p:cNvSpPr/>
          <p:nvPr/>
        </p:nvSpPr>
        <p:spPr>
          <a:xfrm>
            <a:off x="350000" y="2100000"/>
            <a:ext cx="500000" cy="500000"/>
          </a:xfrm>
          <a:prstGeom prst="ellipse">
            <a:avLst/>
          </a:prstGeom>
          <a:solidFill>
            <a:srgbClr val="0997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0000" y="2200000"/>
            <a:ext cx="5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0000" y="2120000"/>
            <a:ext cx="75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5497"/>
                </a:solidFill>
                <a:latin typeface="Arial"/>
              </a:defRPr>
            </a:pPr>
            <a:r>
              <a:t>Определение пилотного объекта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0000" y="2380000"/>
            <a:ext cx="75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45469"/>
                </a:solidFill>
                <a:latin typeface="Arial"/>
              </a:defRPr>
            </a:pPr>
            <a:r>
              <a:t>Один объект для практической проверки.</a:t>
            </a:r>
            <a:br/>
            <a:r>
              <a:t>PI и Альфа работают параллельно 2–4 недели.</a:t>
            </a:r>
            <a:br/>
            <a:r>
              <a:t>Валидация данных, обучение операторов.</a:t>
            </a:r>
          </a:p>
        </p:txBody>
      </p:sp>
      <p:sp>
        <p:nvSpPr>
          <p:cNvPr id="16" name="Oval 15"/>
          <p:cNvSpPr/>
          <p:nvPr/>
        </p:nvSpPr>
        <p:spPr>
          <a:xfrm>
            <a:off x="350000" y="3200000"/>
            <a:ext cx="500000" cy="500000"/>
          </a:xfrm>
          <a:prstGeom prst="ellipse">
            <a:avLst/>
          </a:prstGeom>
          <a:solidFill>
            <a:srgbClr val="82C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0000" y="3300000"/>
            <a:ext cx="5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0000" y="3220000"/>
            <a:ext cx="75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5497"/>
                </a:solidFill>
                <a:latin typeface="Arial"/>
              </a:defRPr>
            </a:pPr>
            <a:r>
              <a:t>Формирование рабочей группы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0000" y="3480000"/>
            <a:ext cx="75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45469"/>
                </a:solidFill>
                <a:latin typeface="Arial"/>
              </a:defRPr>
            </a:pPr>
            <a:r>
              <a:t>IT + автоматизация + Атомик Софт.</a:t>
            </a:r>
            <a:br/>
            <a:r>
              <a:t>Еженедельные статусы, ежемесячные отчёты руководству.</a:t>
            </a:r>
            <a:br/>
            <a:r>
              <a:t>Фиксированный бюджет и сроки.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800000" y="100000"/>
            <a:ext cx="4900000" cy="490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0000" y="800000"/>
            <a:ext cx="8000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Arial"/>
              </a:defRPr>
            </a:pPr>
            <a:r>
              <a:t>Будущее автоматизации</a:t>
            </a:r>
          </a:p>
          <a:p>
            <a:pPr>
              <a:spcBef>
                <a:spcPts val="600"/>
              </a:spcBef>
              <a:defRPr sz="3200" b="1">
                <a:solidFill>
                  <a:srgbClr val="0997C8"/>
                </a:solidFill>
                <a:latin typeface="Arial"/>
              </a:defRPr>
            </a:pPr>
            <a:r>
              <a:t>в ваших руках.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00000" y="2800000"/>
            <a:ext cx="3500000" cy="1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defRPr sz="1400" b="1">
                <a:solidFill>
                  <a:srgbClr val="FFFFFF"/>
                </a:solidFill>
                <a:latin typeface="Arial"/>
              </a:defRPr>
            </a:pPr>
            <a:r>
              <a:t>АО «Атомик Софт»</a:t>
            </a:r>
          </a:p>
          <a:p>
            <a:pPr>
              <a:spcBef>
                <a:spcPts val="200"/>
              </a:spcBef>
              <a:defRPr sz="1200" b="0">
                <a:solidFill>
                  <a:srgbClr val="BBCCDD"/>
                </a:solidFill>
                <a:latin typeface="Arial"/>
              </a:defRPr>
            </a:pPr>
            <a:r>
              <a:t>634050 Томск, пр. Ленина 60/1</a:t>
            </a:r>
          </a:p>
          <a:p>
            <a:pPr>
              <a:spcBef>
                <a:spcPts val="200"/>
              </a:spcBef>
              <a:defRPr sz="800" b="0">
                <a:solidFill>
                  <a:srgbClr val="FFFFFF"/>
                </a:solidFill>
                <a:latin typeface="Arial"/>
              </a:defRPr>
            </a:pPr>
          </a:p>
          <a:p>
            <a:pPr>
              <a:spcBef>
                <a:spcPts val="200"/>
              </a:spcBef>
              <a:defRPr sz="1200" b="0">
                <a:solidFill>
                  <a:srgbClr val="BBCCDD"/>
                </a:solidFill>
                <a:latin typeface="Arial"/>
              </a:defRPr>
            </a:pPr>
            <a:r>
              <a:t>+7 (3822) 281 914</a:t>
            </a:r>
          </a:p>
          <a:p>
            <a:pPr>
              <a:spcBef>
                <a:spcPts val="200"/>
              </a:spcBef>
              <a:defRPr sz="1200" b="0">
                <a:solidFill>
                  <a:srgbClr val="0997C8"/>
                </a:solidFill>
                <a:latin typeface="Arial"/>
              </a:defRPr>
            </a:pPr>
            <a:r>
              <a:t>info@automiq.ru</a:t>
            </a:r>
          </a:p>
          <a:p>
            <a:pPr>
              <a:spcBef>
                <a:spcPts val="200"/>
              </a:spcBef>
              <a:defRPr sz="1200" b="0">
                <a:solidFill>
                  <a:srgbClr val="0997C8"/>
                </a:solidFill>
                <a:latin typeface="Arial"/>
              </a:defRPr>
            </a:pPr>
            <a:r>
              <a:t>www.automiq.ru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00000" y="3200000"/>
            <a:ext cx="30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6E6E6E"/>
                </a:solidFill>
                <a:latin typeface="Arial"/>
              </a:defRPr>
            </a:pPr>
            <a:r>
              <a:t>Ваш контакт:</a:t>
            </a:r>
          </a:p>
          <a:p>
            <a:pPr>
              <a:spcBef>
                <a:spcPts val="400"/>
              </a:spcBef>
              <a:defRPr sz="1300" b="1">
                <a:solidFill>
                  <a:srgbClr val="FFFFFF"/>
                </a:solidFill>
                <a:latin typeface="Arial"/>
              </a:defRPr>
            </a:pPr>
            <a:r>
              <a:t>Станислав Павловский</a:t>
            </a:r>
          </a:p>
          <a:p>
            <a:pPr>
              <a:spcBef>
                <a:spcPts val="200"/>
              </a:spcBef>
              <a:defRPr sz="1100">
                <a:solidFill>
                  <a:srgbClr val="0997C8"/>
                </a:solidFill>
                <a:latin typeface="Arial"/>
              </a:defRPr>
            </a:pPr>
            <a:r>
              <a:t>Telegram: @Integraleus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000" y="4300000"/>
            <a:ext cx="2200000" cy="340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5093500"/>
            <a:ext cx="9144000" cy="50000"/>
          </a:xfrm>
          <a:prstGeom prst="rect">
            <a:avLst/>
          </a:prstGeom>
          <a:solidFill>
            <a:srgbClr val="0997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