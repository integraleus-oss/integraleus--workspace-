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46" r:id="rId4"/>
  </p:sldMasterIdLst>
  <p:notesMasterIdLst>
    <p:notesMasterId r:id="rId18"/>
  </p:notesMasterIdLst>
  <p:handoutMasterIdLst>
    <p:handoutMasterId r:id="rId19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1"/>
    <p:sldId id="263" r:id="rId10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3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663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494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326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157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Отчалко Алексей Валерьевич" initials="ОАВ" lastIdx="2" clrIdx="0">
    <p:extLst>
      <p:ext uri="{19B8F6BF-5375-455C-9EA6-DF929625EA0E}">
        <p15:presenceInfo xmlns:p15="http://schemas.microsoft.com/office/powerpoint/2012/main" userId="S-1-5-21-4150067811-3172932439-921807814-212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00"/>
    <a:srgbClr val="740000"/>
    <a:srgbClr val="0997C8"/>
    <a:srgbClr val="151320"/>
    <a:srgbClr val="14121F"/>
    <a:srgbClr val="18597F"/>
    <a:srgbClr val="00559A"/>
    <a:srgbClr val="005497"/>
    <a:srgbClr val="82C444"/>
    <a:srgbClr val="669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3216" autoAdjust="0"/>
  </p:normalViewPr>
  <p:slideViewPr>
    <p:cSldViewPr snapToGrid="0">
      <p:cViewPr varScale="1">
        <p:scale>
          <a:sx n="137" d="100"/>
          <a:sy n="137" d="100"/>
        </p:scale>
        <p:origin x="8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slide" Target="slides/slide7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FD982-2CA3-466A-871B-FBBB36BA29C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CB1D8-357D-4FC8-88B1-BB2FE4247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21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342831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685663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028494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371326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1714157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lium_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434B0F-F40F-C569-0068-3A0AB96CC7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679" y="318581"/>
            <a:ext cx="2793054" cy="42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64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119B87-EEDF-34A8-548B-284B244760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7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7043EC-7684-4F7C-AE01-8FA32FBACF43}"/>
              </a:ext>
            </a:extLst>
          </p:cNvPr>
          <p:cNvSpPr/>
          <p:nvPr userDrawn="1"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A8D3A3-4F2D-2E8E-7343-C5D3CB90EA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9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E6E261-E28D-12DF-8306-615240014F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8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132105"/>
            <a:ext cx="9144000" cy="2540000"/>
          </a:xfrm>
        </p:spPr>
        <p:txBody>
          <a:bodyPr>
            <a:normAutofit/>
          </a:bodyPr>
          <a:lstStyle>
            <a:lvl1pPr marL="0" indent="0">
              <a:buNone/>
              <a:defRPr sz="157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C68DF6-DF0E-5EC9-4183-B981DC9B51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6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61F1-CCD4-F743-B10E-178ED077E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EDE89-36E4-5146-825B-076388FFB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D8E4A-25BD-604C-9B38-4ACD6517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05/12/2025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27B86-0F08-2840-85D5-C4833950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61260-A9CF-D746-A2C9-B7B2A67A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55349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8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47" r:id="rId2"/>
    <p:sldLayoutId id="2147483948" r:id="rId3"/>
    <p:sldLayoutId id="2147483955" r:id="rId4"/>
    <p:sldLayoutId id="2147483942" r:id="rId5"/>
    <p:sldLayoutId id="2147483961" r:id="rId6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hf hdr="0" ftr="0" dt="0"/>
  <p:txStyles>
    <p:titleStyle>
      <a:lvl1pPr algn="l" defTabSz="685663" rtl="0" eaLnBrk="1" latinLnBrk="0" hangingPunct="1">
        <a:lnSpc>
          <a:spcPct val="90000"/>
        </a:lnSpc>
        <a:spcBef>
          <a:spcPct val="0"/>
        </a:spcBef>
        <a:buNone/>
        <a:defRPr lang="en-US" sz="2250" kern="1200">
          <a:solidFill>
            <a:schemeClr val="tx1"/>
          </a:solidFill>
          <a:latin typeface="Verdana" panose="020B0604030504040204" pitchFamily="34" charset="0"/>
          <a:ea typeface="+mj-ea"/>
          <a:cs typeface="+mj-cs"/>
        </a:defRPr>
      </a:lvl1pPr>
    </p:titleStyle>
    <p:bodyStyle>
      <a:lvl1pPr marL="171416" indent="-171416" algn="l" defTabSz="68566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1pPr>
      <a:lvl2pPr marL="51424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5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2pPr>
      <a:lvl3pPr marL="857079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35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3pPr>
      <a:lvl4pPr marL="1199910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4pPr>
      <a:lvl5pPr marL="1542741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4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4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9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7.png"/><Relationship Id="rId10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26694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6888"/>
            <a:ext cx="2286000" cy="3456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10058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Переход с AVEVA PI System</a:t>
            </a:r>
            <a:br>
              <a:rPr lang="ru-RU" sz="3200"/>
            </a:br>
            <a:r>
              <a:rPr sz="3200" b="1">
                <a:solidFill>
                  <a:srgbClr val="FFFFFF"/>
                </a:solidFill>
                <a:latin typeface="Arial"/>
              </a:rPr>
              <a:t>на Альфа платформу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0D0F0"/>
                </a:solidFill>
                <a:latin typeface="Arial"/>
              </a:rPr>
              <a:t>От зависимости — к контролю. Стратегия для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617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0B0D0"/>
                </a:solidFill>
                <a:latin typeface="Arial"/>
              </a:rPr>
              <a:t>АО «Атомик Софт»  |  Конфиденциально  |  Станислав Павловский  |  Telegram: @Integraleus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5497"/>
                </a:solidFill>
                <a:latin typeface="Arial"/>
              </a:rPr>
              <a:t>Ситуация: почему нужно действовать сейчас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7724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2697480" cy="635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ield-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432000" cy="43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3520" y="978408"/>
            <a:ext cx="1808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C3333"/>
                </a:solidFill>
                <a:latin typeface="Arial"/>
              </a:rPr>
              <a:t>Санкционный риск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AVEVA прекратила поддержку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и продажу в РФ.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Нет обновлений. Нет патчей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безопасности. Нет техподдержки.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77724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777240"/>
            <a:ext cx="2697480" cy="6350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-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005840"/>
            <a:ext cx="432000" cy="43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43880" y="978408"/>
            <a:ext cx="1808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9C00"/>
                </a:solidFill>
                <a:latin typeface="Arial"/>
              </a:rPr>
              <a:t>Финансовый риск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55448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AVEVA Flex: ~$108K/год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за подписку.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При неоплате — ПО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перестаёт работать.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Валютный риск.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77724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777240"/>
            <a:ext cx="2697480" cy="6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005840"/>
            <a:ext cx="432000" cy="43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24240" y="978408"/>
            <a:ext cx="1808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5497"/>
                </a:solidFill>
                <a:latin typeface="Arial"/>
              </a:rPr>
              <a:t>Регуляторный риск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ФЗ-187 о КИИ требует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перехода на отечественное ПО.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Сроки ужесточаются.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ФСТЭК-аудиты.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490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C3333"/>
                </a:solidFill>
                <a:latin typeface="Arial"/>
              </a:rPr>
              <a:t>⏱ Каждый месяц без действий — это $9K подписки + растущий риск деактивации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5497"/>
                </a:solidFill>
                <a:latin typeface="Arial"/>
              </a:rPr>
              <a:t>Решение: Альфа платформа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5469"/>
                </a:solidFill>
                <a:latin typeface="Arial"/>
              </a:rPr>
              <a:t>Российская SCADA-платформа №1 в реестре Минцифры</a:t>
            </a:r>
            <a:br>
              <a:rPr lang="ru-RU" sz="1100"/>
            </a:br>
            <a:r>
              <a:rPr sz="1100" b="0">
                <a:solidFill>
                  <a:srgbClr val="445469"/>
                </a:solidFill>
                <a:latin typeface="Arial"/>
              </a:rPr>
              <a:t>от АО «Атомик Софт» (Томск)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1920240" cy="1417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uilding-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320" y="1005840"/>
            <a:ext cx="432000" cy="43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5497"/>
                </a:solidFill>
                <a:latin typeface="Arial"/>
              </a:rPr>
              <a:t>6500+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469"/>
                </a:solidFill>
                <a:latin typeface="Arial"/>
              </a:rPr>
              <a:t>инсталляций</a:t>
            </a:r>
            <a:br>
              <a:rPr lang="ru-RU" sz="900"/>
            </a:br>
            <a:r>
              <a:rPr sz="900" b="0">
                <a:solidFill>
                  <a:srgbClr val="445469"/>
                </a:solidFill>
                <a:latin typeface="Arial"/>
              </a:rPr>
              <a:t>в промышленности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914400"/>
            <a:ext cx="1920240" cy="1417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440" y="1005840"/>
            <a:ext cx="432000" cy="43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6032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5497"/>
                </a:solidFill>
                <a:latin typeface="Arial"/>
              </a:rPr>
              <a:t>80+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874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469"/>
                </a:solidFill>
                <a:latin typeface="Arial"/>
              </a:rPr>
              <a:t>партнёров-</a:t>
            </a:r>
            <a:br>
              <a:rPr lang="ru-RU" sz="900"/>
            </a:br>
            <a:r>
              <a:rPr sz="900" b="0">
                <a:solidFill>
                  <a:srgbClr val="445469"/>
                </a:solidFill>
                <a:latin typeface="Arial"/>
              </a:rPr>
              <a:t>интеграторов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914400"/>
            <a:ext cx="1920240" cy="1417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560" y="1005840"/>
            <a:ext cx="432000" cy="43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6344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5497"/>
                </a:solidFill>
                <a:latin typeface="Arial"/>
              </a:rPr>
              <a:t>140+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874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469"/>
                </a:solidFill>
                <a:latin typeface="Arial"/>
              </a:rPr>
              <a:t>сотрудников</a:t>
            </a:r>
            <a:br>
              <a:rPr lang="ru-RU" sz="900"/>
            </a:br>
            <a:r>
              <a:rPr sz="900" b="0">
                <a:solidFill>
                  <a:srgbClr val="445469"/>
                </a:solidFill>
                <a:latin typeface="Arial"/>
              </a:rPr>
              <a:t>разработки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914400"/>
            <a:ext cx="1920240" cy="1417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0680" y="1005840"/>
            <a:ext cx="432000" cy="432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6656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5497"/>
                </a:solidFill>
                <a:latin typeface="Arial"/>
              </a:rPr>
              <a:t>10 лет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874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5469"/>
                </a:solidFill>
                <a:latin typeface="Arial"/>
              </a:rPr>
              <a:t>на рынке</a:t>
            </a:r>
            <a:br>
              <a:rPr lang="ru-RU" sz="900"/>
            </a:br>
            <a:r>
              <a:rPr sz="900" b="0">
                <a:solidFill>
                  <a:srgbClr val="445469"/>
                </a:solidFill>
                <a:latin typeface="Arial"/>
              </a:rPr>
              <a:t>АСУ ТП</a:t>
            </a:r>
          </a:p>
        </p:txBody>
      </p:sp>
      <p:pic>
        <p:nvPicPr>
          <p:cNvPr id="22" name="Picture 21" descr="shield-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560320"/>
            <a:ext cx="180000" cy="18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2560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Реестр Минцифры — полное соответствие ФЗ-187 о КИИ</a:t>
            </a:r>
          </a:p>
        </p:txBody>
      </p:sp>
      <p:pic>
        <p:nvPicPr>
          <p:cNvPr id="24" name="Picture 23" descr="k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2880360"/>
            <a:ext cx="180000" cy="18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7280" y="2880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Бессрочная лицензия в рублях — предсказуемый бюджет</a:t>
            </a:r>
          </a:p>
        </p:txBody>
      </p:sp>
      <p:pic>
        <p:nvPicPr>
          <p:cNvPr id="26" name="Picture 25" descr="serv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200400"/>
            <a:ext cx="180000" cy="18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3200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Windows + Linux (Astra, РЕД ОС) — сертифицированные ОС</a:t>
            </a:r>
          </a:p>
        </p:txBody>
      </p:sp>
      <p:pic>
        <p:nvPicPr>
          <p:cNvPr id="28" name="Picture 27" descr="shield-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3520440"/>
            <a:ext cx="180000" cy="180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97280" y="3520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Лицензия ФСТЭК на разработку СЗКИ</a:t>
            </a:r>
          </a:p>
        </p:txBody>
      </p:sp>
      <p:pic>
        <p:nvPicPr>
          <p:cNvPr id="30" name="Picture 29" descr="setting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3840480"/>
            <a:ext cx="180000" cy="180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" y="3840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Техподдержка 24/7 на русском языке, вендор в России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5497"/>
                </a:solidFill>
                <a:latin typeface="Arial"/>
              </a:rPr>
              <a:t>Что меняется: суть перехода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77240"/>
            <a:ext cx="4023360" cy="20116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4023360" cy="635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432000" cy="43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3520" y="978408"/>
            <a:ext cx="313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99999"/>
                </a:solidFill>
                <a:latin typeface="Arial"/>
              </a:rPr>
              <a:t>AVEVA PI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520" y="1252728"/>
            <a:ext cx="313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445469"/>
                </a:solidFill>
                <a:latin typeface="Arial"/>
              </a:rPr>
              <a:t>«Склад данных»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Собирает данные и раздаёт —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аналитикам, Excel, облаку, BI.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Управление процессом — не его задача.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Подписка в долларах. Облако за рубежом.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777240"/>
            <a:ext cx="4023360" cy="20116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777240"/>
            <a:ext cx="4023360" cy="6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yout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05840"/>
            <a:ext cx="432000" cy="43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69760" y="978408"/>
            <a:ext cx="313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5497"/>
                </a:solidFill>
                <a:latin typeface="Arial"/>
              </a:rPr>
              <a:t>Альфа платформа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9760" y="1252728"/>
            <a:ext cx="313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445469"/>
                </a:solidFill>
                <a:latin typeface="Arial"/>
              </a:rPr>
              <a:t>«Диспетчерская с пультом»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5544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Оператор видит и управляет процессом.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Хранение данных тоже есть (Historian).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Но главное — пульт управления.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Бессрочная лицензия в рублях. On-prem.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8229600" cy="127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089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5497"/>
                </a:solidFill>
                <a:latin typeface="Arial"/>
              </a:rPr>
              <a:t>Что это значит для бизнеса: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• Переход с «хранилища данных» на «систему управления с хранилищем» — функционал расширяется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85032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• Некоторые «курьерские сервисы» (REST API, облако, Event Frames) потребуют доработки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4106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• Основные функции (архив, визуализация, тревоги, протоколы) заменяются полностью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5497"/>
                </a:solidFill>
                <a:latin typeface="Arial"/>
              </a:rPr>
              <a:t>Покрытие функционала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77240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✅ Полная замена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Архив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Экраны оператора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Тревоги и события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Буферизация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Администрирование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Программный доступ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777240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822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⚠️ Частичная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Коннекторы (450→30,</a:t>
            </a:r>
            <a:br>
              <a:rPr lang="ru-RU" sz="900"/>
            </a:br>
            <a:r>
              <a:rPr sz="900" b="0">
                <a:solidFill>
                  <a:srgbClr val="445469"/>
                </a:solidFill>
                <a:latin typeface="Arial"/>
              </a:rPr>
              <a:t>но 80% покрыто)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Self-service дашборды</a:t>
            </a:r>
            <a:br>
              <a:rPr lang="ru-RU" sz="900"/>
            </a:br>
            <a:r>
              <a:rPr sz="900" b="0">
                <a:solidFill>
                  <a:srgbClr val="445469"/>
                </a:solidFill>
                <a:latin typeface="Arial"/>
              </a:rPr>
              <a:t>(есть, но проще)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Модель активов</a:t>
            </a:r>
            <a:br>
              <a:rPr lang="ru-RU" sz="900"/>
            </a:br>
            <a:r>
              <a:rPr sz="900" b="0">
                <a:solidFill>
                  <a:srgbClr val="445469"/>
                </a:solidFill>
                <a:latin typeface="Arial"/>
              </a:rPr>
              <a:t>(не «на лету»)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240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Excel-отчёты</a:t>
            </a:r>
            <a:br>
              <a:rPr lang="ru-RU" sz="900"/>
            </a:br>
            <a:r>
              <a:rPr sz="900" b="0">
                <a:solidFill>
                  <a:srgbClr val="445469"/>
                </a:solidFill>
                <a:latin typeface="Arial"/>
              </a:rPr>
              <a:t>(другой формат)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777240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822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❌ Требует доработки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Запись событий</a:t>
            </a:r>
            <a:br>
              <a:rPr lang="ru-RU" sz="900"/>
            </a:br>
            <a:r>
              <a:rPr sz="900" b="0">
                <a:solidFill>
                  <a:srgbClr val="445469"/>
                </a:solidFill>
                <a:latin typeface="Arial"/>
              </a:rPr>
              <a:t>(Event Frames)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HTTP-доступ (REST API)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Синхронизация серверов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240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9"/>
                </a:solidFill>
                <a:latin typeface="Arial"/>
              </a:rPr>
              <a:t>• BI-интеграция</a:t>
            </a:r>
            <a:br>
              <a:rPr lang="ru-RU" sz="900"/>
            </a:br>
            <a:r>
              <a:rPr sz="900" b="0">
                <a:solidFill>
                  <a:srgbClr val="445469"/>
                </a:solidFill>
                <a:latin typeface="Arial"/>
              </a:rPr>
              <a:t>(через SQL обход)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5497"/>
                </a:solidFill>
                <a:latin typeface="Arial"/>
              </a:rPr>
              <a:t>План перехода: сроки и ресурсы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005840"/>
            <a:ext cx="1005840" cy="100584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ye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720" y="1328760"/>
            <a:ext cx="360000" cy="3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03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3333"/>
                </a:solidFill>
                <a:latin typeface="Arial"/>
              </a:rPr>
              <a:t>АУДИТ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042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1–2 мес.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Инвентаризация тегов,</a:t>
            </a:r>
            <a:br>
              <a:rPr lang="ru-RU" sz="800"/>
            </a:br>
            <a:r>
              <a:rPr sz="800" b="0">
                <a:solidFill>
                  <a:srgbClr val="445469"/>
                </a:solidFill>
                <a:latin typeface="Arial"/>
              </a:rPr>
              <a:t>протоколов, скриптов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37360" y="1483360"/>
            <a:ext cx="457200" cy="101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40280" y="1005840"/>
            <a:ext cx="1005840" cy="1005840"/>
          </a:xfrm>
          <a:prstGeom prst="ellipse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-inf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200" y="1328760"/>
            <a:ext cx="360000" cy="36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48840" y="2103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89C00"/>
                </a:solidFill>
                <a:latin typeface="Arial"/>
              </a:rPr>
              <a:t>ПРОЕКТ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3042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1 мес.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Архитектура, лицензии,</a:t>
            </a:r>
            <a:br>
              <a:rPr lang="ru-RU" sz="800"/>
            </a:br>
            <a:r>
              <a:rPr sz="800" b="0">
                <a:solidFill>
                  <a:srgbClr val="445469"/>
                </a:solidFill>
                <a:latin typeface="Arial"/>
              </a:rPr>
              <a:t>бюджет, рабочая группа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91840" y="1483360"/>
            <a:ext cx="457200" cy="101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94760" y="1005840"/>
            <a:ext cx="1005840" cy="100584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7680" y="1328760"/>
            <a:ext cx="360000" cy="36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703320" y="2103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5497"/>
                </a:solidFill>
                <a:latin typeface="Arial"/>
              </a:rPr>
              <a:t>ПИЛОТ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3042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2–3 мес.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Один объект —</a:t>
            </a:r>
            <a:br>
              <a:rPr lang="ru-RU" sz="800"/>
            </a:br>
            <a:r>
              <a:rPr sz="800" b="0">
                <a:solidFill>
                  <a:srgbClr val="445469"/>
                </a:solidFill>
                <a:latin typeface="Arial"/>
              </a:rPr>
              <a:t>проверка на практике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846320" y="1483360"/>
            <a:ext cx="457200" cy="101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49240" y="1005840"/>
            <a:ext cx="1005840" cy="1005840"/>
          </a:xfrm>
          <a:prstGeom prst="ellipse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atabase-im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2160" y="1328760"/>
            <a:ext cx="360000" cy="36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57800" y="2103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375AD"/>
                </a:solidFill>
                <a:latin typeface="Arial"/>
              </a:rPr>
              <a:t>МИГРАЦИЯ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23042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3–6 мес.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Объекты переводим</a:t>
            </a:r>
            <a:br>
              <a:rPr lang="ru-RU" sz="800"/>
            </a:br>
            <a:r>
              <a:rPr sz="800" b="0">
                <a:solidFill>
                  <a:srgbClr val="445469"/>
                </a:solidFill>
                <a:latin typeface="Arial"/>
              </a:rPr>
              <a:t>параллельно с PI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400800" y="1483360"/>
            <a:ext cx="457200" cy="101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03720" y="1005840"/>
            <a:ext cx="1005840" cy="1005840"/>
          </a:xfrm>
          <a:prstGeom prst="ellipse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hield-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6640" y="1328760"/>
            <a:ext cx="360000" cy="360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12280" y="2103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82C444"/>
                </a:solidFill>
                <a:latin typeface="Arial"/>
              </a:rPr>
              <a:t>СДАЧА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3042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1–2 мес.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5469"/>
                </a:solidFill>
                <a:latin typeface="Arial"/>
              </a:rPr>
              <a:t>Отключаем PI.</a:t>
            </a:r>
            <a:br>
              <a:rPr lang="ru-RU" sz="800"/>
            </a:br>
            <a:r>
              <a:rPr sz="800" b="0">
                <a:solidFill>
                  <a:srgbClr val="445469"/>
                </a:solidFill>
                <a:latin typeface="Arial"/>
              </a:rPr>
              <a:t>Документация. SLA.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5497"/>
                </a:solidFill>
                <a:latin typeface="Arial"/>
              </a:rPr>
              <a:t>Общая длительность: 8–14 месяцев.  Нулевой простой — PI и Альфа работают параллельно.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5497"/>
                </a:solidFill>
                <a:latin typeface="Arial"/>
              </a:rPr>
              <a:t>Сравнение: ключевые параметры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822960"/>
          <a:ext cx="8229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>
                    <a:solidFill>
                      <a:srgbClr val="0054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PI System</a:t>
                      </a:r>
                    </a:p>
                  </a:txBody>
                  <a:tcPr>
                    <a:solidFill>
                      <a:srgbClr val="00549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Альфа платформа</a:t>
                      </a:r>
                    </a:p>
                  </a:txBody>
                  <a:tcPr>
                    <a:solidFill>
                      <a:srgbClr val="00549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Лицензия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~$108K/год, подписка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Разовая покупка, рубли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ОС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Только 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Windows + Linux (Astra, РЕД ОС)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Реестр Минцифры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Да — соответствие ФЗ-187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Поддержка в РФ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Нет (санкции)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24/7 на русском, вендор в Томске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Визуализация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PI Vision — простая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Alpha.HMI 2.0 — мощная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Коннекторы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450+ протоколов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~30 + OPC UA шлюзы (~80%)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Облако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AVEVA Data Hub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Нет (on-prem = безопаснее)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Event Frames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Есть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Нет (доработка если нужно)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REST API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Есть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Нет (доступ через TCP/SQL)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ФСТЭК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5469"/>
                          </a:solidFill>
                          <a:latin typeface="Arial"/>
                        </a:rPr>
                        <a:t>Лицензия на разработку СЗКИ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29768"/>
            <a:ext cx="1371600" cy="254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5497"/>
                </a:solidFill>
                <a:latin typeface="Arial"/>
              </a:rPr>
              <a:t>Запрос на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5469"/>
                </a:solidFill>
                <a:latin typeface="Arial"/>
              </a:rPr>
              <a:t>Предлагаем утвердить: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005840"/>
            <a:ext cx="411480" cy="41148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pic>
        <p:nvPicPr>
          <p:cNvPr id="7" name="Picture 6" descr="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24128"/>
            <a:ext cx="324000" cy="32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10058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5497"/>
                </a:solidFill>
                <a:latin typeface="Arial"/>
              </a:rPr>
              <a:t>Запуск аудита PI-инфраструктуры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280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Инвентаризация: теги, протоколы, скрипты, отчёты, Event Frames.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Срок: 1–2 месяца. Результат: отчёт с рекомендациями.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1874520"/>
            <a:ext cx="411480" cy="41148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pic>
        <p:nvPicPr>
          <p:cNvPr id="11" name="Picture 10" descr="building-fa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892808"/>
            <a:ext cx="324000" cy="32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08760" y="18745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5497"/>
                </a:solidFill>
                <a:latin typeface="Arial"/>
              </a:rPr>
              <a:t>Определение пилотного объекта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488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Один объект для проверки на практике.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PI и Альфа работают параллельно 2–4 недели.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2743200"/>
            <a:ext cx="411480" cy="41148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pic>
        <p:nvPicPr>
          <p:cNvPr id="15" name="Picture 14" descr="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761488"/>
            <a:ext cx="324000" cy="32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8760" y="2743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5497"/>
                </a:solidFill>
                <a:latin typeface="Arial"/>
              </a:rPr>
              <a:t>Формирование рабочей группы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0175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НОВАТЭК (КИПиА + IT) + Атомик Софт + интегратор.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Еженедельные статус-встречи.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3611880"/>
            <a:ext cx="411480" cy="41148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pic>
        <p:nvPicPr>
          <p:cNvPr id="19" name="Picture 18" descr="chart-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630168"/>
            <a:ext cx="324000" cy="324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08760" y="3611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5497"/>
                </a:solidFill>
                <a:latin typeface="Arial"/>
              </a:rPr>
              <a:t>Бюджет и контур пилота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8862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9"/>
                </a:solidFill>
                <a:latin typeface="Arial"/>
              </a:rPr>
              <a:t>Согласование бюджета по итогам аудита.</a:t>
            </a:r>
            <a:br>
              <a:rPr lang="ru-RU" sz="1000"/>
            </a:br>
            <a:r>
              <a:rPr sz="1000" b="0">
                <a:solidFill>
                  <a:srgbClr val="445469"/>
                </a:solidFill>
                <a:latin typeface="Arial"/>
              </a:rPr>
              <a:t>Лицензии + работы определяются на этапе 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Переход с AVEVA PI System</a:t>
            </a:r>
            <a:br>
              <a:rPr lang="ru-RU" sz="3400"/>
            </a:br>
            <a:r>
              <a:rPr sz="3400" b="1">
                <a:solidFill>
                  <a:srgbClr val="FFFFFF"/>
                </a:solidFill>
                <a:latin typeface="Arial"/>
              </a:rPr>
              <a:t>на Альфа платформу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АО «Атомик Софт»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rial"/>
              </a:rPr>
              <a:t>Станислав Павловский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0D0F0"/>
                </a:solidFill>
                <a:latin typeface="Arial"/>
              </a:rPr>
              <a:t>Telegram: @Integraleus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114800"/>
            <a:ext cx="2286000" cy="3456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_Атомик">
  <a:themeElements>
    <a:clrScheme name="Custom 2">
      <a:dk1>
        <a:srgbClr val="000000"/>
      </a:dk1>
      <a:lt1>
        <a:sysClr val="window" lastClr="FFFFFF"/>
      </a:lt1>
      <a:dk2>
        <a:srgbClr val="6E6E6E"/>
      </a:dk2>
      <a:lt2>
        <a:srgbClr val="FFFFFF"/>
      </a:lt2>
      <a:accent1>
        <a:srgbClr val="005497"/>
      </a:accent1>
      <a:accent2>
        <a:srgbClr val="3375AD"/>
      </a:accent2>
      <a:accent3>
        <a:srgbClr val="0997C8"/>
      </a:accent3>
      <a:accent4>
        <a:srgbClr val="52CCF7"/>
      </a:accent4>
      <a:accent5>
        <a:srgbClr val="82C444"/>
      </a:accent5>
      <a:accent6>
        <a:srgbClr val="CDE7B4"/>
      </a:accent6>
      <a:hlink>
        <a:srgbClr val="0997C8"/>
      </a:hlink>
      <a:folHlink>
        <a:srgbClr val="CDE7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_Атомик" id="{CEB1B155-F77A-4A19-9AEE-767E43EEE002}" vid="{E33B8DA0-9C2E-4591-9D92-CDFA1B99F6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8FB12FA238B29479C15A3FBF1901892" ma:contentTypeVersion="15" ma:contentTypeDescription="Создание документа." ma:contentTypeScope="" ma:versionID="ecc35f767065df6b4e4d6498d5eac02d">
  <xsd:schema xmlns:xsd="http://www.w3.org/2001/XMLSchema" xmlns:xs="http://www.w3.org/2001/XMLSchema" xmlns:p="http://schemas.microsoft.com/office/2006/metadata/properties" xmlns:ns2="0502b1be-0fe2-4509-97a9-ec0fd3fafc9b" xmlns:ns3="b723f446-6c9e-405e-84d5-4916a0afa7d5" targetNamespace="http://schemas.microsoft.com/office/2006/metadata/properties" ma:root="true" ma:fieldsID="7bfcc36716481aa470f9f4409057f6cb" ns2:_="" ns3:_="">
    <xsd:import namespace="0502b1be-0fe2-4509-97a9-ec0fd3fafc9b"/>
    <xsd:import namespace="b723f446-6c9e-405e-84d5-4916a0afa7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02b1be-0fe2-4509-97a9-ec0fd3faf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5e2e7791-cded-476b-940f-30d7621795f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3f446-6c9e-405e-84d5-4916a0afa7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20520b3-41b0-41ba-9884-d7cef35bb1b8}" ma:internalName="TaxCatchAll" ma:showField="CatchAllData" ma:web="b723f446-6c9e-405e-84d5-4916a0afa7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02b1be-0fe2-4509-97a9-ec0fd3fafc9b">
      <Terms xmlns="http://schemas.microsoft.com/office/infopath/2007/PartnerControls"/>
    </lcf76f155ced4ddcb4097134ff3c332f>
    <TaxCatchAll xmlns="b723f446-6c9e-405e-84d5-4916a0afa7d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AA56F4-2A60-49CC-AA53-5AA9356824FD}">
  <ds:schemaRefs>
    <ds:schemaRef ds:uri="0502b1be-0fe2-4509-97a9-ec0fd3fafc9b"/>
    <ds:schemaRef ds:uri="b723f446-6c9e-405e-84d5-4916a0afa7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8006AA-1608-4641-B256-E4528952F154}">
  <ds:schemaRefs>
    <ds:schemaRef ds:uri="0502b1be-0fe2-4509-97a9-ec0fd3fafc9b"/>
    <ds:schemaRef ds:uri="b723f446-6c9e-405e-84d5-4916a0afa7d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6A3223D-C643-4D8A-962C-239797B11A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Тема_Атомик</Template>
  <TotalTime>52805</TotalTime>
  <Words>627</Words>
  <Application>Microsoft Office PowerPoint</Application>
  <PresentationFormat>Экран (16:9)</PresentationFormat>
  <Paragraphs>129</Paragraphs>
  <Slides>13</Slides>
  <Notes>11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3" baseType="lpstr">
      <vt:lpstr>Arial</vt:lpstr>
      <vt:lpstr>Calibri</vt:lpstr>
      <vt:lpstr>Circe ExtraBold</vt:lpstr>
      <vt:lpstr>Gill Sans</vt:lpstr>
      <vt:lpstr>Helvetica</vt:lpstr>
      <vt:lpstr>HelveticaNeueCyr Light</vt:lpstr>
      <vt:lpstr>HelveticaNeueCyr Medium</vt:lpstr>
      <vt:lpstr>Verdana</vt:lpstr>
      <vt:lpstr>Wingdings</vt:lpstr>
      <vt:lpstr>Тема_Атомик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Jetfabrik</dc:creator>
  <cp:keywords/>
  <dc:description/>
  <cp:lastModifiedBy>Иващенко Наталья Владимировна</cp:lastModifiedBy>
  <cp:revision>115</cp:revision>
  <dcterms:created xsi:type="dcterms:W3CDTF">2014-11-12T21:47:38Z</dcterms:created>
  <dcterms:modified xsi:type="dcterms:W3CDTF">2025-05-12T07:19:19Z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0x01010028FB12FA238B29479C15A3FBF1901892</vt:lpwstr>
  </property>
  <property fmtid="{D5CDD505-2E9C-101B-9397-08002B2CF9AE}" pid="3" name="MediaServiceImageTags">
    <vt:lpwstr/>
  </property>
</Properties>
</file>