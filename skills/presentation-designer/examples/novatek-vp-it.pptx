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1"/>
    <p:sldId id="263" r:id="rId10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6694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"/>
            <a:ext cx="2286000" cy="3456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005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Единая платформа_x000B_управления производством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0D0F0"/>
                </a:solidFill>
                <a:latin typeface="Arial"/>
              </a:rPr>
              <a:t>Как Альфа платформа решает ключевые задачи ИТ-директора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0B0D0"/>
                </a:solidFill>
                <a:latin typeface="Arial"/>
              </a:rPr>
              <a:t>АО «Атомик Софт»  |  Конфиденциально  |  Станислав Павловский  |  Telegram: @Integraleus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Три ключевых риска ИТ-директора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7724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2697480" cy="635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-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432000" cy="43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3520" y="978408"/>
            <a:ext cx="1808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C3333"/>
                </a:solidFill>
                <a:latin typeface="Arial"/>
              </a:rPr>
              <a:t>Зависимость от_x000B_зарубежных вендоров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Уход Siemens, AVEVA, Honeywell_x000B_→ нет обновлений, нет поддержки._x000B_Санкционный риск = операционный риск.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77724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777240"/>
            <a:ext cx="2697480" cy="6350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005840"/>
            <a:ext cx="432000" cy="4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43880" y="978408"/>
            <a:ext cx="1808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9C00"/>
                </a:solidFill>
                <a:latin typeface="Arial"/>
              </a:rPr>
              <a:t>«Зоопарк» систем_x000B_без единого ядра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5448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SCADA от одного вендора, MES от другого,_x000B_историк — третий. Интеграция «на скотч»,_x000B_каждое обновление — проект.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77724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777240"/>
            <a:ext cx="2697480" cy="635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art-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05840"/>
            <a:ext cx="432000" cy="43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24240" y="978408"/>
            <a:ext cx="1808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C3333"/>
                </a:solidFill>
                <a:latin typeface="Arial"/>
              </a:rPr>
              <a:t>Потеря данных_x000B_и аналитики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Historian лицензии заморожены._x000B_Данные копятся, но не работают._x000B_Без аналитики нет оптимизации.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3333"/>
                </a:solidFill>
                <a:latin typeface="Arial"/>
              </a:rPr>
              <a:t>⚠ Каждый месяц промедления увеличивает стоимость миграции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Альфа платформа — единое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5469"/>
                </a:solidFill>
                <a:latin typeface="Arial"/>
              </a:rPr>
              <a:t>Полный стек промышленной автоматизации в одном продукте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ilding-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320" y="1005840"/>
            <a:ext cx="432000" cy="43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5497"/>
                </a:solidFill>
                <a:latin typeface="Arial"/>
              </a:rPr>
              <a:t>6 500+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469"/>
                </a:solidFill>
                <a:latin typeface="Arial"/>
              </a:rPr>
              <a:t>объектов_x000B_управления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91440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440" y="1005840"/>
            <a:ext cx="432000" cy="43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032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5497"/>
                </a:solidFill>
                <a:latin typeface="Arial"/>
              </a:rPr>
              <a:t>500K+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874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469"/>
                </a:solidFill>
                <a:latin typeface="Arial"/>
              </a:rPr>
              <a:t>тегов_x000B_на сервер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91440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560" y="1005840"/>
            <a:ext cx="432000" cy="43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6344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5497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74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469"/>
                </a:solidFill>
                <a:latin typeface="Arial"/>
              </a:rPr>
              <a:t>платформа_x000B_вместо 5–7 систем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91440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680" y="1005840"/>
            <a:ext cx="432000" cy="432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656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5497"/>
                </a:solidFill>
                <a:latin typeface="Arial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874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469"/>
                </a:solidFill>
                <a:latin typeface="Arial"/>
              </a:rPr>
              <a:t>реестр_x000B_отечественного ПО</a:t>
            </a:r>
          </a:p>
        </p:txBody>
      </p:sp>
      <p:pic>
        <p:nvPicPr>
          <p:cNvPr id="22" name="Picture 21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560320"/>
            <a:ext cx="180000" cy="18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2560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Реестр Минцифры, сертификаты ФСТЭК</a:t>
            </a:r>
          </a:p>
        </p:txBody>
      </p:sp>
      <p:pic>
        <p:nvPicPr>
          <p:cNvPr id="24" name="Picture 23" descr="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880360"/>
            <a:ext cx="180000" cy="1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7280" y="2880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Работает на Linux (Astra, РЕД ОС) и Windows</a:t>
            </a:r>
          </a:p>
        </p:txBody>
      </p:sp>
      <p:pic>
        <p:nvPicPr>
          <p:cNvPr id="26" name="Picture 25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200400"/>
            <a:ext cx="180000" cy="18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3200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Открытые протоколы и API — никакого vendor lock-in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Почему не «ещё одна SCADA»?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77240"/>
            <a:ext cx="4023360" cy="2011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4023360" cy="6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432000" cy="43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3520" y="978408"/>
            <a:ext cx="313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99999"/>
                </a:solidFill>
                <a:latin typeface="Arial"/>
              </a:rPr>
              <a:t>Классический подход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520" y="1252728"/>
            <a:ext cx="313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445469"/>
                </a:solidFill>
                <a:latin typeface="Arial"/>
              </a:rPr>
              <a:t>Набор отдельных продуктов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SCADA + Historian + MES + Reporting_x000B_= 4 вендора, 4 лицензии, 4 интеграции._x000B_Каждое обновление — риск поломки.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777240"/>
            <a:ext cx="4023360" cy="2011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777240"/>
            <a:ext cx="4023360" cy="6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you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05840"/>
            <a:ext cx="432000" cy="43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69760" y="978408"/>
            <a:ext cx="313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5497"/>
                </a:solidFill>
                <a:latin typeface="Arial"/>
              </a:rPr>
              <a:t>Альфа платформа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9760" y="1252728"/>
            <a:ext cx="313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445469"/>
                </a:solidFill>
                <a:latin typeface="Arial"/>
              </a:rPr>
              <a:t>Единая архитектура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544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HMI, история, алармы, отчёты, MES-функции_x000B_— один движок, одна модель данных,_x000B_одно обновление на всё.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8229600" cy="127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08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5497"/>
                </a:solidFill>
                <a:latin typeface="Arial"/>
              </a:rPr>
              <a:t>Результат для ИТ-директора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• Один договор поддержки вместо пяти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85032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• Единый стек компетенций для команды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4106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• Предсказуемый бюджет — лицензия по тегам, без скрытых модулей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Что закрывает Альфа платформа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7724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Визуализация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HMI/SCADA мнемосхемы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Веб-доступ (HTML5)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Мобильные дашборды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Интерактивные тренды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77724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Данные и аналитика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Historian (500K тегов)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Алармы и события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Отчёты (шаблоны Excel)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40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OPC UA / Modbus / MQTT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77724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Управление и 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Рецептурное управление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Batch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Генеалогия партий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240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Интеграция с ERP/1С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Дорожная карта внедрения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005840"/>
            <a:ext cx="1005840" cy="100584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ye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20" y="1328760"/>
            <a:ext cx="360000" cy="3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3333"/>
                </a:solidFill>
                <a:latin typeface="Arial"/>
              </a:rPr>
              <a:t>АУДИТ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1–2 мес.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Обследование текущих систем, карта зависимостей, оценка рисков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1483360"/>
            <a:ext cx="845820" cy="101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28900" y="1005840"/>
            <a:ext cx="1005840" cy="1005840"/>
          </a:xfrm>
          <a:prstGeom prst="ellipse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ttings-auto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820" y="1328760"/>
            <a:ext cx="360000" cy="36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3746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89C00"/>
                </a:solidFill>
                <a:latin typeface="Arial"/>
              </a:rPr>
              <a:t>ПИЛОТ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7460" y="23042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2–3 мес.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602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Один объект — полный цикл: HMI + история + алармы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80460" y="1483360"/>
            <a:ext cx="845820" cy="101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0" y="1005840"/>
            <a:ext cx="1005840" cy="10058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erver-sp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920" y="1328760"/>
            <a:ext cx="360000" cy="36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8056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997C8"/>
                </a:solidFill>
                <a:latin typeface="Arial"/>
              </a:rPr>
              <a:t>МИГРАЦИЯ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042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6–12 мес.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Поэтапный перевод объектов, параллельная работа со старыми системами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623560" y="1483360"/>
            <a:ext cx="845820" cy="101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15100" y="1005840"/>
            <a:ext cx="1005840" cy="100584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art-line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8020" y="1328760"/>
            <a:ext cx="360000" cy="36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2366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2C444"/>
                </a:solidFill>
                <a:latin typeface="Arial"/>
              </a:rPr>
              <a:t>МАСШТАБ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3660" y="23042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далее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MES-функции, предиктивная аналитика, единый ЦУП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5497"/>
                </a:solidFill>
                <a:latin typeface="Arial"/>
              </a:rPr>
              <a:t>Пилот → результат за 3 месяца, без остановки производства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Сравнение: Альфа платформа vs. западные аналоги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229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Критерий</a:t>
                      </a:r>
                    </a:p>
                  </a:txBody>
                  <a:tcPr>
                    <a:solidFill>
                      <a:srgbClr val="0054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Альфа платформа</a:t>
                      </a:r>
                    </a:p>
                  </a:txBody>
                  <a:tcPr>
                    <a:solidFill>
                      <a:srgbClr val="0054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Siemens WinCC OA</a:t>
                      </a:r>
                    </a:p>
                  </a:txBody>
                  <a:tcPr>
                    <a:solidFill>
                      <a:srgbClr val="0054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AVEVA System Platform</a:t>
                      </a:r>
                    </a:p>
                  </a:txBody>
                  <a:tcPr>
                    <a:solidFill>
                      <a:srgbClr val="00549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Реестр Минцифры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✓ Да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✗ Нет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✗ Нет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Linux-совместимость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✓ Astra, РЕД ОС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~ Частично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✗ Только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Единая лицензия (HMI+Hist+MES)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✓ Да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✗ Раздельно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✗ Раздельно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Локальная поддержка 24/7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✓ Россия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✗ Ограничена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✗ Ограничена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Стоимость владения (3 года)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На 30–40% ниже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Высокая (€)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Высокая (€)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Открытые протоколы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✓ OPC UA, MQTT,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~ OPC 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5469"/>
                          </a:solidFill>
                          <a:latin typeface="Arial"/>
                        </a:rPr>
                        <a:t>~ OPC 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Следующие шаги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5469"/>
                </a:solidFill>
                <a:latin typeface="Arial"/>
              </a:rPr>
              <a:t>Мы предлагаем начать с малого — без рисков для текущих процессов: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005840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pic>
        <p:nvPicPr>
          <p:cNvPr id="7" name="Picture 6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24128"/>
            <a:ext cx="324000" cy="3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0058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5497"/>
                </a:solidFill>
                <a:latin typeface="Arial"/>
              </a:rPr>
              <a:t>Экспресс-аудит (бесплатно)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280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Карта текущих систем, оценка санкционных рисков, roadmap миграции — за 2 недели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874520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11" name="Picture 10" descr="settings-auto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92808"/>
            <a:ext cx="324000" cy="3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18745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5497"/>
                </a:solidFill>
                <a:latin typeface="Arial"/>
              </a:rPr>
              <a:t>Пилотный проект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488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Один объект, полный цикл Альфа платформы. Результат за 2–3 месяца, фиксированный бюджет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743200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pic>
        <p:nvPicPr>
          <p:cNvPr id="15" name="Picture 14" descr="chart-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761488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2743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5497"/>
                </a:solidFill>
                <a:latin typeface="Arial"/>
              </a:rPr>
              <a:t>ТКП с расчётом ROI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0175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Детальное коммерческое предложение с расчётом экономии vs. текущих лицензий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Импортозамещение —_x000B_не вопрос «если»,_x000B_а вопрос «когда»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0D0F0"/>
                </a:solidFill>
                <a:latin typeface="Arial"/>
              </a:rPr>
              <a:t>Начните с аудита — мы покажем путь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АО «Атомик Софт»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rial"/>
              </a:rPr>
              <a:t>Станислав Павловский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0D0F0"/>
                </a:solidFill>
                <a:latin typeface="Arial"/>
              </a:rPr>
              <a:t>Telegram: @Integraleus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114800"/>
            <a:ext cx="2286000" cy="3456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