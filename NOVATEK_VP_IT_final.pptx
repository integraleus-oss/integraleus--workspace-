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2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946" r:id="rId4"/>
  </p:sldMasterIdLst>
  <p:notesMasterIdLst>
    <p:notesMasterId r:id="rId18"/>
  </p:notesMasterIdLst>
  <p:handoutMasterIdLst>
    <p:handoutMasterId r:id="rId19"/>
  </p:handout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1"/>
    <p:sldId id="263" r:id="rId10"/>
    <p:sldId id="264" r:id="rId9"/>
  </p:sldIdLst>
  <p:sldSz cx="9144000" cy="5143500" type="screen16x9"/>
  <p:notesSz cx="6858000" cy="9144000"/>
  <p:defaultTextStyle>
    <a:defPPr>
      <a:defRPr lang="en-US"/>
    </a:defPPr>
    <a:lvl1pPr marL="0" algn="l" defTabSz="68566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831" algn="l" defTabSz="68566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663" algn="l" defTabSz="68566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494" algn="l" defTabSz="68566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326" algn="l" defTabSz="68566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157" algn="l" defTabSz="68566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6989" algn="l" defTabSz="68566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399820" algn="l" defTabSz="68566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2651" algn="l" defTabSz="68566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Отчалко Алексей Валерьевич" initials="ОАВ" lastIdx="2" clrIdx="0">
    <p:extLst>
      <p:ext uri="{19B8F6BF-5375-455C-9EA6-DF929625EA0E}">
        <p15:presenceInfo xmlns:p15="http://schemas.microsoft.com/office/powerpoint/2012/main" userId="S-1-5-21-4150067811-3172932439-921807814-2128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C0000"/>
    <a:srgbClr val="740000"/>
    <a:srgbClr val="0997C8"/>
    <a:srgbClr val="151320"/>
    <a:srgbClr val="14121F"/>
    <a:srgbClr val="18597F"/>
    <a:srgbClr val="00559A"/>
    <a:srgbClr val="005497"/>
    <a:srgbClr val="82C444"/>
    <a:srgbClr val="669C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3216" autoAdjust="0"/>
  </p:normalViewPr>
  <p:slideViewPr>
    <p:cSldViewPr snapToGrid="0">
      <p:cViewPr varScale="1">
        <p:scale>
          <a:sx n="137" d="100"/>
          <a:sy n="137" d="100"/>
        </p:scale>
        <p:origin x="82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9.xml"/><Relationship Id="rId10" Type="http://schemas.openxmlformats.org/officeDocument/2006/relationships/slide" Target="slides/slide8.xml"/><Relationship Id="rId11" Type="http://schemas.openxmlformats.org/officeDocument/2006/relationships/slide" Target="slides/slide7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notesMaster" Target="notesMasters/notesMaster1.xml"/><Relationship Id="rId19" Type="http://schemas.openxmlformats.org/officeDocument/2006/relationships/handoutMaster" Target="handoutMasters/handoutMaster1.xml"/><Relationship Id="rId20" Type="http://schemas.openxmlformats.org/officeDocument/2006/relationships/commentAuthors" Target="commentAuthors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3FD982-2CA3-466A-871B-FBBB36BA29C9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1CB1D8-357D-4FC8-88B1-BB2FE42471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2215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Verdana" panose="020B060403050404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Verdana" panose="020B0604030504040204" pitchFamily="34" charset="0"/>
              </a:defRPr>
            </a:lvl1pPr>
          </a:lstStyle>
          <a:p>
            <a:fld id="{EFC10EE1-B198-C942-8235-326C972CBB30}" type="datetimeFigureOut">
              <a:rPr lang="en-US" smtClean="0"/>
              <a:pPr/>
              <a:t>5/12/2025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Verdana" panose="020B060403050404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Verdana" panose="020B0604030504040204" pitchFamily="34" charset="0"/>
              </a:defRPr>
            </a:lvl1pPr>
          </a:lstStyle>
          <a:p>
            <a:fld id="{006BE02D-20C0-F840-AFAC-BEA99C74FDC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2891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42831" rtl="0" eaLnBrk="1" latinLnBrk="0" hangingPunct="1">
      <a:defRPr sz="9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1pPr>
    <a:lvl2pPr marL="342831" algn="l" defTabSz="342831" rtl="0" eaLnBrk="1" latinLnBrk="0" hangingPunct="1">
      <a:defRPr sz="9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2pPr>
    <a:lvl3pPr marL="685663" algn="l" defTabSz="342831" rtl="0" eaLnBrk="1" latinLnBrk="0" hangingPunct="1">
      <a:defRPr sz="9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3pPr>
    <a:lvl4pPr marL="1028494" algn="l" defTabSz="342831" rtl="0" eaLnBrk="1" latinLnBrk="0" hangingPunct="1">
      <a:defRPr sz="9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4pPr>
    <a:lvl5pPr marL="1371326" algn="l" defTabSz="342831" rtl="0" eaLnBrk="1" latinLnBrk="0" hangingPunct="1">
      <a:defRPr sz="9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5pPr>
    <a:lvl6pPr marL="1714157" algn="l" defTabSz="342831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6989" algn="l" defTabSz="342831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399820" algn="l" defTabSz="342831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2651" algn="l" defTabSz="342831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lium_Break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5434B0F-F40F-C569-0068-3A0AB96CC7A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1679" y="318581"/>
            <a:ext cx="2793054" cy="423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2648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0119B87-EEDF-34A8-548B-284B244760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65209" y="4676568"/>
            <a:ext cx="372490" cy="372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670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o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54216" y="4700240"/>
            <a:ext cx="2651893" cy="3763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477043EC-7684-4F7C-AE01-8FA32FBACF43}"/>
              </a:ext>
            </a:extLst>
          </p:cNvPr>
          <p:cNvSpPr/>
          <p:nvPr userDrawn="1"/>
        </p:nvSpPr>
        <p:spPr>
          <a:xfrm>
            <a:off x="3254216" y="4700240"/>
            <a:ext cx="2651893" cy="3763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1A8D3A3-4F2D-2E8E-7343-C5D3CB90EAC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65209" y="4676568"/>
            <a:ext cx="372490" cy="372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199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General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8E6E261-E28D-12DF-8306-615240014FE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65209" y="4676568"/>
            <a:ext cx="372490" cy="372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680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act 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 noChangeAspect="1"/>
          </p:cNvSpPr>
          <p:nvPr>
            <p:ph type="pic" sz="quarter" idx="10"/>
          </p:nvPr>
        </p:nvSpPr>
        <p:spPr>
          <a:xfrm>
            <a:off x="0" y="1132105"/>
            <a:ext cx="9144000" cy="2540000"/>
          </a:xfrm>
        </p:spPr>
        <p:txBody>
          <a:bodyPr>
            <a:normAutofit/>
          </a:bodyPr>
          <a:lstStyle>
            <a:lvl1pPr marL="0" indent="0">
              <a:buNone/>
              <a:defRPr sz="1575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4C68DF6-DF0E-5EC9-4183-B981DC9B51C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65209" y="4676568"/>
            <a:ext cx="372490" cy="372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165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14:reveal/>
      </p:transition>
    </mc:Choice>
    <mc:Fallback xmlns="">
      <p:transition spd="slow" advClick="0" advTm="3000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C61F1-CCD4-F743-B10E-178ED077EC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CEDE89-36E4-5146-825B-076388FFB1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BD8E4A-25BD-604C-9B38-4ACD65179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63DFB-8595-A44B-9F09-A50FA310E559}" type="datetimeFigureOut">
              <a:rPr lang="en-RU" smtClean="0"/>
              <a:t>05/12/2025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127B86-0F08-2840-85D5-C4833950F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461260-A9CF-D746-A2C9-B7B2A67A9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0F133-126C-5944-A0E4-6A9616EDC0DA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65534962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7"/>
            <a:ext cx="7886700" cy="994172"/>
          </a:xfrm>
          <a:prstGeom prst="rect">
            <a:avLst/>
          </a:prstGeom>
        </p:spPr>
        <p:txBody>
          <a:bodyPr vert="horz" lIns="182843" tIns="91422" rIns="182843" bIns="91422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182843" tIns="91422" rIns="182843" bIns="91422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087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0" r:id="rId1"/>
    <p:sldLayoutId id="2147483947" r:id="rId2"/>
    <p:sldLayoutId id="2147483948" r:id="rId3"/>
    <p:sldLayoutId id="2147483955" r:id="rId4"/>
    <p:sldLayoutId id="2147483942" r:id="rId5"/>
    <p:sldLayoutId id="2147483961" r:id="rId6"/>
  </p:sldLayoutIdLst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hf hdr="0" ftr="0" dt="0"/>
  <p:txStyles>
    <p:titleStyle>
      <a:lvl1pPr algn="l" defTabSz="685663" rtl="0" eaLnBrk="1" latinLnBrk="0" hangingPunct="1">
        <a:lnSpc>
          <a:spcPct val="90000"/>
        </a:lnSpc>
        <a:spcBef>
          <a:spcPct val="0"/>
        </a:spcBef>
        <a:buNone/>
        <a:defRPr lang="en-US" sz="2250" kern="1200">
          <a:solidFill>
            <a:schemeClr val="tx1"/>
          </a:solidFill>
          <a:latin typeface="Verdana" panose="020B0604030504040204" pitchFamily="34" charset="0"/>
          <a:ea typeface="+mj-ea"/>
          <a:cs typeface="+mj-cs"/>
        </a:defRPr>
      </a:lvl1pPr>
    </p:titleStyle>
    <p:bodyStyle>
      <a:lvl1pPr marL="171416" indent="-171416" algn="l" defTabSz="685663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lang="en-US" sz="1800" kern="1200" dirty="0" smtClean="0">
          <a:solidFill>
            <a:schemeClr val="tx1"/>
          </a:solidFill>
          <a:effectLst/>
          <a:latin typeface="Verdana" panose="020B0604030504040204" pitchFamily="34" charset="0"/>
          <a:ea typeface="+mn-ea"/>
          <a:cs typeface="+mn-cs"/>
        </a:defRPr>
      </a:lvl1pPr>
      <a:lvl2pPr marL="514247" indent="-171416" algn="l" defTabSz="68566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lang="en-US" sz="1500" kern="1200" dirty="0" smtClean="0">
          <a:solidFill>
            <a:schemeClr val="tx1"/>
          </a:solidFill>
          <a:effectLst/>
          <a:latin typeface="Verdana" panose="020B0604030504040204" pitchFamily="34" charset="0"/>
          <a:ea typeface="+mn-ea"/>
          <a:cs typeface="+mn-cs"/>
        </a:defRPr>
      </a:lvl2pPr>
      <a:lvl3pPr marL="857079" indent="-171416" algn="l" defTabSz="68566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lang="en-US" sz="1350" kern="1200" dirty="0" smtClean="0">
          <a:solidFill>
            <a:schemeClr val="tx1"/>
          </a:solidFill>
          <a:effectLst/>
          <a:latin typeface="Verdana" panose="020B0604030504040204" pitchFamily="34" charset="0"/>
          <a:ea typeface="+mn-ea"/>
          <a:cs typeface="+mn-cs"/>
        </a:defRPr>
      </a:lvl3pPr>
      <a:lvl4pPr marL="1199910" indent="-171416" algn="l" defTabSz="68566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effectLst/>
          <a:latin typeface="Verdana" panose="020B0604030504040204" pitchFamily="34" charset="0"/>
          <a:ea typeface="+mn-ea"/>
          <a:cs typeface="+mn-cs"/>
        </a:defRPr>
      </a:lvl4pPr>
      <a:lvl5pPr marL="1542741" indent="-171416" algn="l" defTabSz="68566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effectLst/>
          <a:latin typeface="Verdana" panose="020B0604030504040204" pitchFamily="34" charset="0"/>
          <a:ea typeface="+mn-ea"/>
          <a:cs typeface="+mn-cs"/>
        </a:defRPr>
      </a:lvl5pPr>
      <a:lvl6pPr marL="1885573" indent="-171416" algn="l" defTabSz="68566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404" indent="-171416" algn="l" defTabSz="68566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236" indent="-171416" algn="l" defTabSz="68566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067" indent="-171416" algn="l" defTabSz="68566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31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663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494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326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157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6989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399820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2651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g"/><Relationship Id="rId3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7.png"/><Relationship Id="rId10" Type="http://schemas.openxmlformats.org/officeDocument/2006/relationships/image" Target="../media/image1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14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Relationship Id="rId9" Type="http://schemas.openxmlformats.org/officeDocument/2006/relationships/image" Target="../media/image29.png"/><Relationship Id="rId10" Type="http://schemas.openxmlformats.org/officeDocument/2006/relationships/image" Target="../media/image30.png"/><Relationship Id="rId11" Type="http://schemas.openxmlformats.org/officeDocument/2006/relationships/image" Target="../media/image3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0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2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_Рисунок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slide1_Рисунок_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46888"/>
            <a:ext cx="2286000" cy="34564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100584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Переход с AVEVA PI System</a:t>
            </a:r>
            <a:br/>
            <a:r>
              <a:t>на Альфа платформу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9260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0D0F0"/>
                </a:solidFill>
                <a:latin typeface="Arial"/>
              </a:defRPr>
            </a:pPr>
            <a:r>
              <a:t>От зависимости — к контролю. Стратегия для 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526280"/>
            <a:ext cx="9144000" cy="617220"/>
          </a:xfrm>
          <a:prstGeom prst="rect">
            <a:avLst/>
          </a:prstGeom>
          <a:solidFill>
            <a:srgbClr val="00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4617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B0D0"/>
                </a:solidFill>
                <a:latin typeface="Arial"/>
              </a:defRPr>
            </a:pPr>
            <a:r>
              <a:t>АО «Атомик Софт»  •  automiq.ru  •  Конфиденциально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29768"/>
            <a:ext cx="457200" cy="19050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0" y="429768"/>
            <a:ext cx="1371600" cy="19050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5497"/>
                </a:solidFill>
                <a:latin typeface="Arial"/>
              </a:defRPr>
            </a:pPr>
            <a:r>
              <a:t>Ситуация: почему нужно действовать сейчас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68680"/>
            <a:ext cx="2697480" cy="34747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868680"/>
            <a:ext cx="2697480" cy="63500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hield-l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051560"/>
            <a:ext cx="432000" cy="43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51560" y="10515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C3333"/>
                </a:solidFill>
                <a:latin typeface="Arial"/>
              </a:defRPr>
            </a:pPr>
            <a:r>
              <a:t>Санкционный риск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2331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45469"/>
                </a:solidFill>
                <a:latin typeface="Arial"/>
              </a:defRPr>
            </a:pPr>
            <a:r>
              <a:t>AVEVA прекратила поддержку</a:t>
            </a:r>
            <a:br/>
            <a:r>
              <a:t>и продажу в РФ.</a:t>
            </a:r>
            <a:br/>
            <a:r>
              <a:t>Нет обновлений. Нет патчей</a:t>
            </a:r>
            <a:br/>
            <a:r>
              <a:t>безопасности. Нет техподдержки.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868680"/>
            <a:ext cx="2697480" cy="34747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868680"/>
            <a:ext cx="2697480" cy="63500"/>
          </a:xfrm>
          <a:prstGeom prst="rect">
            <a:avLst/>
          </a:prstGeom>
          <a:solidFill>
            <a:srgbClr val="E89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hart-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1051560"/>
            <a:ext cx="432000" cy="432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931920" y="10515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9C00"/>
                </a:solidFill>
                <a:latin typeface="Arial"/>
              </a:defRPr>
            </a:pPr>
            <a:r>
              <a:t>Финансовый риск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1554480"/>
            <a:ext cx="2331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45469"/>
                </a:solidFill>
                <a:latin typeface="Arial"/>
              </a:defRPr>
            </a:pPr>
            <a:r>
              <a:t>AVEVA Flex: ~$108K/год</a:t>
            </a:r>
            <a:br/>
            <a:r>
              <a:t>за подписку.</a:t>
            </a:r>
            <a:br/>
            <a:r>
              <a:t>При неоплате — ПО</a:t>
            </a:r>
            <a:br/>
            <a:r>
              <a:t>перестаёт работать.</a:t>
            </a:r>
            <a:br/>
            <a:r>
              <a:t>Валютный риск.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868680"/>
            <a:ext cx="2697480" cy="34747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868680"/>
            <a:ext cx="2697480" cy="63500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1051560"/>
            <a:ext cx="432000" cy="432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812280" y="10515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497"/>
                </a:solidFill>
                <a:latin typeface="Arial"/>
              </a:defRPr>
            </a:pPr>
            <a:r>
              <a:t>Регуляторный риск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554480"/>
            <a:ext cx="2331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45469"/>
                </a:solidFill>
                <a:latin typeface="Arial"/>
              </a:defRPr>
            </a:pPr>
            <a:r>
              <a:t>ФЗ-187 о КИИ требует</a:t>
            </a:r>
            <a:br/>
            <a:r>
              <a:t>перехода на отечественное ПО.</a:t>
            </a:r>
            <a:br/>
            <a:r>
              <a:t>Сроки ужесточаются.</a:t>
            </a:r>
            <a:br/>
            <a:r>
              <a:t>ФСТЭК-аудиты.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C3333"/>
                </a:solidFill>
                <a:latin typeface="Arial"/>
              </a:defRPr>
            </a:pPr>
            <a:r>
              <a:t>⏱ Каждый месяц без действий — это $9K подписки + растущий риск деактивации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29768"/>
            <a:ext cx="457200" cy="19050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0" y="429768"/>
            <a:ext cx="1371600" cy="19050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5497"/>
                </a:solidFill>
                <a:latin typeface="Arial"/>
              </a:defRPr>
            </a:pPr>
            <a:r>
              <a:t>Решение: Альфа платформа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45469"/>
                </a:solidFill>
                <a:latin typeface="Arial"/>
              </a:defRPr>
            </a:pPr>
            <a:r>
              <a:t>Российская SCADA-платформа №1 в реестре Минцифры</a:t>
            </a:r>
            <a:br/>
            <a:r>
              <a:t>от АО «Атомик Софт» (Томск)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063240"/>
            <a:ext cx="804672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shield-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200400"/>
            <a:ext cx="180000" cy="1800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14400" y="3200400"/>
            <a:ext cx="7680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Реестр Минцифры — полное соответствие ФЗ-187 о КИИ</a:t>
            </a:r>
          </a:p>
        </p:txBody>
      </p:sp>
      <p:pic>
        <p:nvPicPr>
          <p:cNvPr id="21" name="Picture 20" descr="ke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3456432"/>
            <a:ext cx="180000" cy="1800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14400" y="3456432"/>
            <a:ext cx="7680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Бессрочная лицензия в рублях — предсказуемый бюджет</a:t>
            </a:r>
          </a:p>
        </p:txBody>
      </p:sp>
      <p:pic>
        <p:nvPicPr>
          <p:cNvPr id="23" name="Picture 22" descr="serve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40" y="3712464"/>
            <a:ext cx="180000" cy="1800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14400" y="3712464"/>
            <a:ext cx="7680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Windows + Linux (Astra, РЕД ОС) — сертифицированные ОС</a:t>
            </a:r>
          </a:p>
        </p:txBody>
      </p:sp>
      <p:pic>
        <p:nvPicPr>
          <p:cNvPr id="25" name="Picture 24" descr="shield-loc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640" y="3968496"/>
            <a:ext cx="180000" cy="1800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14400" y="3968496"/>
            <a:ext cx="7680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Лицензия ФСТЭК на разработку СЗКИ</a:t>
            </a:r>
          </a:p>
        </p:txBody>
      </p:sp>
      <p:pic>
        <p:nvPicPr>
          <p:cNvPr id="27" name="Picture 26" descr="setting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8640" y="4224528"/>
            <a:ext cx="180000" cy="1800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14400" y="4224528"/>
            <a:ext cx="7680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Техподдержка 24/7 на русском языке, вендор в России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1417320"/>
            <a:ext cx="1920240" cy="14173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1320" y="1508760"/>
            <a:ext cx="432000" cy="4320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57200" y="196596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5497"/>
                </a:solidFill>
                <a:latin typeface="Arial"/>
              </a:defRPr>
            </a:pPr>
            <a:r>
              <a:t>6500+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237744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445469"/>
                </a:solidFill>
                <a:latin typeface="Arial"/>
              </a:defRPr>
            </a:pPr>
            <a:r>
              <a:t>инсталляций</a:t>
            </a:r>
            <a:br/>
            <a:r>
              <a:t>в промышленности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560320" y="1417320"/>
            <a:ext cx="1920240" cy="14173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4440" y="1508760"/>
            <a:ext cx="432000" cy="4320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2560320" y="196596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5497"/>
                </a:solidFill>
                <a:latin typeface="Arial"/>
              </a:defRPr>
            </a:pPr>
            <a:r>
              <a:t>80+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60320" y="237744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445469"/>
                </a:solidFill>
                <a:latin typeface="Arial"/>
              </a:defRPr>
            </a:pPr>
            <a:r>
              <a:t>партнёров-</a:t>
            </a:r>
            <a:br/>
            <a:r>
              <a:t>интеграторов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663440" y="1417320"/>
            <a:ext cx="1920240" cy="14173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7560" y="1508760"/>
            <a:ext cx="432000" cy="43200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4663440" y="196596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5497"/>
                </a:solidFill>
                <a:latin typeface="Arial"/>
              </a:defRPr>
            </a:pPr>
            <a:r>
              <a:t>140+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63440" y="237744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445469"/>
                </a:solidFill>
                <a:latin typeface="Arial"/>
              </a:defRPr>
            </a:pPr>
            <a:r>
              <a:t>сотрудников</a:t>
            </a:r>
            <a:br/>
            <a:r>
              <a:t>разработки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766559" y="1417320"/>
            <a:ext cx="1920240" cy="14173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10679" y="1508760"/>
            <a:ext cx="432000" cy="43200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6766559" y="196596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5497"/>
                </a:solidFill>
                <a:latin typeface="Arial"/>
              </a:defRPr>
            </a:pPr>
            <a:r>
              <a:t>10 лет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66559" y="237744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445469"/>
                </a:solidFill>
                <a:latin typeface="Arial"/>
              </a:defRPr>
            </a:pPr>
            <a:r>
              <a:t>на рынке</a:t>
            </a:r>
            <a:br/>
            <a:r>
              <a:t>АСУ ТП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29768"/>
            <a:ext cx="457200" cy="19050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0" y="429768"/>
            <a:ext cx="1371600" cy="19050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5497"/>
                </a:solidFill>
                <a:latin typeface="Arial"/>
              </a:defRPr>
            </a:pPr>
            <a:r>
              <a:t>Что меняется: суть перехода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822960"/>
            <a:ext cx="4023360" cy="2286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822960"/>
            <a:ext cx="4023360" cy="508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ata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60120"/>
            <a:ext cx="360000" cy="36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" y="9144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99999"/>
                </a:solidFill>
                <a:latin typeface="Arial"/>
              </a:defRPr>
            </a:pPr>
            <a:r>
              <a:t>AVEVA PI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1887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997C8"/>
                </a:solidFill>
                <a:latin typeface="Arial"/>
              </a:defRPr>
            </a:pPr>
            <a:r>
              <a:t>«Склад данных»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55448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45469"/>
                </a:solidFill>
                <a:latin typeface="Arial"/>
              </a:defRPr>
            </a:pPr>
            <a:r>
              <a:t>Собирает данные и раздаёт —</a:t>
            </a:r>
            <a:br/>
            <a:r>
              <a:t>аналитикам, Excel, облаку, BI.</a:t>
            </a:r>
            <a:br/>
            <a:r>
              <a:t>Управление процессом — не его задача.</a:t>
            </a:r>
            <a:br/>
            <a:r>
              <a:t>Подписка в долларах. Облако за за рубежом.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822960"/>
            <a:ext cx="4023360" cy="2286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822960"/>
            <a:ext cx="4023360" cy="50800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layout-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960120"/>
            <a:ext cx="360000" cy="360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120640" y="9144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497"/>
                </a:solidFill>
                <a:latin typeface="Arial"/>
              </a:defRPr>
            </a:pPr>
            <a:r>
              <a:t>Альфа платформа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11887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997C8"/>
                </a:solidFill>
                <a:latin typeface="Arial"/>
              </a:defRPr>
            </a:pPr>
            <a:r>
              <a:t>«Диспетчерская с пультом»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155448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45469"/>
                </a:solidFill>
                <a:latin typeface="Arial"/>
              </a:defRPr>
            </a:pPr>
            <a:r>
              <a:t>Оператор видит и управляет процессом.</a:t>
            </a:r>
            <a:br/>
            <a:r>
              <a:t>Хранение данных тоже есть (Historian).</a:t>
            </a:r>
            <a:br/>
            <a:r>
              <a:t>Но главное — пульт управления.</a:t>
            </a:r>
            <a:br/>
            <a:r>
              <a:t>Бессрочная лицензия в рублях. On-prem.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246120"/>
            <a:ext cx="82296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3375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5497"/>
                </a:solidFill>
                <a:latin typeface="Arial"/>
              </a:defRPr>
            </a:pPr>
            <a:r>
              <a:t>Что это значит для бизнеса: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657600"/>
            <a:ext cx="8046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• Переход с «хранилища данных» на «систему управления с хранилищем» — функционал расширяется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913632"/>
            <a:ext cx="8046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• Некоторые «курьерские сервисы» (REST API, облако, Event Frames) потребуют доработки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169664"/>
            <a:ext cx="8046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• Основные функции (архив, визуализация, тревоги, протоколы) заменяются полностью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29768"/>
            <a:ext cx="457200" cy="19050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0" y="429768"/>
            <a:ext cx="1371600" cy="19050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5497"/>
                </a:solidFill>
                <a:latin typeface="Arial"/>
              </a:defRPr>
            </a:pPr>
            <a:r>
              <a:t>Покрытие функционала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22960"/>
            <a:ext cx="2697480" cy="365760"/>
          </a:xfrm>
          <a:prstGeom prst="rect">
            <a:avLst/>
          </a:prstGeom>
          <a:solidFill>
            <a:srgbClr val="82C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41248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✅ Полная замена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•  Архив данных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8308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•  Экраны оператора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8600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•  Тревоги и события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78892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•  Буферизация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29184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•  Администрирование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79476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•  Программный доступ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6120" y="822960"/>
            <a:ext cx="2697480" cy="365760"/>
          </a:xfrm>
          <a:prstGeom prst="rect">
            <a:avLst/>
          </a:prstGeom>
          <a:solidFill>
            <a:srgbClr val="E89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37560" y="841248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⚠️ Частичная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128016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•  Коннекторы (450→30,</a:t>
            </a:r>
            <a:br/>
            <a:r>
              <a:t>но 80% покрыто)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178308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•  Self-service дашборды</a:t>
            </a:r>
            <a:br/>
            <a:r>
              <a:t>(есть, но проще)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228600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•  Модель активов</a:t>
            </a:r>
            <a:br/>
            <a:r>
              <a:t>(не «на лету»)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278892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•  Excel-отчёты</a:t>
            </a:r>
            <a:br/>
            <a:r>
              <a:t>(другой формат)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822960"/>
            <a:ext cx="2697480" cy="365760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841248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❌ Требует доработки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128016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•  Запись событий</a:t>
            </a:r>
            <a:br/>
            <a:r>
              <a:t>(Event Frames)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178308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•  HTTP-доступ (REST API)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28600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•  Синхронизация серверов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278892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•  BI-интеграция</a:t>
            </a:r>
            <a:br/>
            <a:r>
              <a:t>(через SQL обход)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29768"/>
            <a:ext cx="457200" cy="19050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0" y="429768"/>
            <a:ext cx="1371600" cy="19050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5497"/>
                </a:solidFill>
                <a:latin typeface="Arial"/>
              </a:defRPr>
            </a:pPr>
            <a:r>
              <a:t>План перехода: сроки и ресурсы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352044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5497"/>
                </a:solidFill>
                <a:latin typeface="Arial"/>
              </a:defRPr>
            </a:pPr>
            <a:r>
              <a:t>Общая длительность: 8–14 месяцев.  Нулевой простой — PI и Альфа работают параллельно.</a:t>
            </a:r>
          </a:p>
        </p:txBody>
      </p:sp>
      <p:sp>
        <p:nvSpPr>
          <p:cNvPr id="33" name="Oval 32"/>
          <p:cNvSpPr/>
          <p:nvPr/>
        </p:nvSpPr>
        <p:spPr>
          <a:xfrm>
            <a:off x="662940" y="822960"/>
            <a:ext cx="1005840" cy="1005840"/>
          </a:xfrm>
          <a:prstGeom prst="ellipse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eye-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5860" y="1055880"/>
            <a:ext cx="540000" cy="540000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1874520" y="1275080"/>
            <a:ext cx="228600" cy="381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196596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CC3333"/>
                </a:solidFill>
                <a:latin typeface="Arial"/>
              </a:defRPr>
            </a:pPr>
            <a:r>
              <a:t>АУДИТ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2240280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45469"/>
                </a:solidFill>
                <a:latin typeface="Arial"/>
              </a:defRPr>
            </a:pPr>
            <a:r>
              <a:t>1–2 мес.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" y="2514600"/>
            <a:ext cx="1508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445469"/>
                </a:solidFill>
                <a:latin typeface="Arial"/>
              </a:defRPr>
            </a:pPr>
            <a:r>
              <a:t>Инвентаризация тегов,</a:t>
            </a:r>
            <a:br/>
            <a:r>
              <a:t>протоколов, скриптов</a:t>
            </a:r>
          </a:p>
        </p:txBody>
      </p:sp>
      <p:sp>
        <p:nvSpPr>
          <p:cNvPr id="39" name="Oval 38"/>
          <p:cNvSpPr/>
          <p:nvPr/>
        </p:nvSpPr>
        <p:spPr>
          <a:xfrm>
            <a:off x="2354580" y="822960"/>
            <a:ext cx="1005840" cy="1005840"/>
          </a:xfrm>
          <a:prstGeom prst="ellipse">
            <a:avLst/>
          </a:prstGeom>
          <a:solidFill>
            <a:srgbClr val="E89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chart-line-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87500" y="1055880"/>
            <a:ext cx="540000" cy="540000"/>
          </a:xfrm>
          <a:prstGeom prst="rect">
            <a:avLst/>
          </a:prstGeom>
        </p:spPr>
      </p:pic>
      <p:sp>
        <p:nvSpPr>
          <p:cNvPr id="41" name="Rectangle 40"/>
          <p:cNvSpPr/>
          <p:nvPr/>
        </p:nvSpPr>
        <p:spPr>
          <a:xfrm>
            <a:off x="3566160" y="1275080"/>
            <a:ext cx="228600" cy="381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103120" y="196596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89C00"/>
                </a:solidFill>
                <a:latin typeface="Arial"/>
              </a:defRPr>
            </a:pPr>
            <a:r>
              <a:t>ПРОЕКТ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03120" y="2240280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45469"/>
                </a:solidFill>
                <a:latin typeface="Arial"/>
              </a:defRPr>
            </a:pPr>
            <a:r>
              <a:t>1 мес.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103120" y="2514600"/>
            <a:ext cx="1508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445469"/>
                </a:solidFill>
                <a:latin typeface="Arial"/>
              </a:defRPr>
            </a:pPr>
            <a:r>
              <a:t>Архитектура, лицензии,</a:t>
            </a:r>
            <a:br/>
            <a:r>
              <a:t>бюджет, рабочая группа</a:t>
            </a:r>
          </a:p>
        </p:txBody>
      </p:sp>
      <p:sp>
        <p:nvSpPr>
          <p:cNvPr id="45" name="Oval 44"/>
          <p:cNvSpPr/>
          <p:nvPr/>
        </p:nvSpPr>
        <p:spPr>
          <a:xfrm>
            <a:off x="4046220" y="822960"/>
            <a:ext cx="1005840" cy="1005840"/>
          </a:xfrm>
          <a:prstGeom prst="ellipse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gauge-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79140" y="1055880"/>
            <a:ext cx="540000" cy="540000"/>
          </a:xfrm>
          <a:prstGeom prst="rect">
            <a:avLst/>
          </a:prstGeom>
        </p:spPr>
      </p:pic>
      <p:sp>
        <p:nvSpPr>
          <p:cNvPr id="47" name="Rectangle 46"/>
          <p:cNvSpPr/>
          <p:nvPr/>
        </p:nvSpPr>
        <p:spPr>
          <a:xfrm>
            <a:off x="5257800" y="1275080"/>
            <a:ext cx="228600" cy="381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794760" y="196596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5497"/>
                </a:solidFill>
                <a:latin typeface="Arial"/>
              </a:defRPr>
            </a:pPr>
            <a:r>
              <a:t>ПИЛОТ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794760" y="2240280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45469"/>
                </a:solidFill>
                <a:latin typeface="Arial"/>
              </a:defRPr>
            </a:pPr>
            <a:r>
              <a:t>2–3 мес.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794760" y="2514600"/>
            <a:ext cx="1508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445469"/>
                </a:solidFill>
                <a:latin typeface="Arial"/>
              </a:defRPr>
            </a:pPr>
            <a:r>
              <a:t>Один объект —</a:t>
            </a:r>
            <a:br/>
            <a:r>
              <a:t>проверка на практике</a:t>
            </a:r>
          </a:p>
        </p:txBody>
      </p:sp>
      <p:sp>
        <p:nvSpPr>
          <p:cNvPr id="51" name="Oval 50"/>
          <p:cNvSpPr/>
          <p:nvPr/>
        </p:nvSpPr>
        <p:spPr>
          <a:xfrm>
            <a:off x="5737860" y="822960"/>
            <a:ext cx="1005840" cy="1005840"/>
          </a:xfrm>
          <a:prstGeom prst="ellipse">
            <a:avLst/>
          </a:prstGeom>
          <a:solidFill>
            <a:srgbClr val="337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database-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70780" y="1055880"/>
            <a:ext cx="540000" cy="540000"/>
          </a:xfrm>
          <a:prstGeom prst="rect">
            <a:avLst/>
          </a:prstGeom>
        </p:spPr>
      </p:pic>
      <p:sp>
        <p:nvSpPr>
          <p:cNvPr id="53" name="Rectangle 52"/>
          <p:cNvSpPr/>
          <p:nvPr/>
        </p:nvSpPr>
        <p:spPr>
          <a:xfrm>
            <a:off x="6949440" y="1275080"/>
            <a:ext cx="228600" cy="381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486400" y="196596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375AD"/>
                </a:solidFill>
                <a:latin typeface="Arial"/>
              </a:defRPr>
            </a:pPr>
            <a:r>
              <a:t>МИГРАЦИЯ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0" y="2240280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45469"/>
                </a:solidFill>
                <a:latin typeface="Arial"/>
              </a:defRPr>
            </a:pPr>
            <a:r>
              <a:t>3–6 мес.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0" y="2514600"/>
            <a:ext cx="1508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445469"/>
                </a:solidFill>
                <a:latin typeface="Arial"/>
              </a:defRPr>
            </a:pPr>
            <a:r>
              <a:t>Объекты переводим</a:t>
            </a:r>
            <a:br/>
            <a:r>
              <a:t>параллельно с PI</a:t>
            </a:r>
          </a:p>
        </p:txBody>
      </p:sp>
      <p:sp>
        <p:nvSpPr>
          <p:cNvPr id="57" name="Oval 56"/>
          <p:cNvSpPr/>
          <p:nvPr/>
        </p:nvSpPr>
        <p:spPr>
          <a:xfrm>
            <a:off x="7429500" y="822960"/>
            <a:ext cx="1005840" cy="1005840"/>
          </a:xfrm>
          <a:prstGeom prst="ellipse">
            <a:avLst/>
          </a:prstGeom>
          <a:solidFill>
            <a:srgbClr val="82C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shield-lock-w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62420" y="1055880"/>
            <a:ext cx="540000" cy="540000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7178040" y="196596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82C444"/>
                </a:solidFill>
                <a:latin typeface="Arial"/>
              </a:defRPr>
            </a:pPr>
            <a:r>
              <a:t>СДАЧА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178040" y="2240280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45469"/>
                </a:solidFill>
                <a:latin typeface="Arial"/>
              </a:defRPr>
            </a:pPr>
            <a:r>
              <a:t>1–2 мес.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178040" y="2514600"/>
            <a:ext cx="1508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445469"/>
                </a:solidFill>
                <a:latin typeface="Arial"/>
              </a:defRPr>
            </a:pPr>
            <a:r>
              <a:t>Отключаем PI.</a:t>
            </a:r>
            <a:br/>
            <a:r>
              <a:t>Документация. SLA.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29768"/>
            <a:ext cx="457200" cy="19050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0" y="429768"/>
            <a:ext cx="1371600" cy="19050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5497"/>
                </a:solidFill>
                <a:latin typeface="Arial"/>
              </a:defRPr>
            </a:pPr>
            <a:r>
              <a:t>Сравнение: ключевые параметры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822960"/>
            <a:ext cx="1828800" cy="292608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848360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rial"/>
              </a:defRPr>
            </a:pPr>
            <a:r>
              <a:t>Параметр</a:t>
            </a:r>
          </a:p>
        </p:txBody>
      </p:sp>
      <p:sp>
        <p:nvSpPr>
          <p:cNvPr id="7" name="Rectangle 6"/>
          <p:cNvSpPr/>
          <p:nvPr/>
        </p:nvSpPr>
        <p:spPr>
          <a:xfrm>
            <a:off x="2514600" y="822960"/>
            <a:ext cx="2743200" cy="292608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06040" y="84836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rial"/>
              </a:defRPr>
            </a:pPr>
            <a:r>
              <a:t>PI System</a:t>
            </a:r>
          </a:p>
        </p:txBody>
      </p:sp>
      <p:sp>
        <p:nvSpPr>
          <p:cNvPr id="9" name="Rectangle 8"/>
          <p:cNvSpPr/>
          <p:nvPr/>
        </p:nvSpPr>
        <p:spPr>
          <a:xfrm>
            <a:off x="5257800" y="822960"/>
            <a:ext cx="3200400" cy="292608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49240" y="848360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rial"/>
              </a:defRPr>
            </a:pPr>
            <a:r>
              <a:t>Альфа платформа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115568"/>
            <a:ext cx="18288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140968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Лицензия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14600" y="1115568"/>
            <a:ext cx="27432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06040" y="114096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~$108K/год, подписка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57800" y="1115568"/>
            <a:ext cx="32004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49240" y="1140968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Разовая покупка, рубли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1408176"/>
            <a:ext cx="1828800" cy="29260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1433576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ОС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14600" y="1408176"/>
            <a:ext cx="2743200" cy="29260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06040" y="1433576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Только Windows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57800" y="1408176"/>
            <a:ext cx="3200400" cy="29260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49240" y="1433576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Windows + Linux (Astra, РЕД ОС)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1700784"/>
            <a:ext cx="18288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1726184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Реестр Минцифры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14600" y="1700784"/>
            <a:ext cx="27432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06040" y="172618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Нет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57800" y="1700784"/>
            <a:ext cx="32004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49240" y="1726184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Да — соответствие ФЗ-187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" y="1993392"/>
            <a:ext cx="1828800" cy="29260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201879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Поддержка в РФ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514600" y="1993392"/>
            <a:ext cx="2743200" cy="29260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606040" y="201879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Нет (санкции)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257800" y="1993392"/>
            <a:ext cx="3200400" cy="29260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49240" y="2018792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24/7 на русском, вендор в Томске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5800" y="2286000"/>
            <a:ext cx="18288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2311400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Визуализация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514600" y="2286000"/>
            <a:ext cx="27432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606040" y="231140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PI Vision — простая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257800" y="2286000"/>
            <a:ext cx="32004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49240" y="2311400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Alpha.HMI 2.0 — мощная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5800" y="2578608"/>
            <a:ext cx="1828800" cy="29260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7240" y="2604008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Коннекторы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514600" y="2578608"/>
            <a:ext cx="2743200" cy="29260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606040" y="260400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450+ протоколов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257800" y="2578608"/>
            <a:ext cx="3200400" cy="29260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349240" y="2604008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~30 + OPC UA шлюзы (~80%)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85800" y="2871216"/>
            <a:ext cx="18288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77240" y="2896616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Облако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514600" y="2871216"/>
            <a:ext cx="27432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606040" y="2896616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AVEVA Data Hub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257800" y="2871216"/>
            <a:ext cx="32004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349240" y="2896616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Нет (on-prem = безопаснее)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85800" y="3163824"/>
            <a:ext cx="1828800" cy="29260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77240" y="3189224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Event Frames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514600" y="3163824"/>
            <a:ext cx="2743200" cy="29260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606040" y="318922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Есть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257800" y="3163824"/>
            <a:ext cx="3200400" cy="29260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349240" y="3189224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Нет (доработка если нужно)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85800" y="3456432"/>
            <a:ext cx="18288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77240" y="348183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REST API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514600" y="3456432"/>
            <a:ext cx="27432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606040" y="348183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Есть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257800" y="3456432"/>
            <a:ext cx="32004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349240" y="3481832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Нет (доступ через TCP/SQL)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85800" y="3749040"/>
            <a:ext cx="1828800" cy="29260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77240" y="3774440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ФСТЭК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514600" y="3749040"/>
            <a:ext cx="2743200" cy="29260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606040" y="377444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Нет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257800" y="3749040"/>
            <a:ext cx="3200400" cy="29260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349240" y="3774440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Лицензия на разработку СЗКИ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29768"/>
            <a:ext cx="457200" cy="19050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0" y="429768"/>
            <a:ext cx="1371600" cy="19050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5497"/>
                </a:solidFill>
                <a:latin typeface="Arial"/>
              </a:defRPr>
            </a:pPr>
            <a:r>
              <a:t>Запрос на решение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45469"/>
                </a:solidFill>
                <a:latin typeface="Arial"/>
              </a:defRPr>
            </a:pPr>
            <a:r>
              <a:t>Предлагаем утвердить: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1188720"/>
            <a:ext cx="411480" cy="411480"/>
          </a:xfrm>
          <a:prstGeom prst="ellipse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pic>
        <p:nvPicPr>
          <p:cNvPr id="7" name="Picture 6" descr="ey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234440"/>
            <a:ext cx="324000" cy="324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63040" y="118872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497"/>
                </a:solidFill>
                <a:latin typeface="Arial"/>
              </a:defRPr>
            </a:pPr>
            <a:r>
              <a:t>Запуск аудита PI-инфраструктуры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46304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Инвентаризация: теги, протоколы, скрипты, отчёты, Event Frames.</a:t>
            </a:r>
            <a:br/>
            <a:r>
              <a:t>Срок: 1–2 месяца. Результат: отчёт с рекомендациями.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2057400"/>
            <a:ext cx="411480" cy="411480"/>
          </a:xfrm>
          <a:prstGeom prst="ellipse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pic>
        <p:nvPicPr>
          <p:cNvPr id="11" name="Picture 10" descr="building-fact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2103120"/>
            <a:ext cx="324000" cy="324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463040" y="205740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497"/>
                </a:solidFill>
                <a:latin typeface="Arial"/>
              </a:defRPr>
            </a:pPr>
            <a:r>
              <a:t>Определение пилотного объекта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33172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Один объект для проверки на практике.</a:t>
            </a:r>
            <a:br/>
            <a:r>
              <a:t>PI и Альфа работают параллельно 2–4 недели.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2926080"/>
            <a:ext cx="411480" cy="411480"/>
          </a:xfrm>
          <a:prstGeom prst="ellipse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pic>
        <p:nvPicPr>
          <p:cNvPr id="15" name="Picture 14" descr="netwo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2971800"/>
            <a:ext cx="324000" cy="324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463040" y="292608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497"/>
                </a:solidFill>
                <a:latin typeface="Arial"/>
              </a:defRPr>
            </a:pPr>
            <a:r>
              <a:t>Формирование рабочей группы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20040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НОВАТЭК (КИПиА + IT) + Атомик Софт + интегратор.</a:t>
            </a:r>
            <a:br/>
            <a:r>
              <a:t>Еженедельные статус-встречи.</a:t>
            </a:r>
          </a:p>
        </p:txBody>
      </p:sp>
      <p:sp>
        <p:nvSpPr>
          <p:cNvPr id="18" name="Oval 17"/>
          <p:cNvSpPr/>
          <p:nvPr/>
        </p:nvSpPr>
        <p:spPr>
          <a:xfrm>
            <a:off x="502920" y="3794759"/>
            <a:ext cx="411480" cy="411480"/>
          </a:xfrm>
          <a:prstGeom prst="ellipse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pic>
        <p:nvPicPr>
          <p:cNvPr id="19" name="Picture 18" descr="chart-b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3840479"/>
            <a:ext cx="324000" cy="3240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463040" y="3794759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497"/>
                </a:solidFill>
                <a:latin typeface="Arial"/>
              </a:defRPr>
            </a:pPr>
            <a:r>
              <a:t>Бюджет и контур пилота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4069079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Согласование бюджета по итогам аудита.</a:t>
            </a:r>
            <a:br/>
            <a:r>
              <a:t>Лицензии + работы определяются на этапе 1.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 sz="quarter"/>
          </p:nvPr>
        </p:nvSpPr>
        <p:spPr/>
        <p:txBody>
          <a:bodyPr/>
          <a:p/>
        </p:txBody>
      </p:sp>
      <p:pic>
        <p:nvPicPr>
          <p:cNvPr id="3" name="Picture 2" descr="slide13_Рисунок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22960" y="118872"/>
            <a:ext cx="4892040" cy="4892040"/>
          </a:xfrm>
          <a:prstGeom prst="rect">
            <a:avLst/>
          </a:prstGeom>
        </p:spPr>
      </p:pic>
      <p:pic>
        <p:nvPicPr>
          <p:cNvPr id="4" name="Picture 3" descr="slide13_Рисунок_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2194560"/>
            <a:ext cx="1554480" cy="1554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-274320" y="822960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Arial"/>
              </a:defRPr>
            </a:pPr>
            <a:r>
              <a:t>Будущее автоматизации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1371600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rial"/>
              </a:defRPr>
            </a:pPr>
            <a:r>
              <a:t>в ваших руках.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402336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45469"/>
                </a:solidFill>
                <a:latin typeface="Arial"/>
              </a:defRPr>
            </a:pPr>
            <a:r>
              <a:t>АО «Атомик Софт»</a:t>
            </a:r>
            <a:br/>
            <a:r>
              <a:t>634050 Томск</a:t>
            </a:r>
            <a:br/>
            <a:r>
              <a:t>пр. Ленина 60/1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402336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45469"/>
                </a:solidFill>
                <a:latin typeface="Arial"/>
              </a:defRPr>
            </a:pPr>
            <a:r>
              <a:t>+7 (3822) 281 914</a:t>
            </a:r>
            <a:br/>
            <a:r>
              <a:t>info@automiq.ru</a:t>
            </a:r>
            <a:br/>
            <a:r>
              <a:t>www.automiq.ru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4023360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45469"/>
                </a:solidFill>
                <a:latin typeface="Arial"/>
              </a:defRPr>
            </a:pPr>
            <a:r>
              <a:t>Станислав Павловский</a:t>
            </a:r>
            <a:br/>
            <a:r>
              <a:t>Telegram: @Integraleus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_Атомик">
  <a:themeElements>
    <a:clrScheme name="Custom 2">
      <a:dk1>
        <a:srgbClr val="000000"/>
      </a:dk1>
      <a:lt1>
        <a:sysClr val="window" lastClr="FFFFFF"/>
      </a:lt1>
      <a:dk2>
        <a:srgbClr val="6E6E6E"/>
      </a:dk2>
      <a:lt2>
        <a:srgbClr val="FFFFFF"/>
      </a:lt2>
      <a:accent1>
        <a:srgbClr val="005497"/>
      </a:accent1>
      <a:accent2>
        <a:srgbClr val="3375AD"/>
      </a:accent2>
      <a:accent3>
        <a:srgbClr val="0997C8"/>
      </a:accent3>
      <a:accent4>
        <a:srgbClr val="52CCF7"/>
      </a:accent4>
      <a:accent5>
        <a:srgbClr val="82C444"/>
      </a:accent5>
      <a:accent6>
        <a:srgbClr val="CDE7B4"/>
      </a:accent6>
      <a:hlink>
        <a:srgbClr val="0997C8"/>
      </a:hlink>
      <a:folHlink>
        <a:srgbClr val="CDE7B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Тема_Атомик" id="{CEB1B155-F77A-4A19-9AEE-767E43EEE002}" vid="{E33B8DA0-9C2E-4591-9D92-CDFA1B99F6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28FB12FA238B29479C15A3FBF1901892" ma:contentTypeVersion="15" ma:contentTypeDescription="Создание документа." ma:contentTypeScope="" ma:versionID="ecc35f767065df6b4e4d6498d5eac02d">
  <xsd:schema xmlns:xsd="http://www.w3.org/2001/XMLSchema" xmlns:xs="http://www.w3.org/2001/XMLSchema" xmlns:p="http://schemas.microsoft.com/office/2006/metadata/properties" xmlns:ns2="0502b1be-0fe2-4509-97a9-ec0fd3fafc9b" xmlns:ns3="b723f446-6c9e-405e-84d5-4916a0afa7d5" targetNamespace="http://schemas.microsoft.com/office/2006/metadata/properties" ma:root="true" ma:fieldsID="7bfcc36716481aa470f9f4409057f6cb" ns2:_="" ns3:_="">
    <xsd:import namespace="0502b1be-0fe2-4509-97a9-ec0fd3fafc9b"/>
    <xsd:import namespace="b723f446-6c9e-405e-84d5-4916a0afa7d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502b1be-0fe2-4509-97a9-ec0fd3fafc9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Теги изображений" ma:readOnly="false" ma:fieldId="{5cf76f15-5ced-4ddc-b409-7134ff3c332f}" ma:taxonomyMulti="true" ma:sspId="5e2e7791-cded-476b-940f-30d7621795f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723f446-6c9e-405e-84d5-4916a0afa7d5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820520b3-41b0-41ba-9884-d7cef35bb1b8}" ma:internalName="TaxCatchAll" ma:showField="CatchAllData" ma:web="b723f446-6c9e-405e-84d5-4916a0afa7d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1" nillable="true" ma:displayName="Общий доступ с использованием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Совместно с подробностями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502b1be-0fe2-4509-97a9-ec0fd3fafc9b">
      <Terms xmlns="http://schemas.microsoft.com/office/infopath/2007/PartnerControls"/>
    </lcf76f155ced4ddcb4097134ff3c332f>
    <TaxCatchAll xmlns="b723f446-6c9e-405e-84d5-4916a0afa7d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BAA56F4-2A60-49CC-AA53-5AA9356824FD}">
  <ds:schemaRefs>
    <ds:schemaRef ds:uri="0502b1be-0fe2-4509-97a9-ec0fd3fafc9b"/>
    <ds:schemaRef ds:uri="b723f446-6c9e-405e-84d5-4916a0afa7d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9F8006AA-1608-4641-B256-E4528952F154}">
  <ds:schemaRefs>
    <ds:schemaRef ds:uri="0502b1be-0fe2-4509-97a9-ec0fd3fafc9b"/>
    <ds:schemaRef ds:uri="b723f446-6c9e-405e-84d5-4916a0afa7d5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86A3223D-C643-4D8A-962C-239797B11AE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Тема_Атомик</Template>
  <TotalTime>52805</TotalTime>
  <Words>627</Words>
  <Application>Microsoft Office PowerPoint</Application>
  <PresentationFormat>Экран (16:9)</PresentationFormat>
  <Paragraphs>129</Paragraphs>
  <Slides>13</Slides>
  <Notes>11</Notes>
  <HiddenSlides>2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23" baseType="lpstr">
      <vt:lpstr>Arial</vt:lpstr>
      <vt:lpstr>Calibri</vt:lpstr>
      <vt:lpstr>Circe ExtraBold</vt:lpstr>
      <vt:lpstr>Gill Sans</vt:lpstr>
      <vt:lpstr>Helvetica</vt:lpstr>
      <vt:lpstr>HelveticaNeueCyr Light</vt:lpstr>
      <vt:lpstr>HelveticaNeueCyr Medium</vt:lpstr>
      <vt:lpstr>Verdana</vt:lpstr>
      <vt:lpstr>Wingdings</vt:lpstr>
      <vt:lpstr>Тема_Атомик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Jetfabrik</dc:creator>
  <cp:keywords/>
  <dc:description/>
  <cp:lastModifiedBy>Иващенко Наталья Владимировна</cp:lastModifiedBy>
  <cp:revision>115</cp:revision>
  <dcterms:created xsi:type="dcterms:W3CDTF">2014-11-12T21:47:38Z</dcterms:created>
  <dcterms:modified xsi:type="dcterms:W3CDTF">2025-05-12T07:19:19Z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0x01010028FB12FA238B29479C15A3FBF1901892</vt:lpwstr>
  </property>
  <property fmtid="{D5CDD505-2E9C-101B-9397-08002B2CF9AE}" pid="3" name="MediaServiceImageTags">
    <vt:lpwstr/>
  </property>
</Properties>
</file>