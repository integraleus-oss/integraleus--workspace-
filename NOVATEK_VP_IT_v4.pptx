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2" r:id="rId11"/>
    <p:sldId id="264" r:id="rId9"/>
    <p:sldId id="265" r:id="rId8"/>
    <p:sldId id="266" r:id="rId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6771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4630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Переход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D0F0"/>
                </a:solidFill>
                <a:latin typeface="Arial"/>
              </a:defRPr>
            </a:pPr>
            <a:r>
              <a:t>Стратегическое обоснование для руководства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Arial"/>
              </a:defRPr>
            </a:pPr>
            <a: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прекратила поддержку</a:t>
            </a:r>
            <a:br/>
            <a:r>
              <a:t>и продажу в РФ.</a:t>
            </a:r>
            <a:br/>
            <a:r>
              <a:t>Нет обновлений. Нет патчей</a:t>
            </a:r>
            <a:br/>
            <a: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00"/>
                </a:solidFill>
                <a:latin typeface="Arial"/>
              </a:defRPr>
            </a:pPr>
            <a: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Flex: ~$108K/год</a:t>
            </a:r>
            <a:br/>
            <a:r>
              <a:t>за подписку.</a:t>
            </a:r>
            <a:br/>
            <a:r>
              <a:t>При неоплате — ПО</a:t>
            </a:r>
            <a:br/>
            <a:r>
              <a:t>перестаёт работать.</a:t>
            </a:r>
            <a:br/>
            <a: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ФЗ-187 о КИИ требует</a:t>
            </a:r>
            <a:br/>
            <a:r>
              <a:t>перехода на отечественное ПО.</a:t>
            </a:r>
            <a:br/>
            <a:r>
              <a:t>Сроки ужесточаются.</a:t>
            </a:r>
            <a:br/>
            <a: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Arial"/>
              </a:defRPr>
            </a:pPr>
            <a:r>
              <a:t>Каждый месяц без действий — это $9K подписки + растущий риск деактивации</a:t>
            </a:r>
          </a:p>
        </p:txBody>
      </p:sp>
      <p:pic>
        <p:nvPicPr>
          <p:cNvPr id="21" name="Picture 20" descr="shield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432000" cy="432000"/>
          </a:xfrm>
          <a:prstGeom prst="rect">
            <a:avLst/>
          </a:prstGeom>
        </p:spPr>
      </p:pic>
      <p:pic>
        <p:nvPicPr>
          <p:cNvPr id="22" name="Picture 21" descr="chart-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005840"/>
            <a:ext cx="432000" cy="432000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0584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Российская SCADA-платформа №1</a:t>
            </a:r>
            <a:br/>
            <a:r>
              <a:t>от АО «Атомик Софт» (Томск)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6500+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промышленности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партнёров-</a:t>
            </a:r>
            <a:br/>
            <a:r>
              <a:t>интеграторов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  <a:br/>
            <a:r>
              <a:t>разработки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10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на рынке</a:t>
            </a:r>
            <a:br/>
            <a:r>
              <a:t>АСУ ТП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804672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Реестр Минцифры — полное соответствие ФЗ-187 о КИИ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 в рублях — предсказуемый бюджет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 — сертифицированные 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Лицензия ФСТЭК на разработку СЗКИ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Техподдержка 24/7 на русском языке, вендор в России</a:t>
            </a:r>
          </a:p>
        </p:txBody>
      </p:sp>
      <p:pic>
        <p:nvPicPr>
          <p:cNvPr id="25" name="Picture 24" descr="building-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20" y="1152000"/>
            <a:ext cx="468000" cy="468000"/>
          </a:xfrm>
          <a:prstGeom prst="rect">
            <a:avLst/>
          </a:prstGeom>
        </p:spPr>
      </p:pic>
      <p:pic>
        <p:nvPicPr>
          <p:cNvPr id="26" name="Picture 25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440" y="1152000"/>
            <a:ext cx="468000" cy="468000"/>
          </a:xfrm>
          <a:prstGeom prst="rect">
            <a:avLst/>
          </a:prstGeom>
        </p:spPr>
      </p:pic>
      <p:pic>
        <p:nvPicPr>
          <p:cNvPr id="27" name="Picture 26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560" y="1152000"/>
            <a:ext cx="468000" cy="468000"/>
          </a:xfrm>
          <a:prstGeom prst="rect">
            <a:avLst/>
          </a:prstGeom>
        </p:spPr>
      </p:pic>
      <p:pic>
        <p:nvPicPr>
          <p:cNvPr id="28" name="Picture 27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680" y="1152000"/>
            <a:ext cx="468000" cy="46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C00"/>
                </a:solidFill>
                <a:latin typeface="Arial"/>
              </a:defRPr>
            </a:pPr>
            <a:r>
              <a:t>«Склад данных»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Собирает данные и раздаёт —</a:t>
            </a:r>
            <a:br/>
            <a:r>
              <a:t>аналитикам, Excel, облаку, BI.</a:t>
            </a:r>
            <a:br/>
            <a:r>
              <a:t>Управление процессом — не его задача.</a:t>
            </a:r>
            <a:br/>
            <a:r>
              <a:t>Подписка в долларах. Облако за рубежом.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822960"/>
            <a:ext cx="420624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22960"/>
            <a:ext cx="4206240" cy="36576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«Диспетчерская с пультом»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Оператор видит и управляет процессом.</a:t>
            </a:r>
            <a:br/>
            <a:r>
              <a:t>Хранение данных тоже есть (Historian).</a:t>
            </a:r>
            <a:br/>
            <a:r>
              <a:t>Но главное — пульт управления.</a:t>
            </a:r>
            <a:br/>
            <a:r>
              <a:t>Бессрочная лицензия в рублях. On-prem.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497"/>
                </a:solidFill>
                <a:latin typeface="Arial"/>
              </a:defRPr>
            </a:pPr>
            <a:r>
              <a:t>Что это значит для бизнеса: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Переход с «хранилища данных» на «систему управления с хранилищем» — функционал расширяется</a:t>
            </a:r>
            <a:br/>
            <a:r>
              <a:t>• Некоторые «курьерские сервисы» (REST API, облако, Event Frames) потребуют доработки</a:t>
            </a:r>
            <a:br/>
            <a:r>
              <a:t>• Основные функции (архив, визуализация, тревоги, протоколы) заменяются полностью</a:t>
            </a:r>
          </a:p>
        </p:txBody>
      </p:sp>
      <p:pic>
        <p:nvPicPr>
          <p:cNvPr id="18" name="Picture 17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50400"/>
            <a:ext cx="360000" cy="360000"/>
          </a:xfrm>
          <a:prstGeom prst="rect">
            <a:avLst/>
          </a:prstGeom>
        </p:spPr>
      </p:pic>
      <p:pic>
        <p:nvPicPr>
          <p:cNvPr id="19" name="Picture 18" descr="layou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5040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Покрытие функционала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697480" cy="36576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Программный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822960"/>
            <a:ext cx="2697480" cy="36576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Коннекторы (450→30,</a:t>
            </a:r>
            <a:br/>
            <a: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Self-service дашборды</a:t>
            </a:r>
            <a:br/>
            <a: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Модель активов</a:t>
            </a:r>
            <a:br/>
            <a: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Excel-отчёты</a:t>
            </a:r>
            <a:br/>
            <a:r>
              <a:t>(другой формат)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Запись событий</a:t>
            </a:r>
            <a:br/>
            <a: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14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BI-интеграция</a:t>
            </a:r>
            <a:br/>
            <a:r>
              <a:t>(через SQL обход)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План перехода: сроки и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Считаем: сколько тегов,</a:t>
            </a:r>
            <a:br/>
            <a:r>
              <a:t>какие протоколы, какие</a:t>
            </a:r>
            <a:br/>
            <a:r>
              <a:t>скрипты, что критично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Архитектура, лицензии,</a:t>
            </a:r>
            <a:br/>
            <a:r>
              <a:t>бюджет, рабочая группа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1965960"/>
            <a:ext cx="274320" cy="27432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75AD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2-3 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Один объект — проверяем</a:t>
            </a:r>
            <a:br/>
            <a:r>
              <a:t>всё на практике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1965960"/>
            <a:ext cx="274320" cy="27432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497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3-6 мес.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Переводим объекты.</a:t>
            </a:r>
            <a:br/>
            <a:r>
              <a:t>PI + Альфа параллельно.</a:t>
            </a:r>
            <a:br/>
            <a:r>
              <a:t>Обучаем людей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2C444"/>
                </a:solidFill>
                <a:latin typeface="Arial"/>
              </a:defRPr>
            </a:pPr>
            <a:r>
              <a:t>СДАЧА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Отключаем PI.</a:t>
            </a:r>
            <a:br/>
            <a:r>
              <a:t>Документация. SLA.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822960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8–14 месяцев.  Нулевой простой — PI и Альфа работают параллельно.</a:t>
            </a:r>
          </a:p>
        </p:txBody>
      </p:sp>
      <p:pic>
        <p:nvPicPr>
          <p:cNvPr id="33" name="Picture 32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240" y="884700"/>
            <a:ext cx="288000" cy="288000"/>
          </a:xfrm>
          <a:prstGeom prst="rect">
            <a:avLst/>
          </a:prstGeom>
        </p:spPr>
      </p:pic>
      <p:pic>
        <p:nvPicPr>
          <p:cNvPr id="34" name="Picture 33" descr="chart-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60" y="884700"/>
            <a:ext cx="288000" cy="288000"/>
          </a:xfrm>
          <a:prstGeom prst="rect">
            <a:avLst/>
          </a:prstGeom>
        </p:spPr>
      </p:pic>
      <p:pic>
        <p:nvPicPr>
          <p:cNvPr id="35" name="Picture 34" descr="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080" y="884700"/>
            <a:ext cx="288000" cy="288000"/>
          </a:xfrm>
          <a:prstGeom prst="rect">
            <a:avLst/>
          </a:prstGeom>
        </p:spPr>
      </p:pic>
      <p:pic>
        <p:nvPicPr>
          <p:cNvPr id="36" name="Picture 35" descr="database-im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000" y="884700"/>
            <a:ext cx="288000" cy="288000"/>
          </a:xfrm>
          <a:prstGeom prst="rect">
            <a:avLst/>
          </a:prstGeom>
        </p:spPr>
      </p:pic>
      <p:pic>
        <p:nvPicPr>
          <p:cNvPr id="37" name="Picture 36" descr="shield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920" y="884700"/>
            <a:ext cx="288000" cy="28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Сравнение: ключевые параметры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10312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777240"/>
            <a:ext cx="2834640" cy="292608"/>
          </a:xfrm>
          <a:prstGeom prst="rect">
            <a:avLst/>
          </a:prstGeom>
          <a:solidFill>
            <a:srgbClr val="8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777240"/>
            <a:ext cx="3108960" cy="29260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8046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8046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521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Лицензия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15214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~$108K/год, подписка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15214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Разовая покупка, рубли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53896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Только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49047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92224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Реестр Минцифры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828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Да — соответствие ФЗ-187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0552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6712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Поддержка в РФ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6712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(санкции)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16712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24/7 на русском, вендор в Томске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50545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Vision — простая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50545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Alpha.HMI 2.0 — мощная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07208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8437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Коннекторы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84378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450+ протоколов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4378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+ OPC UA шлюзы (~80%)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45536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821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1821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AVEVA Data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18211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(on-prem = безопаснее)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204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52044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2044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(доработка если нужно)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58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8587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85876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(доступ через TCP/SQL)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19709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ФСТЭК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19709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19709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Лицензия на разработку СЗКИ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Запрос на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6245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1-2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3113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Один объект для проверки на практике.</a:t>
            </a:r>
            <a:br/>
            <a:r>
              <a:t>PI и Альфа работают параллельно 2-4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98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НОВАТЭК (КИПиА + IT) + Атомик Софт + интегратор.</a:t>
            </a:r>
            <a:br/>
            <a: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Бюджет и контур пилота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Согласование бюджета по итогам аудита.</a:t>
            </a:r>
            <a:br/>
            <a:r>
              <a:t/>
            </a:r>
          </a:p>
        </p:txBody>
      </p:sp>
      <p:pic>
        <p:nvPicPr>
          <p:cNvPr id="22" name="Picture 21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0" y="1244160"/>
            <a:ext cx="396000" cy="396000"/>
          </a:xfrm>
          <a:prstGeom prst="rect">
            <a:avLst/>
          </a:prstGeom>
        </p:spPr>
      </p:pic>
      <p:pic>
        <p:nvPicPr>
          <p:cNvPr id="23" name="Picture 22" descr="building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0" y="2112840"/>
            <a:ext cx="396000" cy="396000"/>
          </a:xfrm>
          <a:prstGeom prst="rect">
            <a:avLst/>
          </a:prstGeom>
        </p:spPr>
      </p:pic>
      <p:pic>
        <p:nvPicPr>
          <p:cNvPr id="24" name="Picture 23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000" y="2981520"/>
            <a:ext cx="396000" cy="396000"/>
          </a:xfrm>
          <a:prstGeom prst="rect">
            <a:avLst/>
          </a:prstGeom>
        </p:spPr>
      </p:pic>
      <p:pic>
        <p:nvPicPr>
          <p:cNvPr id="25" name="Picture 24" descr="chart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000" y="3850200"/>
            <a:ext cx="396000" cy="3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pic>
        <p:nvPicPr>
          <p:cNvPr id="3" name="Picture 2" descr="contac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Будущее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в ваших руках.</a:t>
            </a:r>
          </a:p>
        </p:txBody>
      </p:sp>
      <p:pic>
        <p:nvPicPr>
          <p:cNvPr id="6" name="Picture 5" descr="qr_or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9456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3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info@automiq.ru</a:t>
            </a:r>
            <a:br/>
            <a:r>
              <a:t>www.automiq.ru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023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Станислав Павловский</a:t>
            </a:r>
            <a:br/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