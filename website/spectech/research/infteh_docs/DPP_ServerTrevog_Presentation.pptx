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321" r:id="rId3"/>
    <p:sldId id="311" r:id="rId4"/>
    <p:sldId id="322" r:id="rId5"/>
    <p:sldId id="294" r:id="rId6"/>
    <p:sldId id="338" r:id="rId7"/>
    <p:sldId id="306" r:id="rId8"/>
    <p:sldId id="339" r:id="rId9"/>
    <p:sldId id="320" r:id="rId10"/>
    <p:sldId id="274" r:id="rId11"/>
  </p:sldIdLst>
  <p:sldSz cx="18288000" cy="10287000"/>
  <p:notesSz cx="7099300" cy="102346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Сипетин Евгений Викторович" initials="СЕВ" lastIdx="5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6374" autoAdjust="0"/>
    <p:restoredTop sz="94610"/>
  </p:normalViewPr>
  <p:slideViewPr>
    <p:cSldViewPr snapToGrid="0" snapToObjects="1">
      <p:cViewPr>
        <p:scale>
          <a:sx n="51" d="100"/>
          <a:sy n="51" d="100"/>
        </p:scale>
        <p:origin x="-2304" y="-888"/>
      </p:cViewPr>
      <p:guideLst>
        <p:guide orient="horz" pos="3240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2147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68" tIns="27734" rIns="55468" bIns="27734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68" tIns="27734" rIns="55468" bIns="27734"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lIns="55468" tIns="27734" rIns="55468" bIns="27734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lIns="55468" tIns="27734" rIns="55468" bIns="27734"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lIns="55468" tIns="27734" rIns="55468" bIns="27734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lIns="55468" tIns="27734" rIns="55468" bIns="27734"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lIns="55468" tIns="27734" rIns="55468" bIns="27734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lIns="55468" tIns="27734" rIns="55468" bIns="27734"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lIns="55468" tIns="27734" rIns="55468" bIns="27734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lIns="55468" tIns="27734" rIns="55468" bIns="27734"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lIns="55468" tIns="27734" rIns="55468" bIns="27734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lIns="55468" tIns="27734" rIns="55468" bIns="27734"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lIns="55468" tIns="27734" rIns="55468" bIns="27734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lIns="55468" tIns="27734" rIns="55468" bIns="27734"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lIns="55468" tIns="27734" rIns="55468" bIns="27734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lIns="55468" tIns="27734" rIns="55468" bIns="27734"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235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lIns="55468" tIns="27734" rIns="55468" bIns="27734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lIns="55468" tIns="27734" rIns="55468" bIns="27734"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235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lIns="55468" tIns="27734" rIns="55468" bIns="27734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lIns="55468" tIns="27734" rIns="55468" bIns="27734"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10.svg"/><Relationship Id="rId46" Type="http://schemas.openxmlformats.org/officeDocument/2006/relationships/image" Target="../media/image61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4.png"/><Relationship Id="rId1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1" Type="http://schemas.openxmlformats.org/officeDocument/2006/relationships/image" Target="../media/image285.svg"/><Relationship Id="rId2" Type="http://schemas.openxmlformats.org/officeDocument/2006/relationships/notesSlide" Target="../notesSlides/notesSlide2.xml"/><Relationship Id="rId7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69" Type="http://schemas.openxmlformats.org/officeDocument/2006/relationships/image" Target="../media/image283.sv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7.svg"/><Relationship Id="rId3" Type="http://schemas.openxmlformats.org/officeDocument/2006/relationships/image" Target="../media/image8.png"/><Relationship Id="rId17" Type="http://schemas.openxmlformats.org/officeDocument/2006/relationships/image" Target="../media/image7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Relationship Id="rId1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1" Type="http://schemas.openxmlformats.org/officeDocument/2006/relationships/image" Target="../media/image285.svg"/><Relationship Id="rId2" Type="http://schemas.openxmlformats.org/officeDocument/2006/relationships/notesSlide" Target="../notesSlides/notesSlide4.xml"/><Relationship Id="rId7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69" Type="http://schemas.openxmlformats.org/officeDocument/2006/relationships/image" Target="../media/image283.svg"/></Relationships>
</file>

<file path=ppt/slides/_rels/slide5.xml.rels><?xml version="1.0" encoding="UTF-8" standalone="yes"?>
<Relationships xmlns="http://schemas.openxmlformats.org/package/2006/relationships"><Relationship Id="rId72" Type="http://schemas.openxmlformats.org/officeDocument/2006/relationships/image" Target="../media/image13.emf"/><Relationship Id="rId3" Type="http://schemas.openxmlformats.org/officeDocument/2006/relationships/image" Target="../media/image8.png"/><Relationship Id="rId71" Type="http://schemas.openxmlformats.org/officeDocument/2006/relationships/image" Target="../media/image285.svg"/><Relationship Id="rId2" Type="http://schemas.openxmlformats.org/officeDocument/2006/relationships/notesSlide" Target="../notesSlides/notesSlide5.xml"/><Relationship Id="rId7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69" Type="http://schemas.openxmlformats.org/officeDocument/2006/relationships/image" Target="../media/image283.svg"/></Relationships>
</file>

<file path=ppt/slides/_rels/slide6.xml.rels><?xml version="1.0" encoding="UTF-8" standalone="yes"?>
<Relationships xmlns="http://schemas.openxmlformats.org/package/2006/relationships"><Relationship Id="rId72" Type="http://schemas.openxmlformats.org/officeDocument/2006/relationships/image" Target="../media/image14.png"/><Relationship Id="rId3" Type="http://schemas.openxmlformats.org/officeDocument/2006/relationships/image" Target="../media/image8.png"/><Relationship Id="rId71" Type="http://schemas.openxmlformats.org/officeDocument/2006/relationships/image" Target="../media/image285.svg"/><Relationship Id="rId2" Type="http://schemas.openxmlformats.org/officeDocument/2006/relationships/notesSlide" Target="../notesSlides/notesSlide6.xml"/><Relationship Id="rId7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69" Type="http://schemas.openxmlformats.org/officeDocument/2006/relationships/image" Target="../media/image283.svg"/></Relationships>
</file>

<file path=ppt/slides/_rels/slide7.xml.rels><?xml version="1.0" encoding="UTF-8" standalone="yes"?>
<Relationships xmlns="http://schemas.openxmlformats.org/package/2006/relationships"><Relationship Id="rId72" Type="http://schemas.openxmlformats.org/officeDocument/2006/relationships/image" Target="../media/image15.emf"/><Relationship Id="rId3" Type="http://schemas.openxmlformats.org/officeDocument/2006/relationships/image" Target="../media/image8.png"/><Relationship Id="rId71" Type="http://schemas.openxmlformats.org/officeDocument/2006/relationships/image" Target="../media/image285.svg"/><Relationship Id="rId2" Type="http://schemas.openxmlformats.org/officeDocument/2006/relationships/notesSlide" Target="../notesSlides/notesSlide7.xml"/><Relationship Id="rId7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69" Type="http://schemas.openxmlformats.org/officeDocument/2006/relationships/image" Target="../media/image283.svg"/></Relationships>
</file>

<file path=ppt/slides/_rels/slide8.xml.rels><?xml version="1.0" encoding="UTF-8" standalone="yes"?>
<Relationships xmlns="http://schemas.openxmlformats.org/package/2006/relationships"><Relationship Id="rId72" Type="http://schemas.openxmlformats.org/officeDocument/2006/relationships/image" Target="../media/image16.png"/><Relationship Id="rId80" Type="http://schemas.openxmlformats.org/officeDocument/2006/relationships/hyperlink" Target="https://reestr.digital.gov.ru/reestr/2992868/" TargetMode="External"/><Relationship Id="rId3" Type="http://schemas.openxmlformats.org/officeDocument/2006/relationships/image" Target="../media/image8.png"/><Relationship Id="rId76" Type="http://schemas.openxmlformats.org/officeDocument/2006/relationships/image" Target="../media/image20.png"/><Relationship Id="rId71" Type="http://schemas.openxmlformats.org/officeDocument/2006/relationships/image" Target="../media/image285.svg"/><Relationship Id="rId2" Type="http://schemas.openxmlformats.org/officeDocument/2006/relationships/notesSlide" Target="../notesSlides/notesSlide8.xml"/><Relationship Id="rId70" Type="http://schemas.openxmlformats.org/officeDocument/2006/relationships/image" Target="../media/image10.png"/><Relationship Id="rId75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74" Type="http://schemas.openxmlformats.org/officeDocument/2006/relationships/image" Target="../media/image18.png"/><Relationship Id="rId79" Type="http://schemas.openxmlformats.org/officeDocument/2006/relationships/hyperlink" Target="https://reestr.digital.gov.ru/upload/iblock/3ff/n28wwdwmxvtpih8bcgcyvma2kykr0icd/%D0%9F%D1%80%D0%BE%D1%82%D0%BE%D0%BA%D0%BE%D0%BB%20%E2%84%96%2019%D0%BF%D1%80.pdf" TargetMode="External"/><Relationship Id="rId73" Type="http://schemas.openxmlformats.org/officeDocument/2006/relationships/image" Target="../media/image17.png"/><Relationship Id="rId78" Type="http://schemas.openxmlformats.org/officeDocument/2006/relationships/image" Target="../media/image22.png"/><Relationship Id="rId81" Type="http://schemas.openxmlformats.org/officeDocument/2006/relationships/image" Target="../media/image23.png"/><Relationship Id="rId4" Type="http://schemas.openxmlformats.org/officeDocument/2006/relationships/image" Target="../media/image9.png"/><Relationship Id="rId69" Type="http://schemas.openxmlformats.org/officeDocument/2006/relationships/image" Target="../media/image283.svg"/><Relationship Id="rId77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72" Type="http://schemas.openxmlformats.org/officeDocument/2006/relationships/hyperlink" Target="https://infteh.ru/partners" TargetMode="External"/><Relationship Id="rId3" Type="http://schemas.openxmlformats.org/officeDocument/2006/relationships/image" Target="../media/image8.png"/><Relationship Id="rId71" Type="http://schemas.openxmlformats.org/officeDocument/2006/relationships/image" Target="../media/image285.svg"/><Relationship Id="rId2" Type="http://schemas.openxmlformats.org/officeDocument/2006/relationships/notesSlide" Target="../notesSlides/notesSlide9.xml"/><Relationship Id="rId70" Type="http://schemas.openxmlformats.org/officeDocument/2006/relationships/image" Target="../media/image10.png"/><Relationship Id="rId75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74" Type="http://schemas.openxmlformats.org/officeDocument/2006/relationships/image" Target="../media/image25.png"/><Relationship Id="rId73" Type="http://schemas.openxmlformats.org/officeDocument/2006/relationships/image" Target="../media/image24.png"/><Relationship Id="rId4" Type="http://schemas.openxmlformats.org/officeDocument/2006/relationships/image" Target="../media/image9.png"/><Relationship Id="rId69" Type="http://schemas.openxmlformats.org/officeDocument/2006/relationships/image" Target="../media/image283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1.svg"/><Relationship Id="rId13" Type="http://schemas.openxmlformats.org/officeDocument/2006/relationships/image" Target="../media/image32.png"/><Relationship Id="rId18" Type="http://schemas.openxmlformats.org/officeDocument/2006/relationships/image" Target="../media/image611.svg"/><Relationship Id="rId3" Type="http://schemas.openxmlformats.org/officeDocument/2006/relationships/image" Target="../media/image27.png"/><Relationship Id="rId21" Type="http://schemas.openxmlformats.org/officeDocument/2006/relationships/image" Target="../media/image36.png"/><Relationship Id="rId7" Type="http://schemas.openxmlformats.org/officeDocument/2006/relationships/image" Target="../media/image29.png"/><Relationship Id="rId12" Type="http://schemas.openxmlformats.org/officeDocument/2006/relationships/image" Target="../media/image605.svg"/><Relationship Id="rId17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609.svg"/><Relationship Id="rId20" Type="http://schemas.openxmlformats.org/officeDocument/2006/relationships/image" Target="../media/image61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9.svg"/><Relationship Id="rId11" Type="http://schemas.openxmlformats.org/officeDocument/2006/relationships/image" Target="../media/image31.png"/><Relationship Id="rId5" Type="http://schemas.openxmlformats.org/officeDocument/2006/relationships/image" Target="../media/image28.png"/><Relationship Id="rId15" Type="http://schemas.openxmlformats.org/officeDocument/2006/relationships/image" Target="../media/image33.png"/><Relationship Id="rId10" Type="http://schemas.openxmlformats.org/officeDocument/2006/relationships/image" Target="../media/image603.svg"/><Relationship Id="rId19" Type="http://schemas.openxmlformats.org/officeDocument/2006/relationships/image" Target="../media/image35.png"/><Relationship Id="rId4" Type="http://schemas.openxmlformats.org/officeDocument/2006/relationships/image" Target="../media/image597.svg"/><Relationship Id="rId9" Type="http://schemas.openxmlformats.org/officeDocument/2006/relationships/image" Target="../media/image30.png"/><Relationship Id="rId14" Type="http://schemas.openxmlformats.org/officeDocument/2006/relationships/image" Target="../media/image60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/>
          <a:stretch/>
        </p:blipFill>
        <p:spPr>
          <a:xfrm>
            <a:off x="0" y="0"/>
            <a:ext cx="18288000" cy="10306050"/>
          </a:xfrm>
          <a:prstGeom prst="rect">
            <a:avLst/>
          </a:prstGeom>
        </p:spPr>
      </p:pic>
      <p:pic>
        <p:nvPicPr>
          <p:cNvPr id="3" name="Object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rcRect/>
          <a:stretch/>
        </p:blipFill>
        <p:spPr>
          <a:xfrm>
            <a:off x="5391150" y="2400300"/>
            <a:ext cx="12896850" cy="7772400"/>
          </a:xfrm>
          <a:prstGeom prst="rect">
            <a:avLst/>
          </a:prstGeom>
        </p:spPr>
      </p:pic>
      <p:pic>
        <p:nvPicPr>
          <p:cNvPr id="4" name="Object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rcRect/>
          <a:stretch/>
        </p:blipFill>
        <p:spPr>
          <a:xfrm>
            <a:off x="9115425" y="4572000"/>
            <a:ext cx="7810500" cy="4533900"/>
          </a:xfrm>
          <a:prstGeom prst="rect">
            <a:avLst/>
          </a:prstGeom>
        </p:spPr>
      </p:pic>
      <p:pic>
        <p:nvPicPr>
          <p:cNvPr id="5" name="Object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rcRect/>
          <a:stretch/>
        </p:blipFill>
        <p:spPr>
          <a:xfrm>
            <a:off x="10001250" y="1181100"/>
            <a:ext cx="8286750" cy="6858000"/>
          </a:xfrm>
          <a:prstGeom prst="rect">
            <a:avLst/>
          </a:prstGeom>
        </p:spPr>
      </p:pic>
      <p:pic>
        <p:nvPicPr>
          <p:cNvPr id="6" name="Object 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rcRect/>
          <a:stretch/>
        </p:blipFill>
        <p:spPr>
          <a:xfrm>
            <a:off x="1147761" y="6880656"/>
            <a:ext cx="45719" cy="2057355"/>
          </a:xfrm>
          <a:prstGeom prst="rect">
            <a:avLst/>
          </a:prstGeom>
        </p:spPr>
      </p:pic>
      <p:pic>
        <p:nvPicPr>
          <p:cNvPr id="8" name="Object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xmlns="" r:embed="rId14"/>
              </a:ext>
            </a:extLst>
          </a:blip>
          <a:srcRect/>
          <a:stretch/>
        </p:blipFill>
        <p:spPr>
          <a:xfrm>
            <a:off x="1143000" y="1543050"/>
            <a:ext cx="2457450" cy="857250"/>
          </a:xfrm>
          <a:prstGeom prst="rect">
            <a:avLst/>
          </a:prstGeom>
        </p:spPr>
      </p:pic>
      <p:sp>
        <p:nvSpPr>
          <p:cNvPr id="10" name="Object9"/>
          <p:cNvSpPr/>
          <p:nvPr/>
        </p:nvSpPr>
        <p:spPr>
          <a:xfrm>
            <a:off x="1151967" y="3607612"/>
            <a:ext cx="8421241" cy="2295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8800" b="1" dirty="0" smtClean="0">
                <a:solidFill>
                  <a:schemeClr val="bg1"/>
                </a:solidFill>
                <a:latin typeface="Calibri Bold" pitchFamily="34" charset="0"/>
                <a:cs typeface="Calibri Bold" pitchFamily="34" charset="-120"/>
              </a:rPr>
              <a:t>Сервер тревог</a:t>
            </a:r>
            <a:r>
              <a:rPr sz="1050" dirty="0" smtClean="0"/>
              <a:t/>
            </a:r>
            <a:br>
              <a:rPr sz="1050" dirty="0" smtClean="0"/>
            </a:br>
            <a:r>
              <a:rPr lang="ru-RU" sz="3200" dirty="0" smtClean="0">
                <a:solidFill>
                  <a:srgbClr val="FFFFFF"/>
                </a:solidFill>
                <a:ea typeface="Calibri Regular" pitchFamily="34" charset="-122"/>
              </a:rPr>
              <a:t>Управление сигналами тревог на уровне АСУТП и контроль отказов оборудования</a:t>
            </a:r>
            <a:endParaRPr lang="ru-RU" sz="3200" dirty="0">
              <a:solidFill>
                <a:srgbClr val="FFFFFF"/>
              </a:solidFill>
              <a:ea typeface="Calibri Regular" pitchFamily="34" charset="-122"/>
            </a:endParaRPr>
          </a:p>
        </p:txBody>
      </p:sp>
      <p:sp>
        <p:nvSpPr>
          <p:cNvPr id="11" name="Object10"/>
          <p:cNvSpPr/>
          <p:nvPr/>
        </p:nvSpPr>
        <p:spPr>
          <a:xfrm>
            <a:off x="1442144" y="6831625"/>
            <a:ext cx="6878895" cy="1729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988"/>
              </a:lnSpc>
            </a:pPr>
            <a:r>
              <a:rPr lang="ru-RU" sz="3790" b="1" dirty="0" smtClean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Автоматизация </a:t>
            </a:r>
            <a:r>
              <a:rPr lang="ru-RU" sz="3790" b="1" dirty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процессов </a:t>
            </a:r>
            <a:r>
              <a:rPr lang="ru-RU" sz="3790" b="1" dirty="0" smtClean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управления </a:t>
            </a:r>
            <a:r>
              <a:rPr lang="ru-RU" sz="3790" b="1" dirty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сигналами </a:t>
            </a:r>
            <a:r>
              <a:rPr lang="ru-RU" sz="3790" b="1" dirty="0" smtClean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тревог для </a:t>
            </a:r>
            <a:r>
              <a:rPr lang="ru-RU" sz="3790" b="1" dirty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более эффективного устранения неполадок</a:t>
            </a:r>
            <a:endParaRPr lang="en-US" sz="3790" b="1" dirty="0">
              <a:solidFill>
                <a:srgbClr val="FFFFFF"/>
              </a:solidFill>
              <a:latin typeface="Calibri Bold" pitchFamily="34" charset="0"/>
              <a:ea typeface="Calibri Bold" pitchFamily="34" charset="-122"/>
              <a:cs typeface="Calibri Bold" pitchFamily="34" charset="-120"/>
            </a:endParaRPr>
          </a:p>
        </p:txBody>
      </p:sp>
      <p:pic>
        <p:nvPicPr>
          <p:cNvPr id="12" name="Object 10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xmlns="" r:embed="rId46"/>
              </a:ext>
            </a:extLst>
          </a:blip>
          <a:srcRect/>
          <a:stretch/>
        </p:blipFill>
        <p:spPr>
          <a:xfrm>
            <a:off x="83750" y="3891834"/>
            <a:ext cx="984467" cy="8635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xmlns="" id="{CA2BCB0D-DE71-4393-BA59-14EF3FC2E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77"/>
            <a:ext cx="18288000" cy="10281645"/>
          </a:xfrm>
          <a:prstGeom prst="rect">
            <a:avLst/>
          </a:prstGeom>
        </p:spPr>
      </p:pic>
      <p:pic>
        <p:nvPicPr>
          <p:cNvPr id="37" name="Object 36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9"/>
              </a:ext>
            </a:extLst>
          </a:blip>
          <a:srcRect/>
          <a:stretch/>
        </p:blipFill>
        <p:spPr>
          <a:xfrm>
            <a:off x="17611725" y="2357438"/>
            <a:ext cx="38100" cy="6724650"/>
          </a:xfrm>
          <a:prstGeom prst="rect">
            <a:avLst/>
          </a:prstGeom>
        </p:spPr>
      </p:pic>
      <p:pic>
        <p:nvPicPr>
          <p:cNvPr id="38" name="Object 37" descr="preencoded.png"/>
          <p:cNvPicPr>
            <a:picLocks noChangeAspect="1"/>
          </p:cNvPicPr>
          <p:nvPr/>
        </p:nvPicPr>
        <p:blipFill>
          <a:blip r:embed="rId70">
            <a:extLst>
              <a:ext uri="{96DAC541-7B7A-43D3-8B79-37D633B846F1}">
                <asvg:svgBlip xmlns:asvg="http://schemas.microsoft.com/office/drawing/2016/SVG/main" xmlns="" r:embed="rId71"/>
              </a:ext>
            </a:extLst>
          </a:blip>
          <a:srcRect/>
          <a:stretch/>
        </p:blipFill>
        <p:spPr>
          <a:xfrm>
            <a:off x="17421225" y="504825"/>
            <a:ext cx="571500" cy="1638300"/>
          </a:xfrm>
          <a:prstGeom prst="rect">
            <a:avLst/>
          </a:prstGeom>
        </p:spPr>
      </p:pic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7994414" y="342901"/>
            <a:ext cx="10293586" cy="9468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37923" marR="707930" lvl="0" fontAlgn="ctr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>
                <a:schemeClr val="accent1"/>
              </a:buClr>
              <a:buSzPct val="200000"/>
              <a:tabLst>
                <a:tab pos="419328" algn="l"/>
              </a:tabLst>
            </a:pP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  <a:ea typeface="Calibri Regular" pitchFamily="34" charset="-122"/>
                <a:cs typeface="Calibri Regular" pitchFamily="34" charset="-120"/>
              </a:rPr>
              <a:t>Решаемые задачи:</a:t>
            </a:r>
          </a:p>
          <a:p>
            <a:pPr marL="442913" marR="707930" lvl="0" indent="-404990" fontAlgn="ctr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>
                <a:schemeClr val="accent1"/>
              </a:buClr>
              <a:buSzPct val="200000"/>
              <a:buFont typeface="Arial" pitchFamily="34" charset="0"/>
              <a:buChar char="•"/>
              <a:tabLst>
                <a:tab pos="419328" algn="l"/>
              </a:tabLst>
            </a:pPr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</a:rPr>
              <a:t>Идентификация сигналов тревоги в соответствии с описанными логическими правилами</a:t>
            </a:r>
          </a:p>
          <a:p>
            <a:pPr marL="442913" marR="707930" indent="-404990" fontAlgn="ctr">
              <a:spcBef>
                <a:spcPct val="0"/>
              </a:spcBef>
              <a:spcAft>
                <a:spcPts val="1200"/>
              </a:spcAft>
              <a:buClr>
                <a:schemeClr val="accent1"/>
              </a:buClr>
              <a:buSzPct val="200000"/>
              <a:buFont typeface="Arial" pitchFamily="34" charset="0"/>
              <a:buChar char="•"/>
              <a:tabLst>
                <a:tab pos="419328" algn="l"/>
              </a:tabLst>
            </a:pPr>
            <a:r>
              <a:rPr lang="ru-RU" sz="2400" dirty="0">
                <a:solidFill>
                  <a:schemeClr val="accent1">
                    <a:lumMod val="50000"/>
                  </a:schemeClr>
                </a:solidFill>
              </a:rPr>
              <a:t>Анализ технологических опасностей, анализ инцидентов</a:t>
            </a:r>
          </a:p>
          <a:p>
            <a:pPr marL="442913" marR="707930" indent="-404990" fontAlgn="ctr">
              <a:spcBef>
                <a:spcPct val="0"/>
              </a:spcBef>
              <a:spcAft>
                <a:spcPts val="1200"/>
              </a:spcAft>
              <a:buClr>
                <a:schemeClr val="accent1"/>
              </a:buClr>
              <a:buSzPct val="200000"/>
              <a:buFont typeface="Arial" pitchFamily="34" charset="0"/>
              <a:buChar char="•"/>
              <a:tabLst>
                <a:tab pos="419328" algn="l"/>
              </a:tabLst>
            </a:pPr>
            <a:r>
              <a:rPr lang="ru-RU" sz="2400" dirty="0">
                <a:solidFill>
                  <a:schemeClr val="accent1">
                    <a:lumMod val="50000"/>
                  </a:schemeClr>
                </a:solidFill>
              </a:rPr>
              <a:t>Регулярный мониторинг работы системы сигнализации</a:t>
            </a:r>
          </a:p>
          <a:p>
            <a:pPr marL="442913" marR="707930" indent="-404990" fontAlgn="ctr">
              <a:spcBef>
                <a:spcPct val="0"/>
              </a:spcBef>
              <a:spcAft>
                <a:spcPts val="1200"/>
              </a:spcAft>
              <a:buClr>
                <a:schemeClr val="accent1"/>
              </a:buClr>
              <a:buSzPct val="200000"/>
              <a:buFont typeface="Arial" pitchFamily="34" charset="0"/>
              <a:buChar char="•"/>
              <a:tabLst>
                <a:tab pos="419328" algn="l"/>
              </a:tabLst>
            </a:pPr>
            <a:r>
              <a:rPr lang="ru-RU" sz="2400" dirty="0">
                <a:solidFill>
                  <a:schemeClr val="accent1">
                    <a:lumMod val="50000"/>
                  </a:schemeClr>
                </a:solidFill>
              </a:rPr>
              <a:t>Оптимизация системы сигнализации (</a:t>
            </a:r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</a:rPr>
              <a:t>необходимость установки </a:t>
            </a:r>
            <a:r>
              <a:rPr lang="ru-RU" sz="2400" dirty="0">
                <a:solidFill>
                  <a:schemeClr val="accent1">
                    <a:lumMod val="50000"/>
                  </a:schemeClr>
                </a:solidFill>
              </a:rPr>
              <a:t>новой сигнализации или изменения существующей системы сигнализации)</a:t>
            </a:r>
          </a:p>
          <a:p>
            <a:pPr marL="442913" marR="707930" indent="-404990" fontAlgn="ctr">
              <a:spcBef>
                <a:spcPct val="0"/>
              </a:spcBef>
              <a:spcAft>
                <a:spcPts val="1200"/>
              </a:spcAft>
              <a:buClr>
                <a:schemeClr val="accent1"/>
              </a:buClr>
              <a:buSzPct val="200000"/>
              <a:buFont typeface="Arial" pitchFamily="34" charset="0"/>
              <a:buChar char="•"/>
              <a:tabLst>
                <a:tab pos="419328" algn="l"/>
              </a:tabLst>
            </a:pPr>
            <a:r>
              <a:rPr lang="ru-RU" sz="2400" dirty="0">
                <a:solidFill>
                  <a:schemeClr val="accent1">
                    <a:lumMod val="50000"/>
                  </a:schemeClr>
                </a:solidFill>
              </a:rPr>
              <a:t>Определение приоритетов и корректирующих действий, которые необходимо предпринять в ответ на сигнал тревоги</a:t>
            </a:r>
          </a:p>
          <a:p>
            <a:pPr marL="442913" marR="707930" indent="-404990" fontAlgn="ctr">
              <a:spcBef>
                <a:spcPct val="0"/>
              </a:spcBef>
              <a:spcAft>
                <a:spcPts val="1200"/>
              </a:spcAft>
              <a:buClr>
                <a:schemeClr val="accent1"/>
              </a:buClr>
              <a:buSzPct val="200000"/>
              <a:buFont typeface="Arial" pitchFamily="34" charset="0"/>
              <a:buChar char="•"/>
              <a:tabLst>
                <a:tab pos="419328" algn="l"/>
              </a:tabLst>
            </a:pPr>
            <a:r>
              <a:rPr lang="ru-RU" sz="2400" dirty="0">
                <a:solidFill>
                  <a:schemeClr val="accent1">
                    <a:lumMod val="50000"/>
                  </a:schemeClr>
                </a:solidFill>
              </a:rPr>
              <a:t>Гибкая атрибутика в описании сигналов тревог и рекомендуемых мероприятий</a:t>
            </a:r>
          </a:p>
          <a:p>
            <a:pPr marL="442913" marR="707930" indent="-404990" fontAlgn="ctr">
              <a:spcBef>
                <a:spcPct val="0"/>
              </a:spcBef>
              <a:spcAft>
                <a:spcPts val="1200"/>
              </a:spcAft>
              <a:buClr>
                <a:schemeClr val="accent1"/>
              </a:buClr>
              <a:buSzPct val="200000"/>
              <a:buFont typeface="Arial" pitchFamily="34" charset="0"/>
              <a:buChar char="•"/>
              <a:tabLst>
                <a:tab pos="419328" algn="l"/>
              </a:tabLst>
            </a:pPr>
            <a:r>
              <a:rPr lang="ru-RU" sz="2400" dirty="0">
                <a:solidFill>
                  <a:schemeClr val="accent1">
                    <a:lumMod val="50000"/>
                  </a:schemeClr>
                </a:solidFill>
              </a:rPr>
              <a:t>Удобная визуализация данных по сигналам и результатов аналитической обработки</a:t>
            </a:r>
          </a:p>
          <a:p>
            <a:pPr marL="442913" marR="707930" indent="-404990" fontAlgn="ctr">
              <a:spcBef>
                <a:spcPct val="0"/>
              </a:spcBef>
              <a:spcAft>
                <a:spcPts val="1200"/>
              </a:spcAft>
              <a:buClr>
                <a:schemeClr val="accent1"/>
              </a:buClr>
              <a:buSzPct val="200000"/>
              <a:buFont typeface="Arial" pitchFamily="34" charset="0"/>
              <a:buChar char="•"/>
              <a:tabLst>
                <a:tab pos="419328" algn="l"/>
              </a:tabLst>
            </a:pPr>
            <a:r>
              <a:rPr lang="ru-RU" sz="2400" dirty="0">
                <a:solidFill>
                  <a:schemeClr val="accent1">
                    <a:lumMod val="50000"/>
                  </a:schemeClr>
                </a:solidFill>
              </a:rPr>
              <a:t>Журнализация действий по отработки сигналов тревог</a:t>
            </a:r>
          </a:p>
          <a:p>
            <a:pPr marL="442913" marR="707930" indent="-404990" fontAlgn="ctr">
              <a:spcBef>
                <a:spcPct val="0"/>
              </a:spcBef>
              <a:spcAft>
                <a:spcPts val="1200"/>
              </a:spcAft>
              <a:buClr>
                <a:schemeClr val="accent1"/>
              </a:buClr>
              <a:buSzPct val="200000"/>
              <a:buFont typeface="Arial" pitchFamily="34" charset="0"/>
              <a:buChar char="•"/>
              <a:tabLst>
                <a:tab pos="419328" algn="l"/>
              </a:tabLst>
            </a:pPr>
            <a:r>
              <a:rPr lang="ru-RU" sz="2400" dirty="0">
                <a:solidFill>
                  <a:schemeClr val="accent1">
                    <a:lumMod val="50000"/>
                  </a:schemeClr>
                </a:solidFill>
              </a:rPr>
              <a:t>Работа с сигналами тревог в режиме реального времени</a:t>
            </a:r>
          </a:p>
          <a:p>
            <a:pPr marL="442913" marR="707930" indent="-404990" fontAlgn="ctr">
              <a:spcBef>
                <a:spcPct val="0"/>
              </a:spcBef>
              <a:spcAft>
                <a:spcPts val="1200"/>
              </a:spcAft>
              <a:buClr>
                <a:schemeClr val="accent1"/>
              </a:buClr>
              <a:buSzPct val="200000"/>
              <a:buFont typeface="Arial" pitchFamily="34" charset="0"/>
              <a:buChar char="•"/>
              <a:tabLst>
                <a:tab pos="419328" algn="l"/>
              </a:tabLst>
            </a:pPr>
            <a:r>
              <a:rPr lang="ru-RU" sz="2400" dirty="0">
                <a:solidFill>
                  <a:schemeClr val="accent1">
                    <a:lumMod val="50000"/>
                  </a:schemeClr>
                </a:solidFill>
              </a:rPr>
              <a:t>Унификация процесса и технологии работы с сигналами тревог, независимость от различных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SCADA</a:t>
            </a:r>
            <a:r>
              <a:rPr lang="ru-RU" sz="2400" smtClean="0">
                <a:solidFill>
                  <a:schemeClr val="accent1">
                    <a:lumMod val="50000"/>
                  </a:schemeClr>
                </a:solidFill>
              </a:rPr>
              <a:t>-систем</a:t>
            </a:r>
            <a:endParaRPr lang="ru-RU" sz="2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Object18"/>
          <p:cNvSpPr/>
          <p:nvPr/>
        </p:nvSpPr>
        <p:spPr>
          <a:xfrm>
            <a:off x="643602" y="1218560"/>
            <a:ext cx="6937953" cy="717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425"/>
              </a:lnSpc>
            </a:pPr>
            <a:endParaRPr lang="ru-RU" sz="4500" b="1" dirty="0">
              <a:solidFill>
                <a:srgbClr val="FFFFFF"/>
              </a:solidFill>
              <a:ea typeface="Calibri Bold" pitchFamily="34" charset="-122"/>
              <a:cs typeface="Calibri Bold" pitchFamily="34" charset="-12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0" y="134892"/>
            <a:ext cx="780879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 err="1" smtClean="0">
                <a:solidFill>
                  <a:schemeClr val="bg1"/>
                </a:solidFill>
                <a:latin typeface="Calibri Bold" panose="020F0702030404030204" pitchFamily="34" charset="0"/>
                <a:cs typeface="Calibri Bold" panose="020F0702030404030204" pitchFamily="34" charset="0"/>
              </a:rPr>
              <a:t>ДатаПлат</a:t>
            </a:r>
            <a:r>
              <a:rPr lang="ru-RU" sz="3200" b="1" dirty="0" smtClean="0">
                <a:solidFill>
                  <a:schemeClr val="bg1"/>
                </a:solidFill>
                <a:latin typeface="Calibri Bold" panose="020F0702030404030204" pitchFamily="34" charset="0"/>
                <a:cs typeface="Calibri Bold" panose="020F0702030404030204" pitchFamily="34" charset="0"/>
              </a:rPr>
              <a:t> </a:t>
            </a:r>
            <a:r>
              <a:rPr lang="ru-RU" sz="3200" b="1" dirty="0" err="1" smtClean="0">
                <a:solidFill>
                  <a:schemeClr val="bg1"/>
                </a:solidFill>
                <a:latin typeface="Calibri Bold" panose="020F0702030404030204" pitchFamily="34" charset="0"/>
                <a:cs typeface="Calibri Bold" panose="020F0702030404030204" pitchFamily="34" charset="0"/>
              </a:rPr>
              <a:t>Производство.Сервер</a:t>
            </a:r>
            <a:r>
              <a:rPr lang="ru-RU" sz="3200" b="1" dirty="0" smtClean="0">
                <a:solidFill>
                  <a:schemeClr val="bg1"/>
                </a:solidFill>
                <a:latin typeface="Calibri Bold" panose="020F0702030404030204" pitchFamily="34" charset="0"/>
                <a:cs typeface="Calibri Bold" panose="020F0702030404030204" pitchFamily="34" charset="0"/>
              </a:rPr>
              <a:t> тревог</a:t>
            </a:r>
            <a:endParaRPr lang="ru-RU" sz="3200" b="1" dirty="0">
              <a:solidFill>
                <a:srgbClr val="FF0000"/>
              </a:solidFill>
              <a:latin typeface="Calibri Bold" panose="020F0702030404030204" pitchFamily="34" charset="0"/>
              <a:cs typeface="Calibri Bold" panose="020F0702030404030204" pitchFamily="34" charset="0"/>
            </a:endParaRPr>
          </a:p>
        </p:txBody>
      </p:sp>
      <p:sp>
        <p:nvSpPr>
          <p:cNvPr id="14" name="Object28"/>
          <p:cNvSpPr/>
          <p:nvPr/>
        </p:nvSpPr>
        <p:spPr>
          <a:xfrm>
            <a:off x="1051559" y="2484817"/>
            <a:ext cx="6757235" cy="4156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000"/>
              </a:spcAft>
            </a:pPr>
            <a:r>
              <a:rPr lang="ru-RU" sz="2800" b="1" dirty="0" smtClean="0">
                <a:solidFill>
                  <a:schemeClr val="bg1"/>
                </a:solidFill>
                <a:ea typeface="Calibri Bold" pitchFamily="34" charset="-122"/>
                <a:cs typeface="Calibri Bold" pitchFamily="34" charset="-120"/>
              </a:rPr>
              <a:t>Расширенное управление сигнализацией на уровне АСУТП с применением аналитических методов и развитых средств отчетности и информирования</a:t>
            </a:r>
            <a:endParaRPr lang="en-US" sz="2800" b="1" dirty="0">
              <a:solidFill>
                <a:srgbClr val="FF0000"/>
              </a:solidFill>
              <a:ea typeface="Calibri Bold" pitchFamily="34" charset="-122"/>
              <a:cs typeface="Calibri Bold" pitchFamily="34" charset="-120"/>
            </a:endParaRPr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791133" y="2509838"/>
            <a:ext cx="4869" cy="1630362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bject18"/>
          <p:cNvSpPr/>
          <p:nvPr/>
        </p:nvSpPr>
        <p:spPr>
          <a:xfrm>
            <a:off x="796002" y="1560960"/>
            <a:ext cx="6937953" cy="717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425"/>
              </a:lnSpc>
            </a:pPr>
            <a:r>
              <a:rPr lang="ru-RU" sz="4500" b="1" dirty="0" smtClean="0">
                <a:solidFill>
                  <a:srgbClr val="FFFFFF"/>
                </a:solidFill>
                <a:ea typeface="Calibri Bold" pitchFamily="34" charset="-122"/>
                <a:cs typeface="Calibri Bold" pitchFamily="34" charset="-120"/>
              </a:rPr>
              <a:t>Назначение</a:t>
            </a:r>
            <a:endParaRPr lang="en-US" sz="4500" b="1" dirty="0">
              <a:solidFill>
                <a:srgbClr val="FFFFFF"/>
              </a:solidFill>
              <a:ea typeface="Calibri Bold" pitchFamily="34" charset="-122"/>
              <a:cs typeface="Calibri Bold" pitchFamily="34" charset="-120"/>
            </a:endParaRPr>
          </a:p>
        </p:txBody>
      </p:sp>
      <p:sp>
        <p:nvSpPr>
          <p:cNvPr id="13" name="Номер слайда 1"/>
          <p:cNvSpPr txBox="1">
            <a:spLocks/>
          </p:cNvSpPr>
          <p:nvPr/>
        </p:nvSpPr>
        <p:spPr>
          <a:xfrm rot="5400000">
            <a:off x="17145011" y="9437350"/>
            <a:ext cx="808712" cy="547688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fld id="{1A8E40EB-114F-4E94-B88F-245C4D8BC53F}" type="slidenum">
              <a:rPr lang="ru-RU" altLang="ru-RU" smtClean="0"/>
              <a:pPr/>
              <a:t>2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4254398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xmlns="" id="{CA2BCB0D-DE71-4393-BA59-14EF3FC2E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77"/>
            <a:ext cx="18288000" cy="10281645"/>
          </a:xfrm>
          <a:prstGeom prst="rect">
            <a:avLst/>
          </a:prstGeom>
        </p:spPr>
      </p:pic>
      <p:pic>
        <p:nvPicPr>
          <p:cNvPr id="14" name="Object 1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rcRect/>
          <a:stretch/>
        </p:blipFill>
        <p:spPr>
          <a:xfrm>
            <a:off x="17611725" y="2357438"/>
            <a:ext cx="38100" cy="6724650"/>
          </a:xfrm>
          <a:prstGeom prst="rect">
            <a:avLst/>
          </a:prstGeom>
        </p:spPr>
      </p:pic>
      <p:pic>
        <p:nvPicPr>
          <p:cNvPr id="16" name="Object 15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xmlns="" r:embed="rId17"/>
              </a:ext>
            </a:extLst>
          </a:blip>
          <a:srcRect/>
          <a:stretch/>
        </p:blipFill>
        <p:spPr>
          <a:xfrm>
            <a:off x="17421225" y="514350"/>
            <a:ext cx="571500" cy="1638300"/>
          </a:xfrm>
          <a:prstGeom prst="rect">
            <a:avLst/>
          </a:prstGeom>
        </p:spPr>
      </p:pic>
      <p:sp>
        <p:nvSpPr>
          <p:cNvPr id="19" name="Object18"/>
          <p:cNvSpPr/>
          <p:nvPr/>
        </p:nvSpPr>
        <p:spPr>
          <a:xfrm>
            <a:off x="643602" y="1218560"/>
            <a:ext cx="6937953" cy="717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425"/>
              </a:lnSpc>
            </a:pPr>
            <a:r>
              <a:rPr lang="ru-RU" sz="4500" b="1" dirty="0" smtClean="0">
                <a:solidFill>
                  <a:srgbClr val="FFFFFF"/>
                </a:solidFill>
                <a:ea typeface="Calibri Bold" pitchFamily="34" charset="-122"/>
                <a:cs typeface="Calibri Bold" pitchFamily="34" charset="-120"/>
              </a:rPr>
              <a:t>Решение и эффект</a:t>
            </a:r>
            <a:endParaRPr lang="en-US" sz="4500" dirty="0"/>
          </a:p>
        </p:txBody>
      </p:sp>
      <p:sp>
        <p:nvSpPr>
          <p:cNvPr id="30" name="Object29"/>
          <p:cNvSpPr/>
          <p:nvPr/>
        </p:nvSpPr>
        <p:spPr>
          <a:xfrm>
            <a:off x="8415019" y="281940"/>
            <a:ext cx="88106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160"/>
              </a:lnSpc>
            </a:pPr>
            <a:r>
              <a:rPr lang="ru-RU" sz="2800" b="1" i="0" dirty="0" smtClean="0">
                <a:solidFill>
                  <a:schemeClr val="accent1">
                    <a:lumMod val="50000"/>
                  </a:schemeClr>
                </a:solidFill>
                <a:ea typeface="Calibri Bold" pitchFamily="34" charset="-122"/>
                <a:cs typeface="Calibri Bold" pitchFamily="34" charset="-120"/>
              </a:rPr>
              <a:t>Идеи в основе </a:t>
            </a:r>
            <a:r>
              <a:rPr lang="ru-RU" sz="2800" b="1" dirty="0" err="1" smtClean="0">
                <a:solidFill>
                  <a:schemeClr val="accent1">
                    <a:lumMod val="50000"/>
                  </a:schemeClr>
                </a:solidFill>
                <a:ea typeface="Calibri Bold" pitchFamily="34" charset="-122"/>
                <a:cs typeface="Calibri Bold" pitchFamily="34" charset="-120"/>
              </a:rPr>
              <a:t>ДатаПлат</a:t>
            </a:r>
            <a:r>
              <a:rPr lang="ru-RU" sz="2800" b="1" dirty="0" smtClean="0">
                <a:solidFill>
                  <a:schemeClr val="accent1">
                    <a:lumMod val="50000"/>
                  </a:schemeClr>
                </a:solidFill>
                <a:ea typeface="Calibri Bold" pitchFamily="34" charset="-122"/>
                <a:cs typeface="Calibri Bold" pitchFamily="34" charset="-120"/>
              </a:rPr>
              <a:t> </a:t>
            </a:r>
            <a:r>
              <a:rPr lang="ru-RU" sz="2800" b="1" dirty="0" err="1" smtClean="0">
                <a:solidFill>
                  <a:schemeClr val="accent1">
                    <a:lumMod val="50000"/>
                  </a:schemeClr>
                </a:solidFill>
                <a:ea typeface="Calibri Bold" pitchFamily="34" charset="-122"/>
                <a:cs typeface="Calibri Bold" pitchFamily="34" charset="-120"/>
              </a:rPr>
              <a:t>Производство.Сервер</a:t>
            </a:r>
            <a:r>
              <a:rPr lang="ru-RU" sz="2800" b="1" dirty="0" smtClean="0">
                <a:solidFill>
                  <a:schemeClr val="accent1">
                    <a:lumMod val="50000"/>
                  </a:schemeClr>
                </a:solidFill>
                <a:ea typeface="Calibri Bold" pitchFamily="34" charset="-122"/>
                <a:cs typeface="Calibri Bold" pitchFamily="34" charset="-120"/>
              </a:rPr>
              <a:t> тревог</a:t>
            </a:r>
            <a:endParaRPr lang="ru-RU" sz="2800" b="1" dirty="0">
              <a:solidFill>
                <a:schemeClr val="accent1">
                  <a:lumMod val="50000"/>
                </a:schemeClr>
              </a:solidFill>
              <a:ea typeface="Calibri Bold" pitchFamily="34" charset="-122"/>
              <a:cs typeface="Calibri Bold" pitchFamily="34" charset="-120"/>
            </a:endParaRPr>
          </a:p>
        </p:txBody>
      </p:sp>
      <p:sp>
        <p:nvSpPr>
          <p:cNvPr id="31" name="Object29"/>
          <p:cNvSpPr/>
          <p:nvPr/>
        </p:nvSpPr>
        <p:spPr>
          <a:xfrm>
            <a:off x="8848089" y="3933824"/>
            <a:ext cx="794448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160"/>
              </a:lnSpc>
            </a:pPr>
            <a:r>
              <a:rPr lang="ru-RU" sz="2800" b="1" dirty="0" smtClean="0">
                <a:solidFill>
                  <a:schemeClr val="accent1">
                    <a:lumMod val="50000"/>
                  </a:schemeClr>
                </a:solidFill>
                <a:ea typeface="Calibri Bold" pitchFamily="34" charset="-122"/>
                <a:cs typeface="Calibri Bold" pitchFamily="34" charset="-120"/>
              </a:rPr>
              <a:t>Потенциальный эффект от использования </a:t>
            </a:r>
            <a:r>
              <a:rPr lang="ru-RU" sz="2800" b="1" dirty="0" err="1" smtClean="0">
                <a:solidFill>
                  <a:schemeClr val="accent1">
                    <a:lumMod val="50000"/>
                  </a:schemeClr>
                </a:solidFill>
                <a:ea typeface="Calibri Bold" pitchFamily="34" charset="-122"/>
                <a:cs typeface="Calibri Bold" pitchFamily="34" charset="-120"/>
              </a:rPr>
              <a:t>ДатаПлат</a:t>
            </a:r>
            <a:r>
              <a:rPr lang="ru-RU" sz="2800" b="1" dirty="0" smtClean="0">
                <a:solidFill>
                  <a:schemeClr val="accent1">
                    <a:lumMod val="50000"/>
                  </a:schemeClr>
                </a:solidFill>
                <a:ea typeface="Calibri Bold" pitchFamily="34" charset="-122"/>
                <a:cs typeface="Calibri Bold" pitchFamily="34" charset="-120"/>
              </a:rPr>
              <a:t> </a:t>
            </a:r>
            <a:r>
              <a:rPr lang="ru-RU" sz="2800" b="1" dirty="0" err="1" smtClean="0">
                <a:solidFill>
                  <a:schemeClr val="accent1">
                    <a:lumMod val="50000"/>
                  </a:schemeClr>
                </a:solidFill>
                <a:ea typeface="Calibri Bold" pitchFamily="34" charset="-122"/>
                <a:cs typeface="Calibri Bold" pitchFamily="34" charset="-120"/>
              </a:rPr>
              <a:t>Производство.Сервер</a:t>
            </a:r>
            <a:r>
              <a:rPr lang="ru-RU" sz="2800" b="1" dirty="0" smtClean="0">
                <a:solidFill>
                  <a:schemeClr val="accent1">
                    <a:lumMod val="50000"/>
                  </a:schemeClr>
                </a:solidFill>
                <a:ea typeface="Calibri Bold" pitchFamily="34" charset="-122"/>
                <a:cs typeface="Calibri Bold" pitchFamily="34" charset="-120"/>
              </a:rPr>
              <a:t> тревог</a:t>
            </a:r>
            <a:endParaRPr lang="ru-RU" sz="2800" b="1" dirty="0">
              <a:solidFill>
                <a:schemeClr val="accent1">
                  <a:lumMod val="50000"/>
                </a:schemeClr>
              </a:solidFill>
              <a:ea typeface="Calibri Bold" pitchFamily="34" charset="-122"/>
              <a:cs typeface="Calibri Bold" pitchFamily="34" charset="-120"/>
            </a:endParaRPr>
          </a:p>
        </p:txBody>
      </p:sp>
      <p:sp>
        <p:nvSpPr>
          <p:cNvPr id="13" name="Объект 6"/>
          <p:cNvSpPr txBox="1">
            <a:spLocks/>
          </p:cNvSpPr>
          <p:nvPr/>
        </p:nvSpPr>
        <p:spPr>
          <a:xfrm>
            <a:off x="7955281" y="1218560"/>
            <a:ext cx="4663439" cy="3460120"/>
          </a:xfrm>
          <a:prstGeom prst="rect">
            <a:avLst/>
          </a:prstGeom>
        </p:spPr>
        <p:txBody>
          <a:bodyPr vert="horz" lIns="91430" tIns="45715" rIns="91430" bIns="45715" rtlCol="0">
            <a:noAutofit/>
          </a:bodyPr>
          <a:lstStyle>
            <a:defPPr>
              <a:defRPr lang="ru-RU"/>
            </a:defPPr>
            <a:lvl1pPr marL="269993" marR="471953" indent="-269993">
              <a:spcBef>
                <a:spcPts val="900"/>
              </a:spcBef>
              <a:buClr>
                <a:srgbClr val="FF0000"/>
              </a:buClr>
              <a:buFont typeface="Wingdings" panose="05000000000000000000" pitchFamily="2" charset="2"/>
              <a:buChar char="§"/>
              <a:tabLst>
                <a:tab pos="279552" algn="l"/>
              </a:tabLst>
              <a:defRPr sz="1800" kern="0" spc="-4">
                <a:solidFill>
                  <a:schemeClr val="tx2">
                    <a:lumMod val="75000"/>
                  </a:schemeClr>
                </a:solidFill>
                <a:cs typeface="Circe"/>
              </a:defRPr>
            </a:lvl1pPr>
            <a:lvl2pPr marL="457200"/>
            <a:lvl3pPr marL="914400"/>
            <a:lvl4pPr marL="1371600"/>
            <a:lvl5pPr marL="1828800"/>
            <a:lvl6pPr marL="2286000"/>
            <a:lvl7pPr marL="2743200"/>
            <a:lvl8pPr marL="3200400"/>
            <a:lvl9pPr marL="3657600"/>
          </a:lstStyle>
          <a:p>
            <a:pPr marL="442913" marR="707930" indent="-360363" fontAlgn="ctr">
              <a:spcAft>
                <a:spcPts val="2400"/>
              </a:spcAft>
              <a:buClr>
                <a:schemeClr val="accent1"/>
              </a:buClr>
              <a:buSzPct val="200000"/>
              <a:buFont typeface="Arial" pitchFamily="34" charset="0"/>
              <a:buChar char="•"/>
              <a:tabLst>
                <a:tab pos="442913" algn="l"/>
              </a:tabLst>
            </a:pPr>
            <a:endParaRPr lang="ru-RU" sz="2400" kern="1200" dirty="0">
              <a:solidFill>
                <a:srgbClr val="16110D"/>
              </a:solidFill>
              <a:ea typeface="Calibri Regular" pitchFamily="34" charset="-122"/>
              <a:cs typeface="Calibri Regular" pitchFamily="34" charset="-120"/>
            </a:endParaRPr>
          </a:p>
        </p:txBody>
      </p:sp>
      <p:sp>
        <p:nvSpPr>
          <p:cNvPr id="20" name="Object19"/>
          <p:cNvSpPr/>
          <p:nvPr/>
        </p:nvSpPr>
        <p:spPr>
          <a:xfrm>
            <a:off x="8166101" y="4794109"/>
            <a:ext cx="8944320" cy="3621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42913" marR="707930" indent="-360363" fontAlgn="ctr">
              <a:spcAft>
                <a:spcPts val="1200"/>
              </a:spcAft>
              <a:buClr>
                <a:schemeClr val="accent1"/>
              </a:buClr>
              <a:buSzPct val="200000"/>
              <a:buFont typeface="Arial" pitchFamily="34" charset="0"/>
              <a:buChar char="•"/>
              <a:tabLst>
                <a:tab pos="442913" algn="l"/>
              </a:tabLst>
            </a:pPr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  <a:ea typeface="Calibri Regular" pitchFamily="34" charset="-122"/>
                <a:cs typeface="Calibri Regular" pitchFamily="34" charset="-120"/>
              </a:rPr>
              <a:t>Унификация работы с сигналами тревог независимо от различных  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ea typeface="Calibri Regular" pitchFamily="34" charset="-122"/>
                <a:cs typeface="Calibri Regular" pitchFamily="34" charset="-120"/>
              </a:rPr>
              <a:t>SCADA</a:t>
            </a:r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  <a:ea typeface="Calibri Regular" pitchFamily="34" charset="-122"/>
                <a:cs typeface="Calibri Regular" pitchFamily="34" charset="-120"/>
              </a:rPr>
              <a:t>-систем</a:t>
            </a:r>
            <a:endParaRPr lang="en-US" sz="2400" dirty="0" smtClean="0">
              <a:solidFill>
                <a:schemeClr val="accent1">
                  <a:lumMod val="50000"/>
                </a:schemeClr>
              </a:solidFill>
              <a:ea typeface="Calibri Regular" pitchFamily="34" charset="-122"/>
              <a:cs typeface="Calibri Regular" pitchFamily="34" charset="-120"/>
            </a:endParaRPr>
          </a:p>
          <a:p>
            <a:pPr marL="442913" marR="707930" indent="-360363" fontAlgn="ctr">
              <a:spcAft>
                <a:spcPts val="1200"/>
              </a:spcAft>
              <a:buClr>
                <a:schemeClr val="accent1"/>
              </a:buClr>
              <a:buSzPct val="200000"/>
              <a:buFont typeface="Arial" pitchFamily="34" charset="0"/>
              <a:buChar char="•"/>
              <a:tabLst>
                <a:tab pos="442913" algn="l"/>
              </a:tabLst>
            </a:pPr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  <a:ea typeface="Calibri Regular" pitchFamily="34" charset="-122"/>
                <a:cs typeface="Calibri Regular" pitchFamily="34" charset="-120"/>
              </a:rPr>
              <a:t>Поддержка одновременной работы с тревогами нескольких пользователей</a:t>
            </a:r>
          </a:p>
          <a:p>
            <a:pPr marL="442913" marR="707930" indent="-360363" fontAlgn="ctr">
              <a:spcAft>
                <a:spcPts val="1200"/>
              </a:spcAft>
              <a:buClr>
                <a:schemeClr val="accent1"/>
              </a:buClr>
              <a:buSzPct val="200000"/>
              <a:buFont typeface="Arial" pitchFamily="34" charset="0"/>
              <a:buChar char="•"/>
              <a:tabLst>
                <a:tab pos="442913" algn="l"/>
              </a:tabLst>
            </a:pPr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  <a:ea typeface="Calibri Regular" pitchFamily="34" charset="-122"/>
                <a:cs typeface="Calibri Regular" pitchFamily="34" charset="-120"/>
              </a:rPr>
              <a:t>Развитый инструментарий определения логических правил обработки сигналов тревог</a:t>
            </a:r>
          </a:p>
          <a:p>
            <a:pPr marL="442913" marR="707930" indent="-360363" fontAlgn="ctr">
              <a:spcAft>
                <a:spcPts val="1200"/>
              </a:spcAft>
              <a:buClr>
                <a:schemeClr val="accent1"/>
              </a:buClr>
              <a:buSzPct val="200000"/>
              <a:buFont typeface="Arial" pitchFamily="34" charset="0"/>
              <a:buChar char="•"/>
              <a:tabLst>
                <a:tab pos="442913" algn="l"/>
              </a:tabLst>
            </a:pPr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  <a:ea typeface="Calibri Regular" pitchFamily="34" charset="-122"/>
                <a:cs typeface="Calibri Regular" pitchFamily="34" charset="-120"/>
              </a:rPr>
              <a:t>Удобный для пользователя интерфейс отображения аналитических данных по тревогам</a:t>
            </a:r>
          </a:p>
          <a:p>
            <a:pPr marL="442913" marR="707930" indent="-360363" fontAlgn="ctr">
              <a:spcAft>
                <a:spcPts val="1200"/>
              </a:spcAft>
              <a:buClr>
                <a:schemeClr val="accent1"/>
              </a:buClr>
              <a:buSzPct val="200000"/>
              <a:buFont typeface="Arial" pitchFamily="34" charset="0"/>
              <a:buChar char="•"/>
              <a:tabLst>
                <a:tab pos="442913" algn="l"/>
              </a:tabLst>
            </a:pPr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  <a:ea typeface="Calibri Regular" pitchFamily="34" charset="-122"/>
                <a:cs typeface="Calibri Regular" pitchFamily="34" charset="-120"/>
              </a:rPr>
              <a:t>Возможность автоматической генерации отчетов о тревогах с рассылкой по 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ea typeface="Calibri Regular" pitchFamily="34" charset="-122"/>
                <a:cs typeface="Calibri Regular" pitchFamily="34" charset="-120"/>
              </a:rPr>
              <a:t>e-mail</a:t>
            </a:r>
            <a:endParaRPr lang="ru-RU" sz="2400" dirty="0" smtClean="0">
              <a:solidFill>
                <a:schemeClr val="accent1">
                  <a:lumMod val="50000"/>
                </a:schemeClr>
              </a:solidFill>
              <a:ea typeface="Calibri Regular" pitchFamily="34" charset="-122"/>
              <a:cs typeface="Calibri Regular" pitchFamily="34" charset="-120"/>
            </a:endParaRPr>
          </a:p>
          <a:p>
            <a:pPr marL="442913" marR="707930" indent="-360363" fontAlgn="ctr">
              <a:spcAft>
                <a:spcPts val="1200"/>
              </a:spcAft>
              <a:buClr>
                <a:schemeClr val="accent1"/>
              </a:buClr>
              <a:buSzPct val="200000"/>
              <a:buFont typeface="Arial" pitchFamily="34" charset="0"/>
              <a:buChar char="•"/>
              <a:tabLst>
                <a:tab pos="442913" algn="l"/>
              </a:tabLst>
            </a:pPr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  <a:ea typeface="Calibri Regular" pitchFamily="34" charset="-122"/>
                <a:cs typeface="Calibri Regular" pitchFamily="34" charset="-120"/>
              </a:rPr>
              <a:t>Быстрое отображение большого количества данных</a:t>
            </a:r>
          </a:p>
          <a:p>
            <a:pPr marL="442913" marR="707930" indent="-360363" fontAlgn="ctr">
              <a:spcAft>
                <a:spcPts val="1200"/>
              </a:spcAft>
              <a:buClr>
                <a:schemeClr val="accent1"/>
              </a:buClr>
              <a:buSzPct val="200000"/>
              <a:buFont typeface="Arial" pitchFamily="34" charset="0"/>
              <a:buChar char="•"/>
              <a:tabLst>
                <a:tab pos="442913" algn="l"/>
              </a:tabLst>
            </a:pPr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  <a:ea typeface="Calibri Regular" pitchFamily="34" charset="-122"/>
                <a:cs typeface="Calibri Regular" pitchFamily="34" charset="-120"/>
              </a:rPr>
              <a:t>Простота использования</a:t>
            </a:r>
          </a:p>
        </p:txBody>
      </p:sp>
      <p:sp>
        <p:nvSpPr>
          <p:cNvPr id="24" name="Object19"/>
          <p:cNvSpPr/>
          <p:nvPr/>
        </p:nvSpPr>
        <p:spPr>
          <a:xfrm>
            <a:off x="8166101" y="796290"/>
            <a:ext cx="9445623" cy="2940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42913" marR="707930" indent="-360363" fontAlgn="ctr">
              <a:spcAft>
                <a:spcPts val="1200"/>
              </a:spcAft>
              <a:buClr>
                <a:schemeClr val="accent1"/>
              </a:buClr>
              <a:buSzPct val="200000"/>
              <a:buFont typeface="Arial" pitchFamily="34" charset="0"/>
              <a:buChar char="•"/>
              <a:tabLst>
                <a:tab pos="442913" algn="l"/>
              </a:tabLst>
            </a:pPr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  <a:ea typeface="Calibri Regular" pitchFamily="34" charset="-122"/>
                <a:cs typeface="Calibri Regular" pitchFamily="34" charset="-120"/>
              </a:rPr>
              <a:t>Кроссплатформенность - </a:t>
            </a:r>
            <a:r>
              <a:rPr lang="ru-RU" sz="2400" dirty="0">
                <a:solidFill>
                  <a:schemeClr val="accent1">
                    <a:lumMod val="50000"/>
                  </a:schemeClr>
                </a:solidFill>
                <a:ea typeface="Calibri Regular" pitchFamily="34" charset="-122"/>
                <a:cs typeface="Calibri Regular" pitchFamily="34" charset="-120"/>
              </a:rPr>
              <a:t>поставляется под ОС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ea typeface="Calibri Regular" pitchFamily="34" charset="-122"/>
                <a:cs typeface="Calibri Regular" pitchFamily="34" charset="-120"/>
              </a:rPr>
              <a:t>Windows/Linux</a:t>
            </a:r>
          </a:p>
          <a:p>
            <a:pPr marL="442913" marR="707930" indent="-360363" fontAlgn="ctr">
              <a:spcAft>
                <a:spcPts val="1200"/>
              </a:spcAft>
              <a:buClr>
                <a:schemeClr val="accent1"/>
              </a:buClr>
              <a:buSzPct val="200000"/>
              <a:buFont typeface="Arial" pitchFamily="34" charset="0"/>
              <a:buChar char="•"/>
              <a:tabLst>
                <a:tab pos="442913" algn="l"/>
              </a:tabLst>
            </a:pPr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  <a:ea typeface="Calibri Regular" pitchFamily="34" charset="-122"/>
                <a:cs typeface="Calibri Regular" pitchFamily="34" charset="-120"/>
              </a:rPr>
              <a:t>Тонкий клиент для работы инженера и пользователя</a:t>
            </a:r>
            <a:endParaRPr lang="ru-RU" sz="2400" dirty="0">
              <a:solidFill>
                <a:schemeClr val="accent1">
                  <a:lumMod val="50000"/>
                </a:schemeClr>
              </a:solidFill>
              <a:ea typeface="Calibri Regular" pitchFamily="34" charset="-122"/>
              <a:cs typeface="Calibri Regular" pitchFamily="34" charset="-120"/>
            </a:endParaRPr>
          </a:p>
          <a:p>
            <a:pPr marL="442913" marR="707930" indent="-360363" fontAlgn="ctr">
              <a:spcAft>
                <a:spcPts val="1200"/>
              </a:spcAft>
              <a:buClr>
                <a:schemeClr val="accent1"/>
              </a:buClr>
              <a:buSzPct val="200000"/>
              <a:buFont typeface="Arial" pitchFamily="34" charset="0"/>
              <a:buChar char="•"/>
              <a:tabLst>
                <a:tab pos="442913" algn="l"/>
              </a:tabLst>
            </a:pPr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  <a:ea typeface="Calibri Regular" pitchFamily="34" charset="-122"/>
                <a:cs typeface="Calibri Regular" pitchFamily="34" charset="-120"/>
              </a:rPr>
              <a:t>Подключение к источникам данных по стандартным протоколам 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ea typeface="Calibri Regular" pitchFamily="34" charset="-122"/>
                <a:cs typeface="Calibri Regular" pitchFamily="34" charset="-120"/>
              </a:rPr>
              <a:t>OPC 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ea typeface="Calibri Regular" pitchFamily="34" charset="-122"/>
                <a:cs typeface="Calibri Regular" pitchFamily="34" charset="-120"/>
              </a:rPr>
              <a:t>UA</a:t>
            </a:r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  <a:ea typeface="Calibri Regular" pitchFamily="34" charset="-122"/>
                <a:cs typeface="Calibri Regular" pitchFamily="34" charset="-120"/>
              </a:rPr>
              <a:t>, 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ea typeface="Calibri Regular" pitchFamily="34" charset="-122"/>
                <a:cs typeface="Calibri Regular" pitchFamily="34" charset="-120"/>
              </a:rPr>
              <a:t>Alpha</a:t>
            </a:r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  <a:ea typeface="Calibri Regular" pitchFamily="34" charset="-122"/>
                <a:cs typeface="Calibri Regular" pitchFamily="34" charset="-120"/>
              </a:rPr>
              <a:t>.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ea typeface="Calibri Regular" pitchFamily="34" charset="-122"/>
                <a:cs typeface="Calibri Regular" pitchFamily="34" charset="-120"/>
              </a:rPr>
              <a:t>Link</a:t>
            </a:r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  <a:ea typeface="Calibri Regular" pitchFamily="34" charset="-122"/>
                <a:cs typeface="Calibri Regular" pitchFamily="34" charset="-120"/>
              </a:rPr>
              <a:t> (для 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ea typeface="Calibri Regular" pitchFamily="34" charset="-122"/>
                <a:cs typeface="Calibri Regular" pitchFamily="34" charset="-120"/>
              </a:rPr>
              <a:t>SCADA</a:t>
            </a:r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  <a:ea typeface="Calibri Regular" pitchFamily="34" charset="-122"/>
                <a:cs typeface="Calibri Regular" pitchFamily="34" charset="-120"/>
              </a:rPr>
              <a:t> на базе Альфа платформы)</a:t>
            </a:r>
          </a:p>
          <a:p>
            <a:pPr marL="442913" marR="707930" indent="-360363" fontAlgn="ctr">
              <a:spcAft>
                <a:spcPts val="1200"/>
              </a:spcAft>
              <a:buClr>
                <a:schemeClr val="accent1"/>
              </a:buClr>
              <a:buSzPct val="200000"/>
              <a:buFont typeface="Arial" pitchFamily="34" charset="0"/>
              <a:buChar char="•"/>
              <a:tabLst>
                <a:tab pos="442913" algn="l"/>
              </a:tabLst>
            </a:pPr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  <a:ea typeface="Calibri Regular" pitchFamily="34" charset="-122"/>
                <a:cs typeface="Calibri Regular" pitchFamily="34" charset="-120"/>
              </a:rPr>
              <a:t>Возможность подключения к различным 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ea typeface="Calibri Regular" pitchFamily="34" charset="-122"/>
                <a:cs typeface="Calibri Regular" pitchFamily="34" charset="-120"/>
              </a:rPr>
              <a:t>SCADA</a:t>
            </a:r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  <a:ea typeface="Calibri Regular" pitchFamily="34" charset="-122"/>
                <a:cs typeface="Calibri Regular" pitchFamily="34" charset="-120"/>
              </a:rPr>
              <a:t>-системам</a:t>
            </a:r>
            <a:endParaRPr lang="ru-RU" sz="2400" dirty="0">
              <a:solidFill>
                <a:schemeClr val="accent1">
                  <a:lumMod val="50000"/>
                </a:schemeClr>
              </a:solidFill>
              <a:ea typeface="Calibri Regular" pitchFamily="34" charset="-122"/>
              <a:cs typeface="Calibri Regular" pitchFamily="34" charset="-120"/>
            </a:endParaRPr>
          </a:p>
        </p:txBody>
      </p:sp>
      <p:sp>
        <p:nvSpPr>
          <p:cNvPr id="15" name="Номер слайда 1"/>
          <p:cNvSpPr txBox="1">
            <a:spLocks/>
          </p:cNvSpPr>
          <p:nvPr/>
        </p:nvSpPr>
        <p:spPr>
          <a:xfrm rot="5400000">
            <a:off x="17145011" y="9437350"/>
            <a:ext cx="808712" cy="547688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fld id="{1A8E40EB-114F-4E94-B88F-245C4D8BC53F}" type="slidenum">
              <a:rPr lang="ru-RU" altLang="ru-RU" smtClean="0"/>
              <a:pPr/>
              <a:t>3</a:t>
            </a:fld>
            <a:endParaRPr lang="ru-RU" altLang="ru-RU" dirty="0"/>
          </a:p>
        </p:txBody>
      </p:sp>
      <p:sp>
        <p:nvSpPr>
          <p:cNvPr id="18" name="Прямоугольник 17"/>
          <p:cNvSpPr/>
          <p:nvPr/>
        </p:nvSpPr>
        <p:spPr>
          <a:xfrm>
            <a:off x="0" y="134892"/>
            <a:ext cx="780879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 err="1" smtClean="0">
                <a:solidFill>
                  <a:schemeClr val="bg1"/>
                </a:solidFill>
                <a:latin typeface="Calibri Bold" panose="020F0702030404030204" pitchFamily="34" charset="0"/>
                <a:cs typeface="Calibri Bold" panose="020F0702030404030204" pitchFamily="34" charset="0"/>
              </a:rPr>
              <a:t>ДатаПлат</a:t>
            </a:r>
            <a:r>
              <a:rPr lang="ru-RU" sz="3200" b="1" dirty="0" smtClean="0">
                <a:solidFill>
                  <a:schemeClr val="bg1"/>
                </a:solidFill>
                <a:latin typeface="Calibri Bold" panose="020F0702030404030204" pitchFamily="34" charset="0"/>
                <a:cs typeface="Calibri Bold" panose="020F0702030404030204" pitchFamily="34" charset="0"/>
              </a:rPr>
              <a:t> </a:t>
            </a:r>
            <a:r>
              <a:rPr lang="ru-RU" sz="3200" b="1" dirty="0" err="1" smtClean="0">
                <a:solidFill>
                  <a:schemeClr val="bg1"/>
                </a:solidFill>
                <a:latin typeface="Calibri Bold" panose="020F0702030404030204" pitchFamily="34" charset="0"/>
                <a:cs typeface="Calibri Bold" panose="020F0702030404030204" pitchFamily="34" charset="0"/>
              </a:rPr>
              <a:t>Производство.Сервер</a:t>
            </a:r>
            <a:r>
              <a:rPr lang="ru-RU" sz="3200" b="1" dirty="0" smtClean="0">
                <a:solidFill>
                  <a:schemeClr val="bg1"/>
                </a:solidFill>
                <a:latin typeface="Calibri Bold" panose="020F0702030404030204" pitchFamily="34" charset="0"/>
                <a:cs typeface="Calibri Bold" panose="020F0702030404030204" pitchFamily="34" charset="0"/>
              </a:rPr>
              <a:t> тревог</a:t>
            </a:r>
            <a:endParaRPr lang="ru-RU" sz="3200" b="1" dirty="0">
              <a:solidFill>
                <a:srgbClr val="FF0000"/>
              </a:solidFill>
              <a:latin typeface="Calibri Bold" panose="020F0702030404030204" pitchFamily="34" charset="0"/>
              <a:cs typeface="Calibri Bold" panose="020F07020304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xmlns="" id="{CA2BCB0D-DE71-4393-BA59-14EF3FC2E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77"/>
            <a:ext cx="18288000" cy="10281645"/>
          </a:xfrm>
          <a:prstGeom prst="rect">
            <a:avLst/>
          </a:prstGeom>
        </p:spPr>
      </p:pic>
      <p:pic>
        <p:nvPicPr>
          <p:cNvPr id="37" name="Object 36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9"/>
              </a:ext>
            </a:extLst>
          </a:blip>
          <a:srcRect/>
          <a:stretch/>
        </p:blipFill>
        <p:spPr>
          <a:xfrm>
            <a:off x="17611725" y="2357438"/>
            <a:ext cx="38100" cy="6724650"/>
          </a:xfrm>
          <a:prstGeom prst="rect">
            <a:avLst/>
          </a:prstGeom>
        </p:spPr>
      </p:pic>
      <p:pic>
        <p:nvPicPr>
          <p:cNvPr id="38" name="Object 37" descr="preencoded.png"/>
          <p:cNvPicPr>
            <a:picLocks noChangeAspect="1"/>
          </p:cNvPicPr>
          <p:nvPr/>
        </p:nvPicPr>
        <p:blipFill>
          <a:blip r:embed="rId70">
            <a:extLst>
              <a:ext uri="{96DAC541-7B7A-43D3-8B79-37D633B846F1}">
                <asvg:svgBlip xmlns:asvg="http://schemas.microsoft.com/office/drawing/2016/SVG/main" xmlns="" r:embed="rId71"/>
              </a:ext>
            </a:extLst>
          </a:blip>
          <a:srcRect/>
          <a:stretch/>
        </p:blipFill>
        <p:spPr>
          <a:xfrm>
            <a:off x="17421225" y="504825"/>
            <a:ext cx="571500" cy="1638300"/>
          </a:xfrm>
          <a:prstGeom prst="rect">
            <a:avLst/>
          </a:prstGeom>
        </p:spPr>
      </p:pic>
      <p:sp>
        <p:nvSpPr>
          <p:cNvPr id="12" name="Object18"/>
          <p:cNvSpPr/>
          <p:nvPr/>
        </p:nvSpPr>
        <p:spPr>
          <a:xfrm>
            <a:off x="643602" y="1218560"/>
            <a:ext cx="6937953" cy="717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425"/>
              </a:lnSpc>
            </a:pPr>
            <a:endParaRPr lang="ru-RU" sz="4500" b="1" dirty="0">
              <a:solidFill>
                <a:srgbClr val="FFFFFF"/>
              </a:solidFill>
              <a:ea typeface="Calibri Bold" pitchFamily="34" charset="-122"/>
              <a:cs typeface="Calibri Bold" pitchFamily="34" charset="-120"/>
            </a:endParaRPr>
          </a:p>
        </p:txBody>
      </p:sp>
      <p:sp>
        <p:nvSpPr>
          <p:cNvPr id="14" name="Object28"/>
          <p:cNvSpPr/>
          <p:nvPr/>
        </p:nvSpPr>
        <p:spPr>
          <a:xfrm>
            <a:off x="1051559" y="3436937"/>
            <a:ext cx="6757235" cy="3204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000"/>
              </a:spcAft>
            </a:pPr>
            <a:r>
              <a:rPr lang="ru-RU" sz="2800" b="1" dirty="0">
                <a:solidFill>
                  <a:schemeClr val="bg1"/>
                </a:solidFill>
                <a:ea typeface="Calibri Bold" pitchFamily="34" charset="-122"/>
                <a:cs typeface="Calibri Bold" pitchFamily="34" charset="-120"/>
              </a:rPr>
              <a:t>Высокий </a:t>
            </a:r>
            <a:r>
              <a:rPr lang="ru-RU" sz="2800" b="1" dirty="0" smtClean="0">
                <a:solidFill>
                  <a:schemeClr val="bg1"/>
                </a:solidFill>
                <a:ea typeface="Calibri Bold" pitchFamily="34" charset="-122"/>
                <a:cs typeface="Calibri Bold" pitchFamily="34" charset="-120"/>
              </a:rPr>
              <a:t>уровень </a:t>
            </a:r>
            <a:r>
              <a:rPr lang="ru-RU" sz="2800" b="1" dirty="0">
                <a:solidFill>
                  <a:schemeClr val="bg1"/>
                </a:solidFill>
                <a:ea typeface="Calibri Bold" pitchFamily="34" charset="-122"/>
                <a:cs typeface="Calibri Bold" pitchFamily="34" charset="-120"/>
              </a:rPr>
              <a:t>параметризации, </a:t>
            </a:r>
            <a:r>
              <a:rPr lang="ru-RU" sz="2800" b="1" dirty="0" smtClean="0">
                <a:solidFill>
                  <a:schemeClr val="bg1"/>
                </a:solidFill>
                <a:ea typeface="Calibri Bold" pitchFamily="34" charset="-122"/>
                <a:cs typeface="Calibri Bold" pitchFamily="34" charset="-120"/>
              </a:rPr>
              <a:t>фильтрации, графической обработки при проведении анализа</a:t>
            </a:r>
            <a:endParaRPr lang="en-US" sz="2800" b="1" dirty="0">
              <a:solidFill>
                <a:schemeClr val="bg1"/>
              </a:solidFill>
              <a:ea typeface="Calibri Bold" pitchFamily="34" charset="-122"/>
              <a:cs typeface="Calibri Bold" pitchFamily="34" charset="-120"/>
            </a:endParaRPr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791133" y="3436938"/>
            <a:ext cx="4869" cy="1198562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bject18"/>
          <p:cNvSpPr/>
          <p:nvPr/>
        </p:nvSpPr>
        <p:spPr>
          <a:xfrm>
            <a:off x="796002" y="1370960"/>
            <a:ext cx="6937953" cy="717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425"/>
              </a:lnSpc>
            </a:pPr>
            <a:r>
              <a:rPr lang="ru-RU" sz="4500" b="1" dirty="0" smtClean="0">
                <a:solidFill>
                  <a:srgbClr val="FFFFFF"/>
                </a:solidFill>
                <a:ea typeface="Calibri Bold" pitchFamily="34" charset="-122"/>
                <a:cs typeface="Calibri Bold" pitchFamily="34" charset="-120"/>
              </a:rPr>
              <a:t>Виды аналитической обработки сигналов тревог (СТ)</a:t>
            </a:r>
            <a:endParaRPr lang="en-US" sz="4500" b="1" dirty="0">
              <a:solidFill>
                <a:srgbClr val="FFFFFF"/>
              </a:solidFill>
              <a:ea typeface="Calibri Bold" pitchFamily="34" charset="-122"/>
              <a:cs typeface="Calibri Bold" pitchFamily="34" charset="-12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976610"/>
              </p:ext>
            </p:extLst>
          </p:nvPr>
        </p:nvGraphicFramePr>
        <p:xfrm>
          <a:off x="8094980" y="504825"/>
          <a:ext cx="9164320" cy="892619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394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4257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2992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222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№</a:t>
                      </a:r>
                      <a:endParaRPr lang="ru-RU" sz="1800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Вид анализа СТ</a:t>
                      </a:r>
                      <a:endParaRPr lang="ru-RU" sz="180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Описание аналитической обработки</a:t>
                      </a:r>
                      <a:endParaRPr lang="ru-RU" sz="1800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1</a:t>
                      </a:r>
                      <a:endParaRPr lang="ru-RU" sz="1800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Анализ группы СТ</a:t>
                      </a:r>
                      <a:endParaRPr lang="ru-RU" sz="18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Анализ долевой составляющей в % каждого сигнала в группе выбранных СТ с визуализацией дополнительной информации по сбросам и подтверждениям этих сигналов</a:t>
                      </a:r>
                      <a:endParaRPr lang="ru-RU" sz="18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2</a:t>
                      </a:r>
                      <a:endParaRPr lang="ru-RU" sz="1800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Анализ ложных СТ</a:t>
                      </a:r>
                      <a:endParaRPr lang="ru-RU" sz="18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Анализ и отсечение СТ, которые за настраиваемый период времени активировались не менее определенного настройками количества раз</a:t>
                      </a:r>
                      <a:endParaRPr lang="ru-RU" sz="18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3</a:t>
                      </a:r>
                      <a:endParaRPr lang="ru-RU" sz="1800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Анализ неустойчивых СТ</a:t>
                      </a:r>
                      <a:endParaRPr lang="ru-RU" sz="18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Анализ количества сработавших СТ за период времени, для которых часто повторяются  циклы активации и сброса (критерий частотности </a:t>
                      </a:r>
                      <a:r>
                        <a:rPr lang="ru-RU" sz="18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параметризуется</a:t>
                      </a:r>
                      <a:r>
                        <a:rPr lang="ru-RU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 пользователем)</a:t>
                      </a:r>
                      <a:endParaRPr lang="ru-RU" sz="18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4</a:t>
                      </a:r>
                      <a:endParaRPr lang="ru-RU" sz="1800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Анализ продолжительности СТ</a:t>
                      </a:r>
                      <a:endParaRPr lang="ru-RU" sz="18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Анализ устойчивых СТ, активных на период проведения анализа, с отображением продолжительности СТ, количества активаций, времени подтверждения оператором и периода между активацией СТ и подтверждением оператора (с фильтрацией СТ на кратковременные и долговременные, что задается параметрами)</a:t>
                      </a:r>
                      <a:endParaRPr lang="ru-RU" sz="18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5</a:t>
                      </a:r>
                      <a:endParaRPr lang="ru-RU" sz="1800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Анализ потоков СТ</a:t>
                      </a:r>
                      <a:endParaRPr lang="ru-RU" sz="18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Анализ СТ высокой интенсивности, поток которых превышает по количеству установленный </a:t>
                      </a:r>
                      <a:r>
                        <a:rPr lang="ru-RU" sz="18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параметрич</a:t>
                      </a:r>
                      <a:r>
                        <a:rPr lang="ru-RU" sz="1800" kern="12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еский </a:t>
                      </a:r>
                      <a:r>
                        <a:rPr lang="ru-RU" sz="18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порог</a:t>
                      </a:r>
                      <a:r>
                        <a:rPr lang="ru-RU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. Также </a:t>
                      </a:r>
                      <a:r>
                        <a:rPr lang="ru-RU" sz="18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параметризуется</a:t>
                      </a:r>
                      <a:r>
                        <a:rPr lang="ru-RU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 диапазон времени, устанавливаемый для анализа. Отображается количество СТ, выявленных в потоке, время начала и конца потока.</a:t>
                      </a:r>
                      <a:endParaRPr lang="ru-RU" sz="18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6</a:t>
                      </a:r>
                      <a:endParaRPr lang="ru-RU" sz="1800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Анализ связанных СТ</a:t>
                      </a:r>
                      <a:endParaRPr lang="ru-RU" sz="18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Анализируется количество устойчивых появлений связанных пар СТ в задаваемом </a:t>
                      </a:r>
                      <a:r>
                        <a:rPr lang="ru-RU" sz="18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параметрически</a:t>
                      </a:r>
                      <a:r>
                        <a:rPr lang="ru-RU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 интервале времени. Уровень взаимосвязи СТ в паре задается как % от общего возникновения СТ из пары</a:t>
                      </a:r>
                      <a:endParaRPr lang="ru-RU" sz="18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7</a:t>
                      </a:r>
                      <a:endParaRPr lang="ru-RU" sz="1800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Анализ-сопоставление обзорных показателей набора СТ</a:t>
                      </a:r>
                      <a:endParaRPr lang="ru-RU" sz="18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Анализ ряда ключевых показателей формируемого пользователем набора СТ за определенный период времени в сравнении с аналогичными показателями данного набора за другой период времени</a:t>
                      </a:r>
                      <a:endParaRPr lang="ru-RU" sz="18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8</a:t>
                      </a:r>
                      <a:endParaRPr lang="ru-RU" sz="1800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Анализ частоты группы СТ</a:t>
                      </a:r>
                      <a:endParaRPr lang="ru-RU" sz="18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Анализ количества активаций в группе СТ за период времени, отсортированный по убыванию частотности с фильтрацией по типу и подтипу СТ</a:t>
                      </a:r>
                      <a:endParaRPr lang="ru-RU" sz="18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  <p:sp>
        <p:nvSpPr>
          <p:cNvPr id="13" name="Номер слайда 1"/>
          <p:cNvSpPr txBox="1">
            <a:spLocks/>
          </p:cNvSpPr>
          <p:nvPr/>
        </p:nvSpPr>
        <p:spPr>
          <a:xfrm rot="5400000">
            <a:off x="17145011" y="9437350"/>
            <a:ext cx="808712" cy="547688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fld id="{1A8E40EB-114F-4E94-B88F-245C4D8BC53F}" type="slidenum">
              <a:rPr lang="ru-RU" altLang="ru-RU" smtClean="0"/>
              <a:pPr/>
              <a:t>4</a:t>
            </a:fld>
            <a:endParaRPr lang="ru-RU" altLang="ru-RU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0" y="134892"/>
            <a:ext cx="780879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 err="1" smtClean="0">
                <a:solidFill>
                  <a:schemeClr val="bg1"/>
                </a:solidFill>
                <a:latin typeface="Calibri Bold" panose="020F0702030404030204" pitchFamily="34" charset="0"/>
                <a:cs typeface="Calibri Bold" panose="020F0702030404030204" pitchFamily="34" charset="0"/>
              </a:rPr>
              <a:t>ДатаПлат</a:t>
            </a:r>
            <a:r>
              <a:rPr lang="ru-RU" sz="3200" b="1" dirty="0" smtClean="0">
                <a:solidFill>
                  <a:schemeClr val="bg1"/>
                </a:solidFill>
                <a:latin typeface="Calibri Bold" panose="020F0702030404030204" pitchFamily="34" charset="0"/>
                <a:cs typeface="Calibri Bold" panose="020F0702030404030204" pitchFamily="34" charset="0"/>
              </a:rPr>
              <a:t> </a:t>
            </a:r>
            <a:r>
              <a:rPr lang="ru-RU" sz="3200" b="1" dirty="0" err="1" smtClean="0">
                <a:solidFill>
                  <a:schemeClr val="bg1"/>
                </a:solidFill>
                <a:latin typeface="Calibri Bold" panose="020F0702030404030204" pitchFamily="34" charset="0"/>
                <a:cs typeface="Calibri Bold" panose="020F0702030404030204" pitchFamily="34" charset="0"/>
              </a:rPr>
              <a:t>Производство.Сервер</a:t>
            </a:r>
            <a:r>
              <a:rPr lang="ru-RU" sz="3200" b="1" dirty="0" smtClean="0">
                <a:solidFill>
                  <a:schemeClr val="bg1"/>
                </a:solidFill>
                <a:latin typeface="Calibri Bold" panose="020F0702030404030204" pitchFamily="34" charset="0"/>
                <a:cs typeface="Calibri Bold" panose="020F0702030404030204" pitchFamily="34" charset="0"/>
              </a:rPr>
              <a:t> тревог</a:t>
            </a:r>
            <a:endParaRPr lang="ru-RU" sz="3200" b="1" dirty="0">
              <a:solidFill>
                <a:srgbClr val="FF0000"/>
              </a:solidFill>
              <a:latin typeface="Calibri Bold" panose="020F0702030404030204" pitchFamily="34" charset="0"/>
              <a:cs typeface="Calibri Bold" panose="020F07020304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468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xmlns="" id="{CA2BCB0D-DE71-4393-BA59-14EF3FC2E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77"/>
            <a:ext cx="18288000" cy="10281645"/>
          </a:xfrm>
          <a:prstGeom prst="rect">
            <a:avLst/>
          </a:prstGeom>
        </p:spPr>
      </p:pic>
      <p:pic>
        <p:nvPicPr>
          <p:cNvPr id="37" name="Object 36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9"/>
              </a:ext>
            </a:extLst>
          </a:blip>
          <a:srcRect/>
          <a:stretch/>
        </p:blipFill>
        <p:spPr>
          <a:xfrm>
            <a:off x="17611725" y="2357438"/>
            <a:ext cx="38100" cy="6724650"/>
          </a:xfrm>
          <a:prstGeom prst="rect">
            <a:avLst/>
          </a:prstGeom>
        </p:spPr>
      </p:pic>
      <p:pic>
        <p:nvPicPr>
          <p:cNvPr id="38" name="Object 37" descr="preencoded.png"/>
          <p:cNvPicPr>
            <a:picLocks noChangeAspect="1"/>
          </p:cNvPicPr>
          <p:nvPr/>
        </p:nvPicPr>
        <p:blipFill>
          <a:blip r:embed="rId70">
            <a:extLst>
              <a:ext uri="{96DAC541-7B7A-43D3-8B79-37D633B846F1}">
                <asvg:svgBlip xmlns:asvg="http://schemas.microsoft.com/office/drawing/2016/SVG/main" xmlns="" r:embed="rId71"/>
              </a:ext>
            </a:extLst>
          </a:blip>
          <a:srcRect/>
          <a:stretch/>
        </p:blipFill>
        <p:spPr>
          <a:xfrm>
            <a:off x="17421225" y="504825"/>
            <a:ext cx="571500" cy="1638300"/>
          </a:xfrm>
          <a:prstGeom prst="rect">
            <a:avLst/>
          </a:prstGeom>
        </p:spPr>
      </p:pic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7956314" y="5182199"/>
            <a:ext cx="10293586" cy="507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7923" marR="707930" lvl="0" fontAlgn="ctr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>
                <a:schemeClr val="accent1"/>
              </a:buClr>
              <a:buSzPct val="200000"/>
              <a:tabLst>
                <a:tab pos="419328" algn="l"/>
              </a:tabLst>
            </a:pP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  <a:ea typeface="Calibri Regular" pitchFamily="34" charset="-122"/>
                <a:cs typeface="Calibri Regular" pitchFamily="34" charset="-120"/>
              </a:rPr>
              <a:t>Основные функции:</a:t>
            </a:r>
          </a:p>
          <a:p>
            <a:pPr marL="442913" marR="707930" lvl="0" indent="-404990" fontAlgn="ctr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>
                <a:schemeClr val="accent1"/>
              </a:buClr>
              <a:buSzPct val="200000"/>
              <a:buFont typeface="Arial" pitchFamily="34" charset="0"/>
              <a:buChar char="•"/>
              <a:tabLst>
                <a:tab pos="419328" algn="l"/>
              </a:tabLst>
            </a:pPr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</a:rPr>
              <a:t>Ведение базы знаний по сигналам тревог и отказам оборудования</a:t>
            </a:r>
          </a:p>
          <a:p>
            <a:pPr marL="442913" marR="707930" lvl="0" indent="-404990" fontAlgn="ctr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>
                <a:schemeClr val="accent1"/>
              </a:buClr>
              <a:buSzPct val="200000"/>
              <a:buFont typeface="Arial" pitchFamily="34" charset="0"/>
              <a:buChar char="•"/>
              <a:tabLst>
                <a:tab pos="419328" algn="l"/>
              </a:tabLst>
            </a:pPr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</a:rPr>
              <a:t>Различные виды анализа </a:t>
            </a:r>
            <a:r>
              <a:rPr lang="ru-RU" sz="2400" dirty="0">
                <a:solidFill>
                  <a:schemeClr val="accent1">
                    <a:lumMod val="50000"/>
                  </a:schemeClr>
                </a:solidFill>
              </a:rPr>
              <a:t>активности сигналов тревоги и </a:t>
            </a:r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</a:rPr>
              <a:t>возможность конфигурации правил обработки сигналов тревоги</a:t>
            </a:r>
          </a:p>
          <a:p>
            <a:pPr marL="442913" marR="707930" lvl="0" indent="-404990" fontAlgn="ctr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>
                <a:schemeClr val="accent1"/>
              </a:buClr>
              <a:buSzPct val="200000"/>
              <a:buFont typeface="Arial" pitchFamily="34" charset="0"/>
              <a:buChar char="•"/>
              <a:tabLst>
                <a:tab pos="419328" algn="l"/>
              </a:tabLst>
            </a:pPr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</a:rPr>
              <a:t>Визуализация данных по сигналам тревоги </a:t>
            </a:r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</a:rPr>
              <a:t>и событиям АСУТП в табличном виде, </a:t>
            </a:r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</a:rPr>
              <a:t>в формате диаграмм </a:t>
            </a:r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</a:rPr>
              <a:t>и отчетов</a:t>
            </a:r>
          </a:p>
          <a:p>
            <a:pPr marL="442913" marR="707930" lvl="0" indent="-404990" fontAlgn="ctr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>
                <a:schemeClr val="accent1"/>
              </a:buClr>
              <a:buSzPct val="200000"/>
              <a:buFont typeface="Arial" pitchFamily="34" charset="0"/>
              <a:buChar char="•"/>
              <a:tabLst>
                <a:tab pos="419328" algn="l"/>
              </a:tabLst>
            </a:pPr>
            <a:r>
              <a:rPr lang="ru-RU" sz="2400" dirty="0">
                <a:solidFill>
                  <a:schemeClr val="accent1">
                    <a:lumMod val="50000"/>
                  </a:schemeClr>
                </a:solidFill>
                <a:ea typeface="Calibri Regular" pitchFamily="34" charset="-122"/>
                <a:cs typeface="Calibri Regular" pitchFamily="34" charset="-120"/>
              </a:rPr>
              <a:t>Э</a:t>
            </a:r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  <a:ea typeface="Calibri Regular" pitchFamily="34" charset="-122"/>
                <a:cs typeface="Calibri Regular" pitchFamily="34" charset="-120"/>
              </a:rPr>
              <a:t>кспорт отчетов по тревогам в файлы форматов 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ea typeface="Calibri Regular" pitchFamily="34" charset="-122"/>
                <a:cs typeface="Calibri Regular" pitchFamily="34" charset="-120"/>
              </a:rPr>
              <a:t>XLSX</a:t>
            </a:r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  <a:ea typeface="Calibri Regular" pitchFamily="34" charset="-122"/>
                <a:cs typeface="Calibri Regular" pitchFamily="34" charset="-120"/>
              </a:rPr>
              <a:t> и 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ea typeface="Calibri Regular" pitchFamily="34" charset="-122"/>
                <a:cs typeface="Calibri Regular" pitchFamily="34" charset="-120"/>
              </a:rPr>
              <a:t>PDF</a:t>
            </a:r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  <a:ea typeface="Calibri Regular" pitchFamily="34" charset="-122"/>
                <a:cs typeface="Calibri Regular" pitchFamily="34" charset="-120"/>
              </a:rPr>
              <a:t> </a:t>
            </a:r>
            <a:endParaRPr lang="ru-RU" sz="2400" dirty="0">
              <a:solidFill>
                <a:schemeClr val="accent1">
                  <a:lumMod val="50000"/>
                </a:schemeClr>
              </a:solidFill>
              <a:ea typeface="Calibri Regular" pitchFamily="34" charset="-122"/>
              <a:cs typeface="Calibri Regular" pitchFamily="34" charset="-120"/>
            </a:endParaRPr>
          </a:p>
          <a:p>
            <a:pPr marL="442913" marR="707930" lvl="0" indent="-404990" fontAlgn="ctr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>
                <a:schemeClr val="accent1"/>
              </a:buClr>
              <a:buSzPct val="200000"/>
              <a:buFont typeface="Arial" pitchFamily="34" charset="0"/>
              <a:buChar char="•"/>
              <a:tabLst>
                <a:tab pos="419328" algn="l"/>
              </a:tabLst>
            </a:pPr>
            <a:r>
              <a:rPr lang="ru-RU" sz="2400" dirty="0">
                <a:solidFill>
                  <a:schemeClr val="accent1">
                    <a:lumMod val="50000"/>
                  </a:schemeClr>
                </a:solidFill>
                <a:ea typeface="Calibri Regular" pitchFamily="34" charset="-122"/>
                <a:cs typeface="Calibri Regular" pitchFamily="34" charset="-120"/>
              </a:rPr>
              <a:t>Ц</a:t>
            </a:r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  <a:ea typeface="Calibri Regular" pitchFamily="34" charset="-122"/>
                <a:cs typeface="Calibri Regular" pitchFamily="34" charset="-120"/>
              </a:rPr>
              <a:t>ентрализованное </a:t>
            </a:r>
            <a:r>
              <a:rPr lang="ru-RU" sz="2400" dirty="0">
                <a:solidFill>
                  <a:schemeClr val="accent1">
                    <a:lumMod val="50000"/>
                  </a:schemeClr>
                </a:solidFill>
                <a:ea typeface="Calibri Regular" pitchFamily="34" charset="-122"/>
                <a:cs typeface="Calibri Regular" pitchFamily="34" charset="-120"/>
              </a:rPr>
              <a:t>хранение </a:t>
            </a:r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  <a:ea typeface="Calibri Regular" pitchFamily="34" charset="-122"/>
                <a:cs typeface="Calibri Regular" pitchFamily="34" charset="-120"/>
              </a:rPr>
              <a:t>правил обработки сигналов тревог, шаблонов </a:t>
            </a:r>
            <a:r>
              <a:rPr lang="ru-RU" sz="2400" dirty="0">
                <a:solidFill>
                  <a:schemeClr val="accent1">
                    <a:lumMod val="50000"/>
                  </a:schemeClr>
                </a:solidFill>
                <a:ea typeface="Calibri Regular" pitchFamily="34" charset="-122"/>
                <a:cs typeface="Calibri Regular" pitchFamily="34" charset="-120"/>
              </a:rPr>
              <a:t>и сформированных отчетов с разграничением прав доступа</a:t>
            </a:r>
          </a:p>
          <a:p>
            <a:pPr marL="442913" marR="707930" lvl="0" indent="-404990" fontAlgn="ctr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>
                <a:schemeClr val="accent1"/>
              </a:buClr>
              <a:buSzPct val="200000"/>
              <a:buFont typeface="Arial" pitchFamily="34" charset="0"/>
              <a:buChar char="•"/>
              <a:tabLst>
                <a:tab pos="419328" algn="l"/>
              </a:tabLst>
            </a:pPr>
            <a:r>
              <a:rPr lang="ru-RU" sz="2400" dirty="0">
                <a:solidFill>
                  <a:schemeClr val="accent1">
                    <a:lumMod val="50000"/>
                  </a:schemeClr>
                </a:solidFill>
                <a:ea typeface="Calibri Regular" pitchFamily="34" charset="-122"/>
                <a:cs typeface="Calibri Regular" pitchFamily="34" charset="-120"/>
              </a:rPr>
              <a:t>Ф</a:t>
            </a:r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  <a:ea typeface="Calibri Regular" pitchFamily="34" charset="-122"/>
                <a:cs typeface="Calibri Regular" pitchFamily="34" charset="-120"/>
              </a:rPr>
              <a:t>ормирование отчетности по тревогам </a:t>
            </a:r>
            <a:r>
              <a:rPr lang="ru-RU" sz="2400" dirty="0">
                <a:solidFill>
                  <a:schemeClr val="accent1">
                    <a:lumMod val="50000"/>
                  </a:schemeClr>
                </a:solidFill>
                <a:ea typeface="Calibri Regular" pitchFamily="34" charset="-122"/>
                <a:cs typeface="Calibri Regular" pitchFamily="34" charset="-120"/>
              </a:rPr>
              <a:t>по </a:t>
            </a:r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  <a:ea typeface="Calibri Regular" pitchFamily="34" charset="-122"/>
                <a:cs typeface="Calibri Regular" pitchFamily="34" charset="-120"/>
              </a:rPr>
              <a:t>расписанию</a:t>
            </a:r>
            <a:endParaRPr lang="ru-RU" sz="2400" dirty="0">
              <a:solidFill>
                <a:schemeClr val="accent1">
                  <a:lumMod val="50000"/>
                </a:schemeClr>
              </a:solidFill>
              <a:ea typeface="Calibri Regular" pitchFamily="34" charset="-122"/>
              <a:cs typeface="Calibri Regular" pitchFamily="34" charset="-120"/>
            </a:endParaRPr>
          </a:p>
        </p:txBody>
      </p:sp>
      <p:sp>
        <p:nvSpPr>
          <p:cNvPr id="12" name="Object18"/>
          <p:cNvSpPr/>
          <p:nvPr/>
        </p:nvSpPr>
        <p:spPr>
          <a:xfrm>
            <a:off x="643602" y="1218560"/>
            <a:ext cx="6937953" cy="717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425"/>
              </a:lnSpc>
            </a:pPr>
            <a:endParaRPr lang="ru-RU" sz="4500" b="1" dirty="0">
              <a:solidFill>
                <a:srgbClr val="FFFFFF"/>
              </a:solidFill>
              <a:ea typeface="Calibri Bold" pitchFamily="34" charset="-122"/>
              <a:cs typeface="Calibri Bold" pitchFamily="34" charset="-120"/>
            </a:endParaRPr>
          </a:p>
        </p:txBody>
      </p:sp>
      <p:sp>
        <p:nvSpPr>
          <p:cNvPr id="14" name="Object28"/>
          <p:cNvSpPr/>
          <p:nvPr/>
        </p:nvSpPr>
        <p:spPr>
          <a:xfrm>
            <a:off x="1051559" y="2484817"/>
            <a:ext cx="6757235" cy="4156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000"/>
              </a:spcAft>
            </a:pPr>
            <a:r>
              <a:rPr lang="ru-RU" sz="2800" b="1" dirty="0">
                <a:solidFill>
                  <a:schemeClr val="bg1"/>
                </a:solidFill>
                <a:ea typeface="Calibri Bold" pitchFamily="34" charset="-122"/>
                <a:cs typeface="Calibri Bold" pitchFamily="34" charset="-120"/>
              </a:rPr>
              <a:t>Полностью отечественный </a:t>
            </a:r>
            <a:r>
              <a:rPr lang="ru-RU" sz="2800" b="1" dirty="0" smtClean="0">
                <a:solidFill>
                  <a:schemeClr val="bg1"/>
                </a:solidFill>
                <a:ea typeface="Calibri Bold" pitchFamily="34" charset="-122"/>
                <a:cs typeface="Calibri Bold" pitchFamily="34" charset="-120"/>
              </a:rPr>
              <a:t>продукт, не </a:t>
            </a:r>
            <a:r>
              <a:rPr lang="ru-RU" sz="2800" b="1" dirty="0">
                <a:solidFill>
                  <a:schemeClr val="bg1"/>
                </a:solidFill>
                <a:ea typeface="Calibri Bold" pitchFamily="34" charset="-122"/>
                <a:cs typeface="Calibri Bold" pitchFamily="34" charset="-120"/>
              </a:rPr>
              <a:t>требует дополнительного лицензирования компонентов от зарубежных производителей ПО</a:t>
            </a:r>
            <a:r>
              <a:rPr lang="ru-RU" sz="2800" b="1" dirty="0" smtClean="0">
                <a:solidFill>
                  <a:srgbClr val="FF0000"/>
                </a:solidFill>
                <a:ea typeface="Calibri Bold" pitchFamily="34" charset="-122"/>
                <a:cs typeface="Calibri Bold" pitchFamily="34" charset="-120"/>
              </a:rPr>
              <a:t/>
            </a:r>
            <a:br>
              <a:rPr lang="ru-RU" sz="2800" b="1" dirty="0" smtClean="0">
                <a:solidFill>
                  <a:srgbClr val="FF0000"/>
                </a:solidFill>
                <a:ea typeface="Calibri Bold" pitchFamily="34" charset="-122"/>
                <a:cs typeface="Calibri Bold" pitchFamily="34" charset="-120"/>
              </a:rPr>
            </a:br>
            <a:endParaRPr lang="en-US" sz="2800" b="1" dirty="0">
              <a:solidFill>
                <a:srgbClr val="FF0000"/>
              </a:solidFill>
              <a:ea typeface="Calibri Bold" pitchFamily="34" charset="-122"/>
              <a:cs typeface="Calibri Bold" pitchFamily="34" charset="-120"/>
            </a:endParaRPr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791133" y="2509838"/>
            <a:ext cx="4869" cy="1630362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bject18"/>
          <p:cNvSpPr/>
          <p:nvPr/>
        </p:nvSpPr>
        <p:spPr>
          <a:xfrm>
            <a:off x="796002" y="1370960"/>
            <a:ext cx="6937953" cy="717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425"/>
              </a:lnSpc>
            </a:pPr>
            <a:r>
              <a:rPr lang="en-US" sz="4500" b="1" dirty="0" err="1">
                <a:solidFill>
                  <a:srgbClr val="FFFFFF"/>
                </a:solidFill>
                <a:ea typeface="Calibri Bold" pitchFamily="34" charset="-122"/>
                <a:cs typeface="Calibri Bold" pitchFamily="34" charset="-120"/>
              </a:rPr>
              <a:t>Ключевые</a:t>
            </a:r>
            <a:r>
              <a:rPr lang="en-US" sz="4500" b="1" dirty="0">
                <a:solidFill>
                  <a:srgbClr val="FFFFFF"/>
                </a:solidFill>
                <a:ea typeface="Calibri Bold" pitchFamily="34" charset="-122"/>
                <a:cs typeface="Calibri Bold" pitchFamily="34" charset="-120"/>
              </a:rPr>
              <a:t> </a:t>
            </a:r>
            <a:r>
              <a:rPr lang="en-US" sz="4500" b="1" dirty="0" err="1">
                <a:solidFill>
                  <a:srgbClr val="FFFFFF"/>
                </a:solidFill>
                <a:ea typeface="Calibri Bold" pitchFamily="34" charset="-122"/>
                <a:cs typeface="Calibri Bold" pitchFamily="34" charset="-120"/>
              </a:rPr>
              <a:t>возможности</a:t>
            </a:r>
            <a:endParaRPr lang="en-US" sz="4500" b="1" dirty="0">
              <a:solidFill>
                <a:srgbClr val="FFFFFF"/>
              </a:solidFill>
              <a:ea typeface="Calibri Bold" pitchFamily="34" charset="-122"/>
              <a:cs typeface="Calibri Bold" pitchFamily="34" charset="-120"/>
            </a:endParaRPr>
          </a:p>
        </p:txBody>
      </p:sp>
      <p:sp>
        <p:nvSpPr>
          <p:cNvPr id="17" name="Номер слайда 1"/>
          <p:cNvSpPr txBox="1">
            <a:spLocks/>
          </p:cNvSpPr>
          <p:nvPr/>
        </p:nvSpPr>
        <p:spPr>
          <a:xfrm rot="5400000">
            <a:off x="17145011" y="9437350"/>
            <a:ext cx="808712" cy="547688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fld id="{1A8E40EB-114F-4E94-B88F-245C4D8BC53F}" type="slidenum">
              <a:rPr lang="ru-RU" altLang="ru-RU" smtClean="0"/>
              <a:pPr/>
              <a:t>5</a:t>
            </a:fld>
            <a:endParaRPr lang="ru-RU" altLang="ru-RU" dirty="0"/>
          </a:p>
        </p:txBody>
      </p:sp>
      <p:sp>
        <p:nvSpPr>
          <p:cNvPr id="18" name="Прямоугольник 17"/>
          <p:cNvSpPr/>
          <p:nvPr/>
        </p:nvSpPr>
        <p:spPr>
          <a:xfrm>
            <a:off x="0" y="134892"/>
            <a:ext cx="780879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 err="1" smtClean="0">
                <a:solidFill>
                  <a:schemeClr val="bg1"/>
                </a:solidFill>
                <a:latin typeface="Calibri Bold" panose="020F0702030404030204" pitchFamily="34" charset="0"/>
                <a:cs typeface="Calibri Bold" panose="020F0702030404030204" pitchFamily="34" charset="0"/>
              </a:rPr>
              <a:t>ДатаПлат</a:t>
            </a:r>
            <a:r>
              <a:rPr lang="ru-RU" sz="3200" b="1" dirty="0" smtClean="0">
                <a:solidFill>
                  <a:schemeClr val="bg1"/>
                </a:solidFill>
                <a:latin typeface="Calibri Bold" panose="020F0702030404030204" pitchFamily="34" charset="0"/>
                <a:cs typeface="Calibri Bold" panose="020F0702030404030204" pitchFamily="34" charset="0"/>
              </a:rPr>
              <a:t> </a:t>
            </a:r>
            <a:r>
              <a:rPr lang="ru-RU" sz="3200" b="1" dirty="0" err="1" smtClean="0">
                <a:solidFill>
                  <a:schemeClr val="bg1"/>
                </a:solidFill>
                <a:latin typeface="Calibri Bold" panose="020F0702030404030204" pitchFamily="34" charset="0"/>
                <a:cs typeface="Calibri Bold" panose="020F0702030404030204" pitchFamily="34" charset="0"/>
              </a:rPr>
              <a:t>Производство.Сервер</a:t>
            </a:r>
            <a:r>
              <a:rPr lang="ru-RU" sz="3200" b="1" dirty="0" smtClean="0">
                <a:solidFill>
                  <a:schemeClr val="bg1"/>
                </a:solidFill>
                <a:latin typeface="Calibri Bold" panose="020F0702030404030204" pitchFamily="34" charset="0"/>
                <a:cs typeface="Calibri Bold" panose="020F0702030404030204" pitchFamily="34" charset="0"/>
              </a:rPr>
              <a:t> тревог</a:t>
            </a:r>
            <a:endParaRPr lang="ru-RU" sz="3200" b="1" dirty="0">
              <a:solidFill>
                <a:srgbClr val="FF0000"/>
              </a:solidFill>
              <a:latin typeface="Calibri Bold" panose="020F0702030404030204" pitchFamily="34" charset="0"/>
              <a:cs typeface="Calibri Bold" panose="020F0702030404030204" pitchFamily="34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2012" y="427279"/>
            <a:ext cx="9383511" cy="45552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Рисунок 31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xmlns="" id="{CA2BCB0D-DE71-4393-BA59-14EF3FC2E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77"/>
            <a:ext cx="18288000" cy="10281645"/>
          </a:xfrm>
          <a:prstGeom prst="rect">
            <a:avLst/>
          </a:prstGeom>
        </p:spPr>
      </p:pic>
      <p:pic>
        <p:nvPicPr>
          <p:cNvPr id="37" name="Object 36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9"/>
              </a:ext>
            </a:extLst>
          </a:blip>
          <a:srcRect/>
          <a:stretch/>
        </p:blipFill>
        <p:spPr>
          <a:xfrm>
            <a:off x="17611725" y="2357438"/>
            <a:ext cx="38100" cy="6724650"/>
          </a:xfrm>
          <a:prstGeom prst="rect">
            <a:avLst/>
          </a:prstGeom>
        </p:spPr>
      </p:pic>
      <p:pic>
        <p:nvPicPr>
          <p:cNvPr id="38" name="Object 37" descr="preencoded.png"/>
          <p:cNvPicPr>
            <a:picLocks noChangeAspect="1"/>
          </p:cNvPicPr>
          <p:nvPr/>
        </p:nvPicPr>
        <p:blipFill>
          <a:blip r:embed="rId70">
            <a:extLst>
              <a:ext uri="{96DAC541-7B7A-43D3-8B79-37D633B846F1}">
                <asvg:svgBlip xmlns:asvg="http://schemas.microsoft.com/office/drawing/2016/SVG/main" xmlns="" r:embed="rId71"/>
              </a:ext>
            </a:extLst>
          </a:blip>
          <a:srcRect/>
          <a:stretch/>
        </p:blipFill>
        <p:spPr>
          <a:xfrm>
            <a:off x="17421225" y="504825"/>
            <a:ext cx="571500" cy="1638300"/>
          </a:xfrm>
          <a:prstGeom prst="rect">
            <a:avLst/>
          </a:prstGeom>
        </p:spPr>
      </p:pic>
      <p:cxnSp>
        <p:nvCxnSpPr>
          <p:cNvPr id="57" name="Прямая соединительная линия 56"/>
          <p:cNvCxnSpPr/>
          <p:nvPr/>
        </p:nvCxnSpPr>
        <p:spPr>
          <a:xfrm>
            <a:off x="650202" y="3213875"/>
            <a:ext cx="0" cy="5183676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bject18"/>
          <p:cNvSpPr/>
          <p:nvPr/>
        </p:nvSpPr>
        <p:spPr>
          <a:xfrm>
            <a:off x="242596" y="1218560"/>
            <a:ext cx="7338959" cy="717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425"/>
              </a:lnSpc>
            </a:pPr>
            <a:r>
              <a:rPr lang="ru-RU" sz="4500" b="1" dirty="0" smtClean="0">
                <a:solidFill>
                  <a:srgbClr val="FFFFFF"/>
                </a:solidFill>
                <a:cs typeface="Calibri Bold" pitchFamily="34" charset="-120"/>
              </a:rPr>
              <a:t>Функциональность решения по управлению аварийной сигнализацией</a:t>
            </a:r>
            <a:endParaRPr lang="ru-RU" sz="4500" b="1" dirty="0">
              <a:solidFill>
                <a:srgbClr val="FFFFFF"/>
              </a:solidFill>
              <a:cs typeface="Calibri Bold" pitchFamily="34" charset="-120"/>
            </a:endParaRPr>
          </a:p>
        </p:txBody>
      </p:sp>
      <p:sp>
        <p:nvSpPr>
          <p:cNvPr id="23" name="Object28"/>
          <p:cNvSpPr/>
          <p:nvPr/>
        </p:nvSpPr>
        <p:spPr>
          <a:xfrm>
            <a:off x="899159" y="3116178"/>
            <a:ext cx="6757235" cy="6190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ru-RU" sz="2800" b="1" dirty="0" smtClean="0">
                <a:solidFill>
                  <a:srgbClr val="FFFFFF"/>
                </a:solidFill>
                <a:ea typeface="Calibri Bold" pitchFamily="34" charset="-122"/>
                <a:cs typeface="Calibri Bold" pitchFamily="34" charset="-120"/>
              </a:rPr>
              <a:t>Реестр сигналов тревог и событий АСУТП</a:t>
            </a:r>
          </a:p>
          <a:p>
            <a:pPr marL="457200" indent="-4572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ru-RU" sz="2800" b="1" dirty="0" smtClean="0">
                <a:solidFill>
                  <a:srgbClr val="FFFFFF"/>
                </a:solidFill>
                <a:ea typeface="Calibri Bold" pitchFamily="34" charset="-122"/>
                <a:cs typeface="Calibri Bold" pitchFamily="34" charset="-120"/>
              </a:rPr>
              <a:t>Экспертная база сигналов тревог</a:t>
            </a:r>
          </a:p>
          <a:p>
            <a:pPr marL="457200" indent="-4572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ru-RU" sz="2800" b="1" dirty="0" smtClean="0">
                <a:solidFill>
                  <a:srgbClr val="FFFFFF"/>
                </a:solidFill>
                <a:ea typeface="Calibri Bold" pitchFamily="34" charset="-122"/>
                <a:cs typeface="Calibri Bold" pitchFamily="34" charset="-120"/>
              </a:rPr>
              <a:t>Он-</a:t>
            </a:r>
            <a:r>
              <a:rPr lang="ru-RU" sz="2800" b="1" dirty="0" err="1" smtClean="0">
                <a:solidFill>
                  <a:srgbClr val="FFFFFF"/>
                </a:solidFill>
                <a:ea typeface="Calibri Bold" pitchFamily="34" charset="-122"/>
                <a:cs typeface="Calibri Bold" pitchFamily="34" charset="-120"/>
              </a:rPr>
              <a:t>лайн</a:t>
            </a:r>
            <a:r>
              <a:rPr lang="ru-RU" sz="2800" b="1" dirty="0" smtClean="0">
                <a:solidFill>
                  <a:srgbClr val="FFFFFF"/>
                </a:solidFill>
                <a:ea typeface="Calibri Bold" pitchFamily="34" charset="-122"/>
                <a:cs typeface="Calibri Bold" pitchFamily="34" charset="-120"/>
              </a:rPr>
              <a:t> аналитика сигналов тревог</a:t>
            </a:r>
          </a:p>
          <a:p>
            <a:pPr marL="457200" indent="-4572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ru-RU" sz="2800" b="1" dirty="0" smtClean="0">
                <a:solidFill>
                  <a:srgbClr val="FFFFFF"/>
                </a:solidFill>
                <a:ea typeface="Calibri Bold" pitchFamily="34" charset="-122"/>
                <a:cs typeface="Calibri Bold" pitchFamily="34" charset="-120"/>
              </a:rPr>
              <a:t>Типовые аналитические отчеты по сигналам тревог</a:t>
            </a:r>
          </a:p>
          <a:p>
            <a:pPr marL="457200" indent="-4572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ru-RU" sz="2800" b="1" dirty="0" smtClean="0">
                <a:solidFill>
                  <a:srgbClr val="FFFFFF"/>
                </a:solidFill>
                <a:ea typeface="Calibri Bold" pitchFamily="34" charset="-122"/>
                <a:cs typeface="Calibri Bold" pitchFamily="34" charset="-120"/>
              </a:rPr>
              <a:t>Управление профилями пользователей и конфигурирование параметров аналитик</a:t>
            </a:r>
          </a:p>
          <a:p>
            <a:pPr marL="457200" indent="-4572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ru-RU" sz="2800" b="1" dirty="0" smtClean="0">
                <a:solidFill>
                  <a:srgbClr val="FFFFFF"/>
                </a:solidFill>
                <a:ea typeface="Calibri Bold" pitchFamily="34" charset="-122"/>
                <a:cs typeface="Calibri Bold" pitchFamily="34" charset="-120"/>
              </a:rPr>
              <a:t>Загрузка исходных данных по сигналам тревог и событиям и управление хранением данных</a:t>
            </a:r>
            <a:endParaRPr lang="ru-RU" sz="2800" b="1" dirty="0">
              <a:solidFill>
                <a:srgbClr val="FFFFFF"/>
              </a:solidFill>
              <a:ea typeface="Calibri Bold" pitchFamily="34" charset="-122"/>
              <a:cs typeface="Calibri Bold" pitchFamily="34" charset="-120"/>
            </a:endParaRPr>
          </a:p>
          <a:p>
            <a:pPr marL="457200" indent="-457200">
              <a:spcAft>
                <a:spcPts val="1800"/>
              </a:spcAft>
              <a:buFont typeface="Arial" panose="020B0604020202020204" pitchFamily="34" charset="0"/>
              <a:buChar char="•"/>
            </a:pPr>
            <a:endParaRPr lang="ru-RU" sz="2800" b="1" dirty="0">
              <a:solidFill>
                <a:srgbClr val="FFFFFF"/>
              </a:solidFill>
              <a:ea typeface="Calibri Bold" pitchFamily="34" charset="-122"/>
              <a:cs typeface="Calibri Bold" pitchFamily="34" charset="-120"/>
            </a:endParaRPr>
          </a:p>
        </p:txBody>
      </p:sp>
      <p:sp>
        <p:nvSpPr>
          <p:cNvPr id="12" name="Номер слайда 1"/>
          <p:cNvSpPr txBox="1">
            <a:spLocks/>
          </p:cNvSpPr>
          <p:nvPr/>
        </p:nvSpPr>
        <p:spPr>
          <a:xfrm rot="5400000">
            <a:off x="17145011" y="9437350"/>
            <a:ext cx="808712" cy="547688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fld id="{1A8E40EB-114F-4E94-B88F-245C4D8BC53F}" type="slidenum">
              <a:rPr lang="ru-RU" altLang="ru-RU" smtClean="0"/>
              <a:pPr/>
              <a:t>6</a:t>
            </a:fld>
            <a:endParaRPr lang="ru-RU" altLang="ru-RU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0" y="134892"/>
            <a:ext cx="780879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 err="1" smtClean="0">
                <a:solidFill>
                  <a:schemeClr val="bg1"/>
                </a:solidFill>
                <a:latin typeface="Calibri Bold" panose="020F0702030404030204" pitchFamily="34" charset="0"/>
                <a:cs typeface="Calibri Bold" panose="020F0702030404030204" pitchFamily="34" charset="0"/>
              </a:rPr>
              <a:t>ДатаПлат</a:t>
            </a:r>
            <a:r>
              <a:rPr lang="ru-RU" sz="3200" b="1" dirty="0" smtClean="0">
                <a:solidFill>
                  <a:schemeClr val="bg1"/>
                </a:solidFill>
                <a:latin typeface="Calibri Bold" panose="020F0702030404030204" pitchFamily="34" charset="0"/>
                <a:cs typeface="Calibri Bold" panose="020F0702030404030204" pitchFamily="34" charset="0"/>
              </a:rPr>
              <a:t> </a:t>
            </a:r>
            <a:r>
              <a:rPr lang="ru-RU" sz="3200" b="1" dirty="0" err="1" smtClean="0">
                <a:solidFill>
                  <a:schemeClr val="bg1"/>
                </a:solidFill>
                <a:latin typeface="Calibri Bold" panose="020F0702030404030204" pitchFamily="34" charset="0"/>
                <a:cs typeface="Calibri Bold" panose="020F0702030404030204" pitchFamily="34" charset="0"/>
              </a:rPr>
              <a:t>Производство.Сервер</a:t>
            </a:r>
            <a:r>
              <a:rPr lang="ru-RU" sz="3200" b="1" dirty="0" smtClean="0">
                <a:solidFill>
                  <a:schemeClr val="bg1"/>
                </a:solidFill>
                <a:latin typeface="Calibri Bold" panose="020F0702030404030204" pitchFamily="34" charset="0"/>
                <a:cs typeface="Calibri Bold" panose="020F0702030404030204" pitchFamily="34" charset="0"/>
              </a:rPr>
              <a:t> тревог</a:t>
            </a:r>
            <a:endParaRPr lang="ru-RU" sz="3200" b="1" dirty="0">
              <a:solidFill>
                <a:srgbClr val="FF0000"/>
              </a:solidFill>
              <a:latin typeface="Calibri Bold" panose="020F0702030404030204" pitchFamily="34" charset="0"/>
              <a:cs typeface="Calibri Bold" panose="020F0702030404030204" pitchFamily="34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0401" y="429206"/>
            <a:ext cx="6050416" cy="964834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6638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Рисунок 31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xmlns="" id="{CA2BCB0D-DE71-4393-BA59-14EF3FC2E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77"/>
            <a:ext cx="18288000" cy="10281645"/>
          </a:xfrm>
          <a:prstGeom prst="rect">
            <a:avLst/>
          </a:prstGeom>
        </p:spPr>
      </p:pic>
      <p:pic>
        <p:nvPicPr>
          <p:cNvPr id="37" name="Object 36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9"/>
              </a:ext>
            </a:extLst>
          </a:blip>
          <a:srcRect/>
          <a:stretch/>
        </p:blipFill>
        <p:spPr>
          <a:xfrm>
            <a:off x="17611725" y="2357438"/>
            <a:ext cx="38100" cy="6724650"/>
          </a:xfrm>
          <a:prstGeom prst="rect">
            <a:avLst/>
          </a:prstGeom>
        </p:spPr>
      </p:pic>
      <p:pic>
        <p:nvPicPr>
          <p:cNvPr id="38" name="Object 37" descr="preencoded.png"/>
          <p:cNvPicPr>
            <a:picLocks noChangeAspect="1"/>
          </p:cNvPicPr>
          <p:nvPr/>
        </p:nvPicPr>
        <p:blipFill>
          <a:blip r:embed="rId70">
            <a:extLst>
              <a:ext uri="{96DAC541-7B7A-43D3-8B79-37D633B846F1}">
                <asvg:svgBlip xmlns:asvg="http://schemas.microsoft.com/office/drawing/2016/SVG/main" xmlns="" r:embed="rId71"/>
              </a:ext>
            </a:extLst>
          </a:blip>
          <a:srcRect/>
          <a:stretch/>
        </p:blipFill>
        <p:spPr>
          <a:xfrm>
            <a:off x="17421225" y="504825"/>
            <a:ext cx="571500" cy="1638300"/>
          </a:xfrm>
          <a:prstGeom prst="rect">
            <a:avLst/>
          </a:prstGeom>
        </p:spPr>
      </p:pic>
      <p:cxnSp>
        <p:nvCxnSpPr>
          <p:cNvPr id="57" name="Прямая соединительная линия 56"/>
          <p:cNvCxnSpPr/>
          <p:nvPr/>
        </p:nvCxnSpPr>
        <p:spPr>
          <a:xfrm>
            <a:off x="650202" y="3213875"/>
            <a:ext cx="0" cy="5183676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bject18"/>
          <p:cNvSpPr/>
          <p:nvPr/>
        </p:nvSpPr>
        <p:spPr>
          <a:xfrm>
            <a:off x="242596" y="1218560"/>
            <a:ext cx="7338959" cy="717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425"/>
              </a:lnSpc>
            </a:pPr>
            <a:r>
              <a:rPr lang="ru-RU" sz="4500" b="1" dirty="0" smtClean="0">
                <a:solidFill>
                  <a:srgbClr val="FFFFFF"/>
                </a:solidFill>
                <a:cs typeface="Calibri Bold" pitchFamily="34" charset="-120"/>
              </a:rPr>
              <a:t>Системная архитектура решения по управлению аварийной сигнализацией</a:t>
            </a:r>
            <a:endParaRPr lang="ru-RU" sz="4500" b="1" dirty="0">
              <a:solidFill>
                <a:srgbClr val="FFFFFF"/>
              </a:solidFill>
              <a:cs typeface="Calibri Bold" pitchFamily="34" charset="-120"/>
            </a:endParaRPr>
          </a:p>
        </p:txBody>
      </p:sp>
      <p:sp>
        <p:nvSpPr>
          <p:cNvPr id="23" name="Object28"/>
          <p:cNvSpPr/>
          <p:nvPr/>
        </p:nvSpPr>
        <p:spPr>
          <a:xfrm>
            <a:off x="899159" y="3116178"/>
            <a:ext cx="6757235" cy="6190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ru-RU" sz="2800" b="1" dirty="0" err="1" smtClean="0">
                <a:solidFill>
                  <a:srgbClr val="FFFFFF"/>
                </a:solidFill>
                <a:ea typeface="Calibri Bold" pitchFamily="34" charset="-122"/>
                <a:cs typeface="Calibri Bold" pitchFamily="34" charset="-120"/>
              </a:rPr>
              <a:t>ДатаПлат</a:t>
            </a:r>
            <a:r>
              <a:rPr lang="ru-RU" sz="2800" b="1" dirty="0" smtClean="0">
                <a:solidFill>
                  <a:srgbClr val="FFFFFF"/>
                </a:solidFill>
                <a:ea typeface="Calibri Bold" pitchFamily="34" charset="-122"/>
                <a:cs typeface="Calibri Bold" pitchFamily="34" charset="-120"/>
              </a:rPr>
              <a:t> </a:t>
            </a:r>
            <a:r>
              <a:rPr lang="ru-RU" sz="2800" b="1" dirty="0" err="1">
                <a:solidFill>
                  <a:srgbClr val="FFFFFF"/>
                </a:solidFill>
                <a:ea typeface="Calibri Bold" pitchFamily="34" charset="-122"/>
                <a:cs typeface="Calibri Bold" pitchFamily="34" charset="-120"/>
              </a:rPr>
              <a:t>Производство.Сервер</a:t>
            </a:r>
            <a:r>
              <a:rPr lang="ru-RU" sz="2800" b="1" dirty="0">
                <a:solidFill>
                  <a:srgbClr val="FFFFFF"/>
                </a:solidFill>
                <a:ea typeface="Calibri Bold" pitchFamily="34" charset="-122"/>
                <a:cs typeface="Calibri Bold" pitchFamily="34" charset="-120"/>
              </a:rPr>
              <a:t> </a:t>
            </a:r>
            <a:r>
              <a:rPr lang="ru-RU" sz="2800" b="1" dirty="0" smtClean="0">
                <a:solidFill>
                  <a:srgbClr val="FFFFFF"/>
                </a:solidFill>
                <a:ea typeface="Calibri Bold" pitchFamily="34" charset="-122"/>
                <a:cs typeface="Calibri Bold" pitchFamily="34" charset="-120"/>
              </a:rPr>
              <a:t>тревог</a:t>
            </a:r>
            <a:endParaRPr lang="ru-RU" sz="2800" b="1" dirty="0">
              <a:solidFill>
                <a:srgbClr val="FFFFFF"/>
              </a:solidFill>
              <a:ea typeface="Calibri Bold" pitchFamily="34" charset="-122"/>
              <a:cs typeface="Calibri Bold" pitchFamily="34" charset="-120"/>
            </a:endParaRPr>
          </a:p>
          <a:p>
            <a:pPr marL="457200" indent="-4572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ru-RU" sz="2800" b="1" dirty="0" smtClean="0">
                <a:solidFill>
                  <a:srgbClr val="FFFFFF"/>
                </a:solidFill>
                <a:ea typeface="Calibri Bold" pitchFamily="34" charset="-122"/>
                <a:cs typeface="Calibri Bold" pitchFamily="34" charset="-120"/>
              </a:rPr>
              <a:t>Цифровая платформа </a:t>
            </a:r>
            <a:r>
              <a:rPr lang="ru-RU" sz="2800" b="1" dirty="0" err="1" smtClean="0">
                <a:solidFill>
                  <a:srgbClr val="FFFFFF"/>
                </a:solidFill>
                <a:ea typeface="Calibri Bold" pitchFamily="34" charset="-122"/>
                <a:cs typeface="Calibri Bold" pitchFamily="34" charset="-120"/>
              </a:rPr>
              <a:t>ДатаПлат</a:t>
            </a:r>
            <a:endParaRPr lang="ru-RU" sz="2800" b="1" dirty="0">
              <a:solidFill>
                <a:srgbClr val="FFFFFF"/>
              </a:solidFill>
              <a:ea typeface="Calibri Bold" pitchFamily="34" charset="-122"/>
              <a:cs typeface="Calibri Bold" pitchFamily="34" charset="-120"/>
            </a:endParaRPr>
          </a:p>
          <a:p>
            <a:pPr marL="457200" indent="-4572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ru-RU" sz="2800" b="1" dirty="0" smtClean="0">
                <a:solidFill>
                  <a:srgbClr val="FFFFFF"/>
                </a:solidFill>
                <a:ea typeface="Calibri Bold" pitchFamily="34" charset="-122"/>
                <a:cs typeface="Calibri Bold" pitchFamily="34" charset="-120"/>
              </a:rPr>
              <a:t>БДВР </a:t>
            </a:r>
            <a:r>
              <a:rPr lang="en-US" sz="2800" b="1" dirty="0" err="1" smtClean="0">
                <a:solidFill>
                  <a:srgbClr val="FFFFFF"/>
                </a:solidFill>
                <a:ea typeface="Calibri Bold" pitchFamily="34" charset="-122"/>
                <a:cs typeface="Calibri Bold" pitchFamily="34" charset="-120"/>
              </a:rPr>
              <a:t>ClickHouse</a:t>
            </a:r>
            <a:r>
              <a:rPr lang="ru-RU" sz="2800" b="1" dirty="0" smtClean="0">
                <a:solidFill>
                  <a:srgbClr val="FFFFFF"/>
                </a:solidFill>
                <a:ea typeface="Calibri Bold" pitchFamily="34" charset="-122"/>
                <a:cs typeface="Calibri Bold" pitchFamily="34" charset="-120"/>
              </a:rPr>
              <a:t> для хранения данных о сигналах тревог и событиях АСТУП</a:t>
            </a:r>
          </a:p>
          <a:p>
            <a:pPr marL="457200" indent="-4572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rgbClr val="FFFFFF"/>
                </a:solidFill>
                <a:ea typeface="Calibri Bold" pitchFamily="34" charset="-122"/>
                <a:cs typeface="Calibri Bold" pitchFamily="34" charset="-120"/>
              </a:rPr>
              <a:t>РБД </a:t>
            </a:r>
            <a:r>
              <a:rPr lang="en-US" sz="2800" b="1" dirty="0">
                <a:solidFill>
                  <a:srgbClr val="FFFFFF"/>
                </a:solidFill>
                <a:ea typeface="Calibri Bold" pitchFamily="34" charset="-122"/>
                <a:cs typeface="Calibri Bold" pitchFamily="34" charset="-120"/>
              </a:rPr>
              <a:t>PostgreSQL</a:t>
            </a:r>
            <a:r>
              <a:rPr lang="ru-RU" sz="2800" b="1" dirty="0">
                <a:solidFill>
                  <a:srgbClr val="FFFFFF"/>
                </a:solidFill>
                <a:ea typeface="Calibri Bold" pitchFamily="34" charset="-122"/>
                <a:cs typeface="Calibri Bold" pitchFamily="34" charset="-120"/>
              </a:rPr>
              <a:t> для хранения операционных данных, включая данные экспертной базы сигналов тревог</a:t>
            </a:r>
          </a:p>
          <a:p>
            <a:pPr marL="457200" indent="-4572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rgbClr val="FFFFFF"/>
                </a:solidFill>
                <a:ea typeface="Calibri Bold" pitchFamily="34" charset="-122"/>
                <a:cs typeface="Calibri Bold" pitchFamily="34" charset="-120"/>
              </a:rPr>
              <a:t>Вспомогательное ПО для мониторинга состояния системы и обмена данными</a:t>
            </a:r>
          </a:p>
          <a:p>
            <a:pPr marL="457200" indent="-457200">
              <a:spcAft>
                <a:spcPts val="1800"/>
              </a:spcAft>
              <a:buFont typeface="Arial" panose="020B0604020202020204" pitchFamily="34" charset="0"/>
              <a:buChar char="•"/>
            </a:pPr>
            <a:endParaRPr lang="ru-RU" sz="2800" b="1" dirty="0">
              <a:solidFill>
                <a:srgbClr val="FFFFFF"/>
              </a:solidFill>
              <a:ea typeface="Calibri Bold" pitchFamily="34" charset="-122"/>
              <a:cs typeface="Calibri Bold" pitchFamily="34" charset="-120"/>
            </a:endParaRPr>
          </a:p>
        </p:txBody>
      </p:sp>
      <p:sp>
        <p:nvSpPr>
          <p:cNvPr id="12" name="Номер слайда 1"/>
          <p:cNvSpPr txBox="1">
            <a:spLocks/>
          </p:cNvSpPr>
          <p:nvPr/>
        </p:nvSpPr>
        <p:spPr>
          <a:xfrm rot="5400000">
            <a:off x="17145011" y="9437350"/>
            <a:ext cx="808712" cy="547688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fld id="{1A8E40EB-114F-4E94-B88F-245C4D8BC53F}" type="slidenum">
              <a:rPr lang="ru-RU" altLang="ru-RU" smtClean="0"/>
              <a:pPr/>
              <a:t>7</a:t>
            </a:fld>
            <a:endParaRPr lang="ru-RU" altLang="ru-RU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0" y="134892"/>
            <a:ext cx="780879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 err="1" smtClean="0">
                <a:solidFill>
                  <a:schemeClr val="bg1"/>
                </a:solidFill>
                <a:latin typeface="Calibri Bold" panose="020F0702030404030204" pitchFamily="34" charset="0"/>
                <a:cs typeface="Calibri Bold" panose="020F0702030404030204" pitchFamily="34" charset="0"/>
              </a:rPr>
              <a:t>ДатаПлат</a:t>
            </a:r>
            <a:r>
              <a:rPr lang="ru-RU" sz="3200" b="1" dirty="0" smtClean="0">
                <a:solidFill>
                  <a:schemeClr val="bg1"/>
                </a:solidFill>
                <a:latin typeface="Calibri Bold" panose="020F0702030404030204" pitchFamily="34" charset="0"/>
                <a:cs typeface="Calibri Bold" panose="020F0702030404030204" pitchFamily="34" charset="0"/>
              </a:rPr>
              <a:t> </a:t>
            </a:r>
            <a:r>
              <a:rPr lang="ru-RU" sz="3200" b="1" dirty="0" err="1" smtClean="0">
                <a:solidFill>
                  <a:schemeClr val="bg1"/>
                </a:solidFill>
                <a:latin typeface="Calibri Bold" panose="020F0702030404030204" pitchFamily="34" charset="0"/>
                <a:cs typeface="Calibri Bold" panose="020F0702030404030204" pitchFamily="34" charset="0"/>
              </a:rPr>
              <a:t>Производство.Сервер</a:t>
            </a:r>
            <a:r>
              <a:rPr lang="ru-RU" sz="3200" b="1" dirty="0" smtClean="0">
                <a:solidFill>
                  <a:schemeClr val="bg1"/>
                </a:solidFill>
                <a:latin typeface="Calibri Bold" panose="020F0702030404030204" pitchFamily="34" charset="0"/>
                <a:cs typeface="Calibri Bold" panose="020F0702030404030204" pitchFamily="34" charset="0"/>
              </a:rPr>
              <a:t> тревог</a:t>
            </a:r>
            <a:endParaRPr lang="ru-RU" sz="3200" b="1" dirty="0">
              <a:solidFill>
                <a:srgbClr val="FF0000"/>
              </a:solidFill>
              <a:latin typeface="Calibri Bold" panose="020F0702030404030204" pitchFamily="34" charset="0"/>
              <a:cs typeface="Calibri Bold" panose="020F0702030404030204" pitchFamily="34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811" y="800499"/>
            <a:ext cx="9612432" cy="93004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Рисунок 31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xmlns="" id="{CA2BCB0D-DE71-4393-BA59-14EF3FC2E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77"/>
            <a:ext cx="18288000" cy="10281645"/>
          </a:xfrm>
          <a:prstGeom prst="rect">
            <a:avLst/>
          </a:prstGeom>
        </p:spPr>
      </p:pic>
      <p:pic>
        <p:nvPicPr>
          <p:cNvPr id="37" name="Object 36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9"/>
              </a:ext>
            </a:extLst>
          </a:blip>
          <a:srcRect/>
          <a:stretch/>
        </p:blipFill>
        <p:spPr>
          <a:xfrm>
            <a:off x="17611725" y="2357438"/>
            <a:ext cx="38100" cy="6724650"/>
          </a:xfrm>
          <a:prstGeom prst="rect">
            <a:avLst/>
          </a:prstGeom>
        </p:spPr>
      </p:pic>
      <p:pic>
        <p:nvPicPr>
          <p:cNvPr id="38" name="Object 37" descr="preencoded.png"/>
          <p:cNvPicPr>
            <a:picLocks noChangeAspect="1"/>
          </p:cNvPicPr>
          <p:nvPr/>
        </p:nvPicPr>
        <p:blipFill>
          <a:blip r:embed="rId70">
            <a:extLst>
              <a:ext uri="{96DAC541-7B7A-43D3-8B79-37D633B846F1}">
                <asvg:svgBlip xmlns:asvg="http://schemas.microsoft.com/office/drawing/2016/SVG/main" xmlns="" r:embed="rId71"/>
              </a:ext>
            </a:extLst>
          </a:blip>
          <a:srcRect/>
          <a:stretch/>
        </p:blipFill>
        <p:spPr>
          <a:xfrm>
            <a:off x="17421225" y="504825"/>
            <a:ext cx="571500" cy="1638300"/>
          </a:xfrm>
          <a:prstGeom prst="rect">
            <a:avLst/>
          </a:prstGeom>
        </p:spPr>
      </p:pic>
      <p:cxnSp>
        <p:nvCxnSpPr>
          <p:cNvPr id="57" name="Прямая соединительная линия 56"/>
          <p:cNvCxnSpPr/>
          <p:nvPr/>
        </p:nvCxnSpPr>
        <p:spPr>
          <a:xfrm>
            <a:off x="650202" y="3176553"/>
            <a:ext cx="0" cy="613028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bject18"/>
          <p:cNvSpPr/>
          <p:nvPr/>
        </p:nvSpPr>
        <p:spPr>
          <a:xfrm>
            <a:off x="317242" y="1218560"/>
            <a:ext cx="7264314" cy="717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425"/>
              </a:lnSpc>
            </a:pPr>
            <a:r>
              <a:rPr lang="ru-RU" sz="4500" b="1" dirty="0" smtClean="0">
                <a:solidFill>
                  <a:srgbClr val="FFFFFF"/>
                </a:solidFill>
                <a:cs typeface="Calibri Bold" pitchFamily="34" charset="-120"/>
              </a:rPr>
              <a:t>Российские </a:t>
            </a:r>
            <a:r>
              <a:rPr lang="ru-RU" sz="4500" b="1" dirty="0">
                <a:solidFill>
                  <a:srgbClr val="FFFFFF"/>
                </a:solidFill>
                <a:cs typeface="Calibri Bold" pitchFamily="34" charset="-120"/>
              </a:rPr>
              <a:t>программные продукты в основе решения по анализу сигналов </a:t>
            </a:r>
            <a:r>
              <a:rPr lang="ru-RU" sz="4500" b="1" dirty="0" smtClean="0">
                <a:solidFill>
                  <a:srgbClr val="FFFFFF"/>
                </a:solidFill>
                <a:cs typeface="Calibri Bold" pitchFamily="34" charset="-120"/>
              </a:rPr>
              <a:t>тревог</a:t>
            </a:r>
            <a:endParaRPr lang="ru-RU" sz="4500" b="1" dirty="0">
              <a:solidFill>
                <a:srgbClr val="FFFFFF"/>
              </a:solidFill>
              <a:cs typeface="Calibri Bold" pitchFamily="34" charset="-120"/>
            </a:endParaRPr>
          </a:p>
        </p:txBody>
      </p:sp>
      <p:sp>
        <p:nvSpPr>
          <p:cNvPr id="23" name="Object28"/>
          <p:cNvSpPr/>
          <p:nvPr/>
        </p:nvSpPr>
        <p:spPr>
          <a:xfrm>
            <a:off x="899159" y="3022874"/>
            <a:ext cx="6757235" cy="4156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ru-RU" sz="2800" b="1" dirty="0" err="1" smtClean="0">
                <a:solidFill>
                  <a:srgbClr val="FFFFFF"/>
                </a:solidFill>
                <a:ea typeface="Calibri Bold" pitchFamily="34" charset="-122"/>
                <a:cs typeface="Calibri Bold" pitchFamily="34" charset="-120"/>
              </a:rPr>
              <a:t>ДатаПлат</a:t>
            </a:r>
            <a:r>
              <a:rPr lang="ru-RU" sz="2800" b="1" dirty="0" smtClean="0">
                <a:solidFill>
                  <a:srgbClr val="FFFFFF"/>
                </a:solidFill>
                <a:ea typeface="Calibri Bold" pitchFamily="34" charset="-122"/>
                <a:cs typeface="Calibri Bold" pitchFamily="34" charset="-120"/>
              </a:rPr>
              <a:t> </a:t>
            </a:r>
            <a:r>
              <a:rPr lang="ru-RU" sz="2800" b="1" dirty="0" err="1">
                <a:solidFill>
                  <a:srgbClr val="FFFFFF"/>
                </a:solidFill>
                <a:ea typeface="Calibri Bold" pitchFamily="34" charset="-122"/>
                <a:cs typeface="Calibri Bold" pitchFamily="34" charset="-120"/>
              </a:rPr>
              <a:t>Производство.Сервер</a:t>
            </a:r>
            <a:r>
              <a:rPr lang="ru-RU" sz="2800" b="1" dirty="0">
                <a:solidFill>
                  <a:srgbClr val="FFFFFF"/>
                </a:solidFill>
                <a:ea typeface="Calibri Bold" pitchFamily="34" charset="-122"/>
                <a:cs typeface="Calibri Bold" pitchFamily="34" charset="-120"/>
              </a:rPr>
              <a:t> тревог и компоненты  программной платформы </a:t>
            </a:r>
            <a:r>
              <a:rPr lang="ru-RU" sz="2800" b="1" dirty="0" err="1">
                <a:solidFill>
                  <a:srgbClr val="FFFFFF"/>
                </a:solidFill>
                <a:ea typeface="Calibri Bold" pitchFamily="34" charset="-122"/>
                <a:cs typeface="Calibri Bold" pitchFamily="34" charset="-120"/>
              </a:rPr>
              <a:t>ДатаПлат</a:t>
            </a:r>
            <a:r>
              <a:rPr lang="ru-RU" sz="2800" b="1" dirty="0">
                <a:solidFill>
                  <a:srgbClr val="FFFFFF"/>
                </a:solidFill>
                <a:ea typeface="Calibri Bold" pitchFamily="34" charset="-122"/>
                <a:cs typeface="Calibri Bold" pitchFamily="34" charset="-120"/>
              </a:rPr>
              <a:t> зарегистрированы в Едином реестре российских программ для  ЭВМ</a:t>
            </a:r>
          </a:p>
          <a:p>
            <a:pPr marL="457200" indent="-4572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ru-RU" sz="2800" b="1" dirty="0" smtClean="0">
                <a:solidFill>
                  <a:srgbClr val="FFFFFF"/>
                </a:solidFill>
                <a:ea typeface="Calibri Bold" pitchFamily="34" charset="-122"/>
                <a:cs typeface="Calibri Bold" pitchFamily="34" charset="-120"/>
              </a:rPr>
              <a:t>Решения </a:t>
            </a:r>
            <a:r>
              <a:rPr lang="ru-RU" sz="2800" b="1" dirty="0">
                <a:solidFill>
                  <a:srgbClr val="FFFFFF"/>
                </a:solidFill>
                <a:ea typeface="Calibri Bold" pitchFamily="34" charset="-122"/>
                <a:cs typeface="Calibri Bold" pitchFamily="34" charset="-120"/>
              </a:rPr>
              <a:t>разработаны </a:t>
            </a:r>
            <a:r>
              <a:rPr lang="ru-RU" sz="2800" b="1" dirty="0" smtClean="0">
                <a:solidFill>
                  <a:srgbClr val="FFFFFF"/>
                </a:solidFill>
                <a:ea typeface="Calibri Bold" pitchFamily="34" charset="-122"/>
                <a:cs typeface="Calibri Bold" pitchFamily="34" charset="-120"/>
              </a:rPr>
              <a:t>российской компанией-разработчиком ПО </a:t>
            </a:r>
            <a:r>
              <a:rPr lang="ru-RU" sz="2800" b="1" dirty="0">
                <a:solidFill>
                  <a:srgbClr val="FFFFFF"/>
                </a:solidFill>
                <a:ea typeface="Calibri Bold" pitchFamily="34" charset="-122"/>
                <a:cs typeface="Calibri Bold" pitchFamily="34" charset="-120"/>
              </a:rPr>
              <a:t>полного </a:t>
            </a:r>
            <a:r>
              <a:rPr lang="ru-RU" sz="2800" b="1" dirty="0" smtClean="0">
                <a:solidFill>
                  <a:srgbClr val="FFFFFF"/>
                </a:solidFill>
                <a:ea typeface="Calibri Bold" pitchFamily="34" charset="-122"/>
                <a:cs typeface="Calibri Bold" pitchFamily="34" charset="-120"/>
              </a:rPr>
              <a:t>цикла</a:t>
            </a:r>
            <a:endParaRPr lang="ru-RU" sz="2800" b="1" dirty="0">
              <a:solidFill>
                <a:srgbClr val="FFFFFF"/>
              </a:solidFill>
              <a:ea typeface="Calibri Bold" pitchFamily="34" charset="-122"/>
              <a:cs typeface="Calibri Bold" pitchFamily="34" charset="-120"/>
            </a:endParaRPr>
          </a:p>
          <a:p>
            <a:pPr marL="457200" indent="-4572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ru-RU" sz="2800" b="1" dirty="0" smtClean="0">
                <a:solidFill>
                  <a:srgbClr val="FFFFFF"/>
                </a:solidFill>
                <a:ea typeface="Calibri Bold" pitchFamily="34" charset="-122"/>
                <a:cs typeface="Calibri Bold" pitchFamily="34" charset="-120"/>
              </a:rPr>
              <a:t>Решения </a:t>
            </a:r>
            <a:r>
              <a:rPr lang="ru-RU" sz="2800" b="1" dirty="0">
                <a:solidFill>
                  <a:srgbClr val="FFFFFF"/>
                </a:solidFill>
                <a:ea typeface="Calibri Bold" pitchFamily="34" charset="-122"/>
                <a:cs typeface="Calibri Bold" pitchFamily="34" charset="-120"/>
              </a:rPr>
              <a:t>независимы от санкций и третьих стран</a:t>
            </a:r>
          </a:p>
          <a:p>
            <a:pPr marL="457200" indent="-4572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ru-RU" sz="2800" b="1" dirty="0" smtClean="0">
                <a:solidFill>
                  <a:srgbClr val="FFFFFF"/>
                </a:solidFill>
                <a:ea typeface="Calibri Bold" pitchFamily="34" charset="-122"/>
                <a:cs typeface="Calibri Bold" pitchFamily="34" charset="-120"/>
              </a:rPr>
              <a:t>Исходные </a:t>
            </a:r>
            <a:r>
              <a:rPr lang="ru-RU" sz="2800" b="1" dirty="0">
                <a:solidFill>
                  <a:srgbClr val="FFFFFF"/>
                </a:solidFill>
                <a:ea typeface="Calibri Bold" pitchFamily="34" charset="-122"/>
                <a:cs typeface="Calibri Bold" pitchFamily="34" charset="-120"/>
              </a:rPr>
              <a:t>коды на территории РФ</a:t>
            </a:r>
          </a:p>
          <a:p>
            <a:pPr marL="457200" indent="-4572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ru-RU" sz="2800" b="1" dirty="0" smtClean="0">
                <a:solidFill>
                  <a:srgbClr val="FFFFFF"/>
                </a:solidFill>
                <a:ea typeface="Calibri Bold" pitchFamily="34" charset="-122"/>
                <a:cs typeface="Calibri Bold" pitchFamily="34" charset="-120"/>
              </a:rPr>
              <a:t>Решения </a:t>
            </a:r>
            <a:r>
              <a:rPr lang="ru-RU" sz="2800" b="1" dirty="0">
                <a:solidFill>
                  <a:srgbClr val="FFFFFF"/>
                </a:solidFill>
                <a:ea typeface="Calibri Bold" pitchFamily="34" charset="-122"/>
                <a:cs typeface="Calibri Bold" pitchFamily="34" charset="-120"/>
              </a:rPr>
              <a:t>обеспечены квалифицированной технической поддержкой</a:t>
            </a:r>
          </a:p>
        </p:txBody>
      </p:sp>
      <p:sp>
        <p:nvSpPr>
          <p:cNvPr id="14" name="Номер слайда 1"/>
          <p:cNvSpPr txBox="1">
            <a:spLocks/>
          </p:cNvSpPr>
          <p:nvPr/>
        </p:nvSpPr>
        <p:spPr>
          <a:xfrm rot="5400000">
            <a:off x="17145011" y="9437350"/>
            <a:ext cx="808712" cy="547688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fld id="{1A8E40EB-114F-4E94-B88F-245C4D8BC53F}" type="slidenum">
              <a:rPr lang="ru-RU" altLang="ru-RU" smtClean="0"/>
              <a:pPr/>
              <a:t>8</a:t>
            </a:fld>
            <a:endParaRPr lang="ru-RU" altLang="ru-RU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0" y="134892"/>
            <a:ext cx="780879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 err="1" smtClean="0">
                <a:solidFill>
                  <a:schemeClr val="bg1"/>
                </a:solidFill>
                <a:latin typeface="Calibri Bold" panose="020F0702030404030204" pitchFamily="34" charset="0"/>
                <a:cs typeface="Calibri Bold" panose="020F0702030404030204" pitchFamily="34" charset="0"/>
              </a:rPr>
              <a:t>ДатаПлат</a:t>
            </a:r>
            <a:r>
              <a:rPr lang="ru-RU" sz="3200" b="1" dirty="0" smtClean="0">
                <a:solidFill>
                  <a:schemeClr val="bg1"/>
                </a:solidFill>
                <a:latin typeface="Calibri Bold" panose="020F0702030404030204" pitchFamily="34" charset="0"/>
                <a:cs typeface="Calibri Bold" panose="020F0702030404030204" pitchFamily="34" charset="0"/>
              </a:rPr>
              <a:t> </a:t>
            </a:r>
            <a:r>
              <a:rPr lang="ru-RU" sz="3200" b="1" dirty="0" err="1" smtClean="0">
                <a:solidFill>
                  <a:schemeClr val="bg1"/>
                </a:solidFill>
                <a:latin typeface="Calibri Bold" panose="020F0702030404030204" pitchFamily="34" charset="0"/>
                <a:cs typeface="Calibri Bold" panose="020F0702030404030204" pitchFamily="34" charset="0"/>
              </a:rPr>
              <a:t>Производство.Сервер</a:t>
            </a:r>
            <a:r>
              <a:rPr lang="ru-RU" sz="3200" b="1" dirty="0" smtClean="0">
                <a:solidFill>
                  <a:schemeClr val="bg1"/>
                </a:solidFill>
                <a:latin typeface="Calibri Bold" panose="020F0702030404030204" pitchFamily="34" charset="0"/>
                <a:cs typeface="Calibri Bold" panose="020F0702030404030204" pitchFamily="34" charset="0"/>
              </a:rPr>
              <a:t> тревог</a:t>
            </a:r>
            <a:endParaRPr lang="ru-RU" sz="3200" b="1" dirty="0">
              <a:solidFill>
                <a:srgbClr val="FF0000"/>
              </a:solidFill>
              <a:latin typeface="Calibri Bold" panose="020F0702030404030204" pitchFamily="34" charset="0"/>
              <a:cs typeface="Calibri Bold" panose="020F0702030404030204" pitchFamily="34" charset="0"/>
            </a:endParaRPr>
          </a:p>
        </p:txBody>
      </p:sp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72" cstate="print"/>
          <a:srcRect/>
          <a:stretch>
            <a:fillRect/>
          </a:stretch>
        </p:blipFill>
        <p:spPr bwMode="auto">
          <a:xfrm>
            <a:off x="11959444" y="662808"/>
            <a:ext cx="3459197" cy="516476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</p:spPr>
      </p:pic>
      <p:pic>
        <p:nvPicPr>
          <p:cNvPr id="21" name="Picture 6"/>
          <p:cNvPicPr>
            <a:picLocks noChangeAspect="1" noChangeArrowheads="1"/>
          </p:cNvPicPr>
          <p:nvPr/>
        </p:nvPicPr>
        <p:blipFill>
          <a:blip r:embed="rId73" cstate="print"/>
          <a:srcRect/>
          <a:stretch>
            <a:fillRect/>
          </a:stretch>
        </p:blipFill>
        <p:spPr bwMode="auto">
          <a:xfrm>
            <a:off x="12323570" y="1245282"/>
            <a:ext cx="3559053" cy="5286572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</p:spPr>
      </p:pic>
      <p:pic>
        <p:nvPicPr>
          <p:cNvPr id="22" name="Picture 4"/>
          <p:cNvPicPr>
            <a:picLocks noChangeAspect="1" noChangeArrowheads="1"/>
          </p:cNvPicPr>
          <p:nvPr/>
        </p:nvPicPr>
        <p:blipFill>
          <a:blip r:embed="rId74" cstate="print"/>
          <a:srcRect/>
          <a:stretch>
            <a:fillRect/>
          </a:stretch>
        </p:blipFill>
        <p:spPr bwMode="auto">
          <a:xfrm>
            <a:off x="12604315" y="1714806"/>
            <a:ext cx="3542578" cy="5286572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</p:spPr>
      </p:pic>
      <p:pic>
        <p:nvPicPr>
          <p:cNvPr id="24" name="Picture 8"/>
          <p:cNvPicPr>
            <a:picLocks noChangeAspect="1" noChangeArrowheads="1"/>
          </p:cNvPicPr>
          <p:nvPr/>
        </p:nvPicPr>
        <p:blipFill>
          <a:blip r:embed="rId75" cstate="print"/>
          <a:srcRect/>
          <a:stretch>
            <a:fillRect/>
          </a:stretch>
        </p:blipFill>
        <p:spPr bwMode="auto">
          <a:xfrm>
            <a:off x="12871231" y="2167862"/>
            <a:ext cx="3457725" cy="506827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</p:spPr>
      </p:pic>
      <p:pic>
        <p:nvPicPr>
          <p:cNvPr id="25" name="Picture 2"/>
          <p:cNvPicPr>
            <a:picLocks noChangeAspect="1" noChangeArrowheads="1"/>
          </p:cNvPicPr>
          <p:nvPr/>
        </p:nvPicPr>
        <p:blipFill>
          <a:blip r:embed="rId76" cstate="print"/>
          <a:srcRect/>
          <a:stretch>
            <a:fillRect/>
          </a:stretch>
        </p:blipFill>
        <p:spPr bwMode="auto">
          <a:xfrm>
            <a:off x="13182812" y="2540903"/>
            <a:ext cx="3328207" cy="4926126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</p:spPr>
      </p:pic>
      <p:pic>
        <p:nvPicPr>
          <p:cNvPr id="26" name="Picture 3"/>
          <p:cNvPicPr>
            <a:picLocks noChangeAspect="1" noChangeArrowheads="1"/>
          </p:cNvPicPr>
          <p:nvPr/>
        </p:nvPicPr>
        <p:blipFill>
          <a:blip r:embed="rId77" cstate="print"/>
          <a:srcRect/>
          <a:stretch>
            <a:fillRect/>
          </a:stretch>
        </p:blipFill>
        <p:spPr bwMode="auto">
          <a:xfrm>
            <a:off x="13415948" y="3010427"/>
            <a:ext cx="3459197" cy="516476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78" cstate="print"/>
          <a:stretch>
            <a:fillRect/>
          </a:stretch>
        </p:blipFill>
        <p:spPr>
          <a:xfrm>
            <a:off x="9342272" y="564775"/>
            <a:ext cx="1206894" cy="88975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8" name="Прямоугольник 27"/>
          <p:cNvSpPr/>
          <p:nvPr/>
        </p:nvSpPr>
        <p:spPr>
          <a:xfrm>
            <a:off x="8131523" y="9048562"/>
            <a:ext cx="9144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Протокол заседания экспертного совета от 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hlinkClick r:id="rId79"/>
              </a:rPr>
              <a:t>15.01.2025 №19пр</a:t>
            </a:r>
            <a:endParaRPr lang="ru-RU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ru-RU" dirty="0" err="1">
                <a:solidFill>
                  <a:schemeClr val="accent1">
                    <a:lumMod val="50000"/>
                  </a:schemeClr>
                </a:solidFill>
              </a:rPr>
              <a:t>Рег.номер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 ПО: 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hlinkClick r:id="rId80"/>
              </a:rPr>
              <a:t>26123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. Дата регистрации: 27.01.2025г.</a:t>
            </a:r>
          </a:p>
          <a:p>
            <a:pPr algn="ctr"/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(https://reestr.digital.gov.ru/reestr/2992868/?sphrase_id=5512175)</a:t>
            </a:r>
          </a:p>
        </p:txBody>
      </p:sp>
      <p:pic>
        <p:nvPicPr>
          <p:cNvPr id="29" name="Object 25" descr="preencoded.png"/>
          <p:cNvPicPr/>
          <p:nvPr/>
        </p:nvPicPr>
        <p:blipFill>
          <a:blip r:embed="rId81"/>
          <a:srcRect/>
          <a:stretch/>
        </p:blipFill>
        <p:spPr>
          <a:xfrm>
            <a:off x="9143994" y="3590452"/>
            <a:ext cx="1517138" cy="155140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12679" y="1471160"/>
            <a:ext cx="35386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>
                <a:solidFill>
                  <a:schemeClr val="accent1">
                    <a:lumMod val="50000"/>
                  </a:schemeClr>
                </a:solidFill>
              </a:rPr>
              <a:t>Цифровая платформа </a:t>
            </a:r>
            <a:r>
              <a:rPr lang="ru-RU" sz="2800" b="1" dirty="0" err="1" smtClean="0">
                <a:solidFill>
                  <a:schemeClr val="accent1">
                    <a:lumMod val="50000"/>
                  </a:schemeClr>
                </a:solidFill>
              </a:rPr>
              <a:t>ДатаПлат</a:t>
            </a:r>
            <a:endParaRPr lang="ru-RU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012679" y="5242709"/>
            <a:ext cx="353861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>
                <a:solidFill>
                  <a:schemeClr val="accent1">
                    <a:lumMod val="50000"/>
                  </a:schemeClr>
                </a:solidFill>
              </a:rPr>
              <a:t>Программный модуль </a:t>
            </a:r>
            <a:r>
              <a:rPr lang="ru-RU" sz="2800" b="1" dirty="0" err="1" smtClean="0">
                <a:solidFill>
                  <a:schemeClr val="accent1">
                    <a:lumMod val="50000"/>
                  </a:schemeClr>
                </a:solidFill>
              </a:rPr>
              <a:t>ДатаПлат</a:t>
            </a:r>
            <a:r>
              <a:rPr lang="ru-RU" sz="2800" b="1" dirty="0" smtClean="0">
                <a:solidFill>
                  <a:schemeClr val="accent1">
                    <a:lumMod val="50000"/>
                  </a:schemeClr>
                </a:solidFill>
              </a:rPr>
              <a:t> Производство. Сервер </a:t>
            </a:r>
            <a:r>
              <a:rPr lang="ru-RU" sz="2800" b="1" dirty="0" err="1" smtClean="0">
                <a:solidFill>
                  <a:schemeClr val="accent1">
                    <a:lumMod val="50000"/>
                  </a:schemeClr>
                </a:solidFill>
              </a:rPr>
              <a:t>трвог</a:t>
            </a:r>
            <a:endParaRPr lang="ru-RU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5161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Рисунок 31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xmlns="" id="{CA2BCB0D-DE71-4393-BA59-14EF3FC2E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77"/>
            <a:ext cx="18288000" cy="10281645"/>
          </a:xfrm>
          <a:prstGeom prst="rect">
            <a:avLst/>
          </a:prstGeom>
        </p:spPr>
      </p:pic>
      <p:pic>
        <p:nvPicPr>
          <p:cNvPr id="37" name="Object 36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9"/>
              </a:ext>
            </a:extLst>
          </a:blip>
          <a:srcRect/>
          <a:stretch/>
        </p:blipFill>
        <p:spPr>
          <a:xfrm>
            <a:off x="17611725" y="2357438"/>
            <a:ext cx="38100" cy="6724650"/>
          </a:xfrm>
          <a:prstGeom prst="rect">
            <a:avLst/>
          </a:prstGeom>
        </p:spPr>
      </p:pic>
      <p:pic>
        <p:nvPicPr>
          <p:cNvPr id="38" name="Object 37" descr="preencoded.png"/>
          <p:cNvPicPr>
            <a:picLocks noChangeAspect="1"/>
          </p:cNvPicPr>
          <p:nvPr/>
        </p:nvPicPr>
        <p:blipFill>
          <a:blip r:embed="rId70">
            <a:extLst>
              <a:ext uri="{96DAC541-7B7A-43D3-8B79-37D633B846F1}">
                <asvg:svgBlip xmlns:asvg="http://schemas.microsoft.com/office/drawing/2016/SVG/main" xmlns="" r:embed="rId71"/>
              </a:ext>
            </a:extLst>
          </a:blip>
          <a:srcRect/>
          <a:stretch/>
        </p:blipFill>
        <p:spPr>
          <a:xfrm>
            <a:off x="17421225" y="504825"/>
            <a:ext cx="571500" cy="1638300"/>
          </a:xfrm>
          <a:prstGeom prst="rect">
            <a:avLst/>
          </a:prstGeom>
        </p:spPr>
      </p:pic>
      <p:cxnSp>
        <p:nvCxnSpPr>
          <p:cNvPr id="57" name="Прямая соединительная линия 56"/>
          <p:cNvCxnSpPr/>
          <p:nvPr/>
        </p:nvCxnSpPr>
        <p:spPr>
          <a:xfrm>
            <a:off x="650202" y="2430113"/>
            <a:ext cx="0" cy="1608487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402249" y="567113"/>
            <a:ext cx="2670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b="1" dirty="0" smtClean="0">
                <a:solidFill>
                  <a:schemeClr val="accent1">
                    <a:lumMod val="50000"/>
                  </a:schemeClr>
                </a:solidFill>
              </a:rPr>
              <a:t>Наши партнеры</a:t>
            </a:r>
            <a:endParaRPr lang="ru-RU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9" name="Object18"/>
          <p:cNvSpPr/>
          <p:nvPr/>
        </p:nvSpPr>
        <p:spPr>
          <a:xfrm>
            <a:off x="643602" y="1218560"/>
            <a:ext cx="6937953" cy="717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425"/>
              </a:lnSpc>
            </a:pPr>
            <a:r>
              <a:rPr lang="ru-RU" sz="4500" b="1" dirty="0" smtClean="0">
                <a:solidFill>
                  <a:srgbClr val="FFFFFF"/>
                </a:solidFill>
                <a:cs typeface="Calibri Bold" pitchFamily="34" charset="-120"/>
              </a:rPr>
              <a:t>Где купить?</a:t>
            </a:r>
            <a:endParaRPr lang="ru-RU" sz="4500" b="1" dirty="0">
              <a:solidFill>
                <a:srgbClr val="FFFFFF"/>
              </a:solidFill>
              <a:cs typeface="Calibri Bold" pitchFamily="34" charset="-120"/>
            </a:endParaRPr>
          </a:p>
        </p:txBody>
      </p:sp>
      <p:sp>
        <p:nvSpPr>
          <p:cNvPr id="23" name="Object28"/>
          <p:cNvSpPr/>
          <p:nvPr/>
        </p:nvSpPr>
        <p:spPr>
          <a:xfrm>
            <a:off x="899159" y="2332417"/>
            <a:ext cx="6757235" cy="4156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ru-RU" sz="2800" b="1" dirty="0" smtClean="0">
                <a:solidFill>
                  <a:srgbClr val="FFFFFF"/>
                </a:solidFill>
                <a:ea typeface="Calibri Bold" pitchFamily="34" charset="-122"/>
                <a:cs typeface="Calibri Bold" pitchFamily="34" charset="-120"/>
              </a:rPr>
              <a:t>ООО «ИнфТех»</a:t>
            </a:r>
          </a:p>
          <a:p>
            <a:pPr marL="457200" indent="-4572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ru-RU" sz="2800" b="1" dirty="0" smtClean="0">
                <a:solidFill>
                  <a:srgbClr val="FFFFFF"/>
                </a:solidFill>
                <a:ea typeface="Calibri Bold" pitchFamily="34" charset="-122"/>
                <a:cs typeface="Calibri Bold" pitchFamily="34" charset="-120"/>
              </a:rPr>
              <a:t>Партнеры</a:t>
            </a:r>
          </a:p>
          <a:p>
            <a:pPr marL="457200" indent="-4572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ru-RU" sz="2800" b="1" dirty="0" smtClean="0">
                <a:solidFill>
                  <a:srgbClr val="FFFFFF"/>
                </a:solidFill>
                <a:ea typeface="Calibri Bold" pitchFamily="34" charset="-122"/>
                <a:cs typeface="Calibri Bold" pitchFamily="34" charset="-120"/>
              </a:rPr>
              <a:t>Дистрибьюторы</a:t>
            </a:r>
            <a:endParaRPr lang="ru-RU" sz="2800" b="1" dirty="0">
              <a:solidFill>
                <a:srgbClr val="FFFFFF"/>
              </a:solidFill>
              <a:ea typeface="Calibri Bold" pitchFamily="34" charset="-122"/>
              <a:cs typeface="Calibri Bold" pitchFamily="34" charset="-120"/>
            </a:endParaRPr>
          </a:p>
          <a:p>
            <a:pPr>
              <a:spcAft>
                <a:spcPts val="3000"/>
              </a:spcAft>
            </a:pPr>
            <a:endParaRPr lang="ru-RU" sz="2800" b="1" dirty="0">
              <a:solidFill>
                <a:srgbClr val="FFFFFF"/>
              </a:solidFill>
              <a:ea typeface="Calibri Bold" pitchFamily="34" charset="-122"/>
              <a:cs typeface="Calibri Bold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31757" y="9444727"/>
            <a:ext cx="59250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</a:rPr>
              <a:t>Список партнеров на нашем сайте: 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hlinkClick r:id="rId72"/>
              </a:rPr>
              <a:t>infteh.ru</a:t>
            </a:r>
            <a:endParaRPr lang="ru-RU" sz="24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8266464" y="1410928"/>
            <a:ext cx="8859486" cy="5153744"/>
          </a:xfrm>
          <a:prstGeom prst="rect">
            <a:avLst/>
          </a:prstGeom>
        </p:spPr>
      </p:pic>
      <p:sp>
        <p:nvSpPr>
          <p:cNvPr id="14" name="Номер слайда 1"/>
          <p:cNvSpPr txBox="1">
            <a:spLocks/>
          </p:cNvSpPr>
          <p:nvPr/>
        </p:nvSpPr>
        <p:spPr>
          <a:xfrm rot="5400000">
            <a:off x="17145011" y="9437350"/>
            <a:ext cx="808712" cy="547688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fld id="{1A8E40EB-114F-4E94-B88F-245C4D8BC53F}" type="slidenum">
              <a:rPr lang="ru-RU" altLang="ru-RU" smtClean="0"/>
              <a:pPr/>
              <a:t>9</a:t>
            </a:fld>
            <a:endParaRPr lang="ru-RU" altLang="ru-RU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0" y="134892"/>
            <a:ext cx="780879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 err="1" smtClean="0">
                <a:solidFill>
                  <a:schemeClr val="bg1"/>
                </a:solidFill>
                <a:latin typeface="Calibri Bold" panose="020F0702030404030204" pitchFamily="34" charset="0"/>
                <a:cs typeface="Calibri Bold" panose="020F0702030404030204" pitchFamily="34" charset="0"/>
              </a:rPr>
              <a:t>ДатаПлат</a:t>
            </a:r>
            <a:r>
              <a:rPr lang="ru-RU" sz="3200" b="1" dirty="0" smtClean="0">
                <a:solidFill>
                  <a:schemeClr val="bg1"/>
                </a:solidFill>
                <a:latin typeface="Calibri Bold" panose="020F0702030404030204" pitchFamily="34" charset="0"/>
                <a:cs typeface="Calibri Bold" panose="020F0702030404030204" pitchFamily="34" charset="0"/>
              </a:rPr>
              <a:t> </a:t>
            </a:r>
            <a:r>
              <a:rPr lang="ru-RU" sz="3200" b="1" dirty="0" err="1" smtClean="0">
                <a:solidFill>
                  <a:schemeClr val="bg1"/>
                </a:solidFill>
                <a:latin typeface="Calibri Bold" panose="020F0702030404030204" pitchFamily="34" charset="0"/>
                <a:cs typeface="Calibri Bold" panose="020F0702030404030204" pitchFamily="34" charset="0"/>
              </a:rPr>
              <a:t>Производство.Сервер</a:t>
            </a:r>
            <a:r>
              <a:rPr lang="ru-RU" sz="3200" b="1" dirty="0" smtClean="0">
                <a:solidFill>
                  <a:schemeClr val="bg1"/>
                </a:solidFill>
                <a:latin typeface="Calibri Bold" panose="020F0702030404030204" pitchFamily="34" charset="0"/>
                <a:cs typeface="Calibri Bold" panose="020F0702030404030204" pitchFamily="34" charset="0"/>
              </a:rPr>
              <a:t> тревог</a:t>
            </a:r>
            <a:endParaRPr lang="ru-RU" sz="3200" b="1" dirty="0">
              <a:solidFill>
                <a:srgbClr val="FF0000"/>
              </a:solidFill>
              <a:latin typeface="Calibri Bold" panose="020F0702030404030204" pitchFamily="34" charset="0"/>
              <a:cs typeface="Calibri Bold" panose="020F0702030404030204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9730" y="6309878"/>
            <a:ext cx="2205038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7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7053" y="6819466"/>
            <a:ext cx="1200150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943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/>
          <a:stretch/>
        </p:blipFill>
        <p:spPr>
          <a:xfrm>
            <a:off x="0" y="0"/>
            <a:ext cx="18288000" cy="10306050"/>
          </a:xfrm>
          <a:prstGeom prst="rect">
            <a:avLst/>
          </a:prstGeom>
        </p:spPr>
      </p:pic>
      <p:pic>
        <p:nvPicPr>
          <p:cNvPr id="3" name="Object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rcRect/>
          <a:stretch/>
        </p:blipFill>
        <p:spPr>
          <a:xfrm>
            <a:off x="8724900" y="0"/>
            <a:ext cx="9563100" cy="6877050"/>
          </a:xfrm>
          <a:prstGeom prst="rect">
            <a:avLst/>
          </a:prstGeom>
        </p:spPr>
      </p:pic>
      <p:pic>
        <p:nvPicPr>
          <p:cNvPr id="4" name="Object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rcRect/>
          <a:stretch/>
        </p:blipFill>
        <p:spPr>
          <a:xfrm>
            <a:off x="0" y="6705600"/>
            <a:ext cx="18288000" cy="3581400"/>
          </a:xfrm>
          <a:prstGeom prst="rect">
            <a:avLst/>
          </a:prstGeom>
        </p:spPr>
      </p:pic>
      <p:pic>
        <p:nvPicPr>
          <p:cNvPr id="5" name="Object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rcRect/>
          <a:stretch/>
        </p:blipFill>
        <p:spPr>
          <a:xfrm>
            <a:off x="9058275" y="8724900"/>
            <a:ext cx="457200" cy="704850"/>
          </a:xfrm>
          <a:prstGeom prst="rect">
            <a:avLst/>
          </a:prstGeom>
        </p:spPr>
      </p:pic>
      <p:pic>
        <p:nvPicPr>
          <p:cNvPr id="6" name="Object 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rcRect/>
          <a:stretch/>
        </p:blipFill>
        <p:spPr>
          <a:xfrm>
            <a:off x="8972550" y="9305925"/>
            <a:ext cx="704850" cy="304800"/>
          </a:xfrm>
          <a:prstGeom prst="rect">
            <a:avLst/>
          </a:prstGeom>
        </p:spPr>
      </p:pic>
      <p:pic>
        <p:nvPicPr>
          <p:cNvPr id="7" name="Object 6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xmlns="" r:embed="rId14"/>
              </a:ext>
            </a:extLst>
          </a:blip>
          <a:srcRect/>
          <a:stretch/>
        </p:blipFill>
        <p:spPr>
          <a:xfrm>
            <a:off x="9058275" y="7515225"/>
            <a:ext cx="457200" cy="704850"/>
          </a:xfrm>
          <a:prstGeom prst="rect">
            <a:avLst/>
          </a:prstGeom>
        </p:spPr>
      </p:pic>
      <p:pic>
        <p:nvPicPr>
          <p:cNvPr id="8" name="Object 7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xmlns="" r:embed="rId16"/>
              </a:ext>
            </a:extLst>
          </a:blip>
          <a:srcRect/>
          <a:stretch/>
        </p:blipFill>
        <p:spPr>
          <a:xfrm>
            <a:off x="8972550" y="8105775"/>
            <a:ext cx="704850" cy="304800"/>
          </a:xfrm>
          <a:prstGeom prst="rect">
            <a:avLst/>
          </a:prstGeom>
        </p:spPr>
      </p:pic>
      <p:pic>
        <p:nvPicPr>
          <p:cNvPr id="9" name="Object 8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xmlns="" r:embed="rId18"/>
              </a:ext>
            </a:extLst>
          </a:blip>
          <a:srcRect/>
          <a:stretch/>
        </p:blipFill>
        <p:spPr>
          <a:xfrm>
            <a:off x="8039100" y="7253288"/>
            <a:ext cx="38100" cy="2438400"/>
          </a:xfrm>
          <a:prstGeom prst="rect">
            <a:avLst/>
          </a:prstGeom>
        </p:spPr>
      </p:pic>
      <p:pic>
        <p:nvPicPr>
          <p:cNvPr id="10" name="Object 9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xmlns="" r:embed="rId20"/>
              </a:ext>
            </a:extLst>
          </a:blip>
          <a:srcRect/>
          <a:stretch/>
        </p:blipFill>
        <p:spPr>
          <a:xfrm>
            <a:off x="1085850" y="8001000"/>
            <a:ext cx="3009900" cy="1047750"/>
          </a:xfrm>
          <a:prstGeom prst="rect">
            <a:avLst/>
          </a:prstGeom>
        </p:spPr>
      </p:pic>
      <p:pic>
        <p:nvPicPr>
          <p:cNvPr id="12" name="Object 11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4714875" y="8096250"/>
            <a:ext cx="971550" cy="1104900"/>
          </a:xfrm>
          <a:prstGeom prst="rect">
            <a:avLst/>
          </a:prstGeom>
        </p:spPr>
      </p:pic>
      <p:sp>
        <p:nvSpPr>
          <p:cNvPr id="13" name="Object12"/>
          <p:cNvSpPr/>
          <p:nvPr/>
        </p:nvSpPr>
        <p:spPr>
          <a:xfrm>
            <a:off x="1115611" y="2691492"/>
            <a:ext cx="10075348" cy="2596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5204"/>
              </a:lnSpc>
            </a:pPr>
            <a:r>
              <a:rPr lang="en-US" sz="4500" b="1" i="0" dirty="0">
                <a:solidFill>
                  <a:srgbClr val="FFFFFF"/>
                </a:solidFill>
                <a:ea typeface="Calibri Bold" pitchFamily="34" charset="-122"/>
                <a:cs typeface="Calibri Bold" pitchFamily="34" charset="-120"/>
              </a:rPr>
              <a:t>Технологии цифровизации – 
</a:t>
            </a:r>
            <a:r>
              <a:rPr lang="en-US" sz="4500" b="0" i="0" dirty="0">
                <a:solidFill>
                  <a:srgbClr val="FFFFFF"/>
                </a:solidFill>
                <a:ea typeface="Calibri Regular" pitchFamily="34" charset="-122"/>
                <a:cs typeface="Calibri Regular" pitchFamily="34" charset="-120"/>
              </a:rPr>
              <a:t>драйвер экономического развития</a:t>
            </a:r>
            <a:endParaRPr lang="en-US" sz="4500" dirty="0"/>
          </a:p>
        </p:txBody>
      </p:sp>
      <p:sp>
        <p:nvSpPr>
          <p:cNvPr id="14" name="Object13"/>
          <p:cNvSpPr/>
          <p:nvPr/>
        </p:nvSpPr>
        <p:spPr>
          <a:xfrm>
            <a:off x="9882374" y="7543149"/>
            <a:ext cx="4670866" cy="1204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22"/>
              </a:lnSpc>
            </a:pPr>
            <a:r>
              <a:rPr lang="en-US" sz="1575" b="0" i="0" dirty="0">
                <a:solidFill>
                  <a:srgbClr val="16110D"/>
                </a:solidFill>
                <a:ea typeface="Calibri Regular" pitchFamily="34" charset="-122"/>
                <a:cs typeface="Calibri Regular" pitchFamily="34" charset="-120"/>
              </a:rPr>
              <a:t>Московский офис:
109147, г. Москва, Марксистский пер., д.6
+7 (495) 912-66-81, +7 (495) 911-73-00
</a:t>
            </a:r>
            <a:r>
              <a:rPr lang="en-US" sz="1575" b="1" i="0" dirty="0">
                <a:solidFill>
                  <a:srgbClr val="16110D"/>
                </a:solidFill>
                <a:ea typeface="Calibri Bold" pitchFamily="34" charset="-122"/>
                <a:cs typeface="Calibri Bold" pitchFamily="34" charset="-120"/>
              </a:rPr>
              <a:t> </a:t>
            </a:r>
            <a:r>
              <a:rPr lang="ru-RU" sz="1400" b="1" dirty="0" err="1"/>
              <a:t>input.mail.box</a:t>
            </a:r>
            <a:r>
              <a:rPr lang="en-US" sz="1400" b="1" dirty="0" smtClean="0"/>
              <a:t>@infteh.ru</a:t>
            </a:r>
            <a:endParaRPr lang="en-US" sz="1400" b="1" dirty="0">
              <a:solidFill>
                <a:srgbClr val="16110D"/>
              </a:solidFill>
              <a:latin typeface="Calibri Bold" pitchFamily="34" charset="0"/>
              <a:ea typeface="Calibri Bold" pitchFamily="34" charset="-122"/>
              <a:cs typeface="Calibri Bold" pitchFamily="34" charset="-120"/>
            </a:endParaRPr>
          </a:p>
        </p:txBody>
      </p:sp>
      <p:sp>
        <p:nvSpPr>
          <p:cNvPr id="15" name="Object14"/>
          <p:cNvSpPr/>
          <p:nvPr/>
        </p:nvSpPr>
        <p:spPr>
          <a:xfrm>
            <a:off x="9882374" y="8761688"/>
            <a:ext cx="4670866" cy="1204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22"/>
              </a:lnSpc>
            </a:pPr>
            <a:r>
              <a:rPr lang="en-US" sz="1575" b="0" i="0" dirty="0">
                <a:solidFill>
                  <a:srgbClr val="16110D"/>
                </a:solidFill>
                <a:ea typeface="Calibri Regular" pitchFamily="34" charset="-122"/>
                <a:cs typeface="Calibri Regular" pitchFamily="34" charset="-120"/>
              </a:rPr>
              <a:t>Обособленное подразделение ООО «ИнфТех»:
450077, г. Уфа, ул. К. Маркса 20/1, этаж 1
+7 (347) 293-56-02
</a:t>
            </a:r>
            <a:r>
              <a:rPr lang="en-US" sz="1575" b="1" dirty="0" smtClean="0">
                <a:solidFill>
                  <a:srgbClr val="16110D"/>
                </a:solidFill>
                <a:ea typeface="Calibri Bold" pitchFamily="34" charset="-122"/>
                <a:cs typeface="Calibri Bold" pitchFamily="34" charset="-120"/>
              </a:rPr>
              <a:t> </a:t>
            </a:r>
            <a:r>
              <a:rPr lang="ru-RU" sz="1400" b="1" dirty="0" err="1"/>
              <a:t>input.mail.box</a:t>
            </a:r>
            <a:r>
              <a:rPr lang="en-US" sz="1400" b="1" dirty="0"/>
              <a:t>@infteh.ru</a:t>
            </a:r>
            <a:endParaRPr lang="en-US" sz="1400" b="1" dirty="0">
              <a:solidFill>
                <a:srgbClr val="16110D"/>
              </a:solidFill>
              <a:latin typeface="Calibri Bold" pitchFamily="34" charset="0"/>
              <a:ea typeface="Calibri Bold" pitchFamily="34" charset="-122"/>
              <a:cs typeface="Calibri Bold" pitchFamily="34" charset="-120"/>
            </a:endParaRPr>
          </a:p>
          <a:p>
            <a:pPr>
              <a:lnSpc>
                <a:spcPts val="1622"/>
              </a:lnSpc>
            </a:pPr>
            <a:endParaRPr lang="en-US" sz="157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17974</TotalTime>
  <Words>820</Words>
  <Application>Microsoft Office PowerPoint</Application>
  <PresentationFormat>Произвольный</PresentationFormat>
  <Paragraphs>126</Paragraphs>
  <Slides>10</Slides>
  <Notes>10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ИнфТех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ИнфТех</dc:creator>
  <cp:lastModifiedBy>Тукунов Александр Николаевич</cp:lastModifiedBy>
  <cp:revision>268</cp:revision>
  <cp:lastPrinted>2024-03-29T05:50:35Z</cp:lastPrinted>
  <dcterms:created xsi:type="dcterms:W3CDTF">2021-09-23T06:55:50Z</dcterms:created>
  <dcterms:modified xsi:type="dcterms:W3CDTF">2026-02-09T08:53:44Z</dcterms:modified>
</cp:coreProperties>
</file>