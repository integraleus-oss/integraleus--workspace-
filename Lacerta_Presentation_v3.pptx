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36576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SCADA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Лацерта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8288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DAF"/>
                </a:solidFill>
              </a:defRPr>
            </a:pPr>
            <a:r>
              <a:t>Российская платформа</a:t>
            </a:r>
            <a:br/>
            <a:r>
              <a:t>промышленной автоматизации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4114800" cy="457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DAF"/>
                </a:solidFill>
              </a:defRPr>
            </a:pPr>
            <a:r>
              <a:t>Реестр ПО №17502  •  Патент РФ №2797756  •  ЕАПО №045687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9728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34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Безлимитные теги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09728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344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13+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Протоколов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56032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6974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Master-</a:t>
            </a:r>
            <a:br/>
            <a:r>
              <a:t>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46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Кластер горячего</a:t>
            </a:r>
            <a:br/>
            <a:r>
              <a:t>резервирования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56032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7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46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Скриптинг и</a:t>
            </a:r>
            <a:br/>
            <a:r>
              <a:t>программируемая логика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02336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7+ ОС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Astra, ALT, РЕД,</a:t>
            </a:r>
            <a:br/>
            <a:r>
              <a:t>ROSA, Ubuntu...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023360"/>
            <a:ext cx="2103120" cy="118872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REST +</a:t>
            </a:r>
            <a:br/>
            <a:r>
              <a:t>WebSocket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091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Открытый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АО «Лаборатория Технологий Автоматизации» (ЛТА)  |  apcslab.ru  |  8 (800) 550-26-21  |  info@apcslab.ru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О платформе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6858000" cy="22860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Что такое «Лацерта»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DDEE"/>
                </a:solidFill>
              </a:defRPr>
            </a:pPr>
            <a:r>
              <a:t>Платформа для построения, разработки и эксплуатации АСУ объектами информационно-технологической инфраструктуры на всём протяжении жизненного цикла</a:t>
            </a:r>
          </a:p>
          <a:p>
            <a:pPr>
              <a:spcAft>
                <a:spcPts val="600"/>
              </a:spcAft>
              <a:defRPr sz="1200">
                <a:solidFill>
                  <a:srgbClr val="CCDDEE"/>
                </a:solidFill>
              </a:defRPr>
            </a:pPr>
            <a:r>
              <a:t>Низкий порог входа: высокая квалификация в предметной области, но не навыки программирования или дизайна</a:t>
            </a:r>
          </a:p>
          <a:p>
            <a:pPr>
              <a:spcAft>
                <a:spcPts val="600"/>
              </a:spcAft>
              <a:defRPr sz="1200">
                <a:solidFill>
                  <a:srgbClr val="CCDDEE"/>
                </a:solidFill>
              </a:defRPr>
            </a:pPr>
            <a:r>
              <a:t>Сбор данных от ПЛК/IIoT, визуализация, управляющие воздействия, предиктивная аналитика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63040"/>
            <a:ext cx="4114800" cy="22860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Области применения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АСУ ТП / АСУ ПП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РСУ / SCADA / HMI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IIoT — промышленный интернет вещей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Диспетчерские центры (до федерального)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Предиктивная аналитика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Диагностика и мониторинг оборудования</a:t>
            </a:r>
          </a:p>
          <a:p>
            <a:pPr>
              <a:spcAft>
                <a:spcPts val="200"/>
              </a:spcAft>
              <a:defRPr sz="1100">
                <a:solidFill>
                  <a:srgbClr val="CCDDEE"/>
                </a:solidFill>
              </a:defRPr>
            </a:pPr>
            <a:r>
              <a:t>Мониторинг телеком/серверной инфраструктуры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11247120" cy="6400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</a:defRPr>
            </a:pPr>
            <a:r>
              <a:t>Отрасли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DAF"/>
                </a:solidFill>
              </a:defRPr>
            </a:pPr>
            <a:r>
              <a:t>Энергетика  •  Электросети  •  Нефтегаз  •  Металлургия  •  Химия  •  Машиностроение  •  Транспорт  •  Умный город / ЖКХ  •  ЦОД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2057400" cy="13716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Сбор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Распределённые</a:t>
            </a:r>
            <a:br/>
            <a:r>
              <a:t>источники, ПЛК, IIoT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846320"/>
            <a:ext cx="2057400" cy="13716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84632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Обмен данными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349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Двусторонний обмен</a:t>
            </a:r>
            <a:br/>
            <a:r>
              <a:t>с внешними ИС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846320"/>
            <a:ext cx="2057400" cy="13716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84632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Управление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5349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Логика техпроцесса,</a:t>
            </a:r>
            <a:br/>
            <a:r>
              <a:t>формирование воздействий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846320"/>
            <a:ext cx="2057400" cy="13716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484632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Визуализация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349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Мнемосхемы, виджеты,</a:t>
            </a:r>
            <a:br/>
            <a:r>
              <a:t>тренды, таблицы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4846320"/>
            <a:ext cx="2057400" cy="13716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484632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Аналитика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5349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DAF"/>
                </a:solidFill>
              </a:defRPr>
            </a:pPr>
            <a:r>
              <a:t>Предиктивная аналитика,</a:t>
            </a:r>
            <a:br/>
            <a:r>
              <a:t>поддержка решений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DAF"/>
                </a:solidFill>
              </a:defRPr>
            </a:pPr>
            <a:r>
              <a:t>Реестр ПО №17502  •  Патент РФ №2797756  •  Патент ЕАПО №045687  •  Свидетельство №2022660501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Архитектура ядра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457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</a:defRPr>
            </a:pPr>
            <a:r>
              <a:t>Событийно-ориентированная (EDA) + сервис-ориентированная (SOA) архитектура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Подсистема реального времени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7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ОДА в оперативной памяти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Временные метки на каждом изменении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Расчёт latency, jitter, deadline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Кэш → вытеснение в долгосрочный архив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Управление данными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7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ОДА (оперативные) отделены от МДА (мета)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Разные физические каналы для ОДА/МДА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Архив: сжатие, разрежение, цикл. записи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TSDB: PostgreSQL 11 + ClickHouse 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Кластерная модель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79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Multi-active (master-master)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Синхронизация по защищённому протоколу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Балансировка нагрузки между узлами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Линейное масштабирование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Клиент подключён к нескольким узлам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Сервисная модель (SOA)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29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Сервисы: события, расчёты, имитация, архив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Драйверы: 13+ протоколов + внешние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Клиенты: REST API + WebSocket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ППИ для своих сервисов/драйверов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43484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4348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Событийная модель (EDA)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029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Реакция на изменение переменных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Атрибуты: класс, приоритет 1–10, квитирование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Тревоги с аудиовизуальными эффектами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Активное/неактивное состояние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434840"/>
            <a:ext cx="3611880" cy="2148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4348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617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Безопасность и доступ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0292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RBAC с гранулярностью до объекта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Аутентификация: логин/пароль, токены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Встроенная / LDAP / Keycloak (SSO)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Разделение каналов ОДА/МДА для КБ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Состав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SCADA/HMI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Мнемосхемы (SVG) с динамикой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Виджеты: тренды, таблицы, события, видео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Фрагменты для внешних библиотек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Многоэкранные стенды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Web-доступ через браузер (nginx)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Промышленная СУБД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Кэш РВ в оперативной памяти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Циклический архив (сжатие, разрежение)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PostgreSQL 11 — метаданные, конфиг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ClickHouse 23 — временные ряды, архив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Экспорт/импорт данных в файлы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Шлюз сопряжения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9 промышленных: OPC UA, Modbus, Profinet...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2 сетевых: ICMP, SNMP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5 внешних: Trassir, Perco, FindFace...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ППИ для своих драйверов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Двусторонний обмен данными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SCADA IDE (Designtime)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Редактор моделей и объектов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Конфигуратор событий и тревог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Конфигуратор драйверов и сервисов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Скриптинг на TypeScript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Редактор кода с подсветкой синтаксиса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Библиотека элементов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Типовые элементы (датчики, задвижки...)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SVG-формат, импорт из любого редактора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Статические и динамические элементы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Экспорт/импорт между проектами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Привязка к абстрактным моделям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Шлюз безопасности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LDAP / Active Directory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Keycloak (SSO)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Межсетевые экраны, однонапр. шлюзы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Разделение каналов ОДА/МДА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Мультитенантность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Протоколы, интеграции и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2194560" cy="5029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1945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Промышленные протоколы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1920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OPC UA (клиент + сервер)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Modbus TCP (master + slave)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Profinet / S7Comm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MQTT (IIoT, облако)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BACnet (здания)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IEC 61850 (подстанции)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IEC 60870-5-104 (телемеханика)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NTP (синхронизация)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ICMP / SNMP (сеть)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2194560" cy="5029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417320"/>
            <a:ext cx="21945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Внешние интеграции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65960"/>
            <a:ext cx="1920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Trassir — видеонаблюдение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Perco — СКУД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FindFace — распознавание лиц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Zabbix — IT-мониторинг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OrionPro — СКУД Болид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Asterisk — IP-телефония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17320"/>
            <a:ext cx="2194560" cy="5029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17320"/>
            <a:ext cx="21945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API и связь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965960"/>
            <a:ext cx="1920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REST API (клиентский)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WebSocket (рекомендуемый)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lacerta-протокол (кластер)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ППИ для сервисов/драйверов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17320"/>
            <a:ext cx="2194560" cy="5029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417320"/>
            <a:ext cx="21945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Поддерживаемые ОС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965960"/>
            <a:ext cx="1920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Astra Linux 1.6 SE «Смоленск»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ALT Server / ALT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РЕД ОС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ROSA Linux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Ubuntu Server 18.04+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Debian 10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✓ Windows 10 (клиент)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417320"/>
            <a:ext cx="2194560" cy="502920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1417320"/>
            <a:ext cx="21945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965960"/>
            <a:ext cx="1920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lacerta-server (порт 8000)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nginx (порт 80) — frontend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PostgreSQL 11 (порт 5432)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ClickHouse 23 (порт 9000)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lacerta-ui — web-интерфейс</a:t>
            </a:r>
          </a:p>
          <a:p>
            <a:pPr>
              <a:spcAft>
                <a:spcPts val="300"/>
              </a:spcAft>
              <a:defRPr sz="900">
                <a:solidFill>
                  <a:srgbClr val="BBCCDD"/>
                </a:solidFill>
              </a:defRPr>
            </a:pPr>
            <a:r>
              <a:t>lacerta-drivers — драйверы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DAF"/>
                </a:solidFill>
              </a:defRPr>
            </a:pPr>
            <a:r>
              <a:t>Совместимость: PostgresPro • Росплатформа • ROSA Virtualization • Установка: dpkg -i lacerta-server-1.0.deb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Разработка и визуализация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Объектно-ориентированная 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Модели → Объекты с наследованием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Каскадное изменение при обновлении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Иерархия с любой вложенностью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Типы: boolean, float, string, integer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Среда разработки (IDE)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Редактор моделей с навигацией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Редактор объектов с привязкой к драйверам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Конфигуратор событий, ролей, кластера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TypeScript с подсветкой синтаксиса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Вычислительная 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Калькулятор: +−×÷^, &gt;, &lt;, =, !=, ∫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ЕСЛИ / ЕСЛИМН (многоусловные)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Имитатор: синус, треугольник, пила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Расширяемый набор через ППИ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Мнемосхемы (SVG)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Статические и динамические элементы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Виджеты: тренды, таблицы, события, камеры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Композитные (вложенные) мнемосхемы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Многоэкранные стенды и мобильные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Привязка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Модель ↔ типовой элемент (M:N)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Автоматическая валидация связок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Скрипты поведения компонентов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Сценарии мнемосхем (TypeScript)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69080"/>
            <a:ext cx="3611880" cy="242316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06908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2519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</a:defRPr>
            </a:pPr>
            <a:r>
              <a:t>Представление данных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63440"/>
            <a:ext cx="31546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Таблицы: срез, изменения, временная шкала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Тренды: вертикальные, наложенные, сглаж.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Архивные запросы до 24ч (быстрый доступ)</a:t>
            </a:r>
          </a:p>
          <a:p>
            <a:pPr>
              <a:spcAft>
                <a:spcPts val="300"/>
              </a:spcAft>
              <a:defRPr sz="1100">
                <a:solidFill>
                  <a:srgbClr val="CCDDEE"/>
                </a:solidFill>
              </a:defRPr>
            </a:pPr>
            <a:r>
              <a:t>Экспорт данных в файл / печать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Лицензирование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4D8"/>
                </a:solidFill>
              </a:defRPr>
            </a:pPr>
            <a:r>
              <a:t>Лицензия по серверу  •  Безлимитные теги  •  Безлимитные клиенты  •  Безлимитные подключения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2697480" cy="3291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СТАРТ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990 000 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2148840" cy="18288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Платформа + Runtime + IDE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Библиотека элементов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4 базовых драйвера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Небольшие объекты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Пилотные проекты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48840"/>
            <a:ext cx="2697480" cy="3291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14884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317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ПРО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432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1 690 000 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79" y="3200400"/>
            <a:ext cx="2148840" cy="18288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2918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Всё из «Старт» плюс: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Промышленная СУБД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13+ драйверов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Калькулятор / Имитатор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Средние/крупные объекты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48840"/>
            <a:ext cx="2697480" cy="3291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2697480" cy="54864"/>
          </a:xfrm>
          <a:prstGeom prst="rect">
            <a:avLst/>
          </a:prstGeom>
          <a:solidFill>
            <a:srgbClr val="F39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317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237"/>
                </a:solidFill>
              </a:defRPr>
            </a:pPr>
            <a:r>
              <a:t>КОРПОРАТИВНЫЙ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432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2 490 000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200400"/>
            <a:ext cx="2148840" cy="18288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918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Всё из «Про» плюс: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Кластер multi-active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Шлюз безопасности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LDAP / Keycloak / SSO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РСУ, КИИ, диспетчерские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148840"/>
            <a:ext cx="2697480" cy="3291840"/>
          </a:xfrm>
          <a:prstGeom prst="roundRect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2148840"/>
            <a:ext cx="2697480" cy="54864"/>
          </a:xfrm>
          <a:prstGeom prst="rect">
            <a:avLst/>
          </a:prstGeom>
          <a:solidFill>
            <a:srgbClr val="8B9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33172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9DAF"/>
                </a:solidFill>
              </a:defRPr>
            </a:pPr>
            <a:r>
              <a:t>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74320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120 000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200400"/>
            <a:ext cx="2148840" cy="18288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2918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Шлюз для удалённых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объектов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  <a:r>
              <a:t>Скидки от 10 шт.</a:t>
            </a:r>
          </a:p>
          <a:p>
            <a:pPr>
              <a:spcAft>
                <a:spcPts val="200"/>
              </a:spcAft>
              <a:defRPr sz="1100">
                <a:solidFill>
                  <a:srgbClr val="BBCCDD"/>
                </a:solidFill>
              </a:defRPr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Готовы обсудить ваш проект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806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</a:defRPr>
            </a:pPr>
            <a:r>
              <a:t>🌐  apcslab.ru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5806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</a:defRPr>
            </a:pPr>
            <a:r>
              <a:t>📞  8 (800) 550-26-21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5806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D8"/>
                </a:solidFill>
              </a:defRPr>
            </a:pPr>
            <a:r>
              <a:t>✉️  info@apcslab.ru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DAF"/>
                </a:solidFill>
              </a:defRPr>
            </a:pPr>
            <a:r>
              <a:t>Реестр ПО №17502  •  Патент РФ №2797756  •  Патент ЕАПО №045687  •  Импортозамещение  •  Российские ОС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