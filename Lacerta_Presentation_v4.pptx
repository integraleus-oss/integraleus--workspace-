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36576" cy="36576"/>
          </a:xfrm>
          <a:prstGeom prst="ellipse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389120"/>
            <a:ext cx="36576" cy="36576"/>
          </a:xfrm>
          <a:prstGeom prst="ellipse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3017520"/>
            <a:ext cx="36576" cy="36576"/>
          </a:xfrm>
          <a:prstGeom prst="ellipse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83279" y="1645920"/>
            <a:ext cx="36576" cy="36576"/>
          </a:xfrm>
          <a:prstGeom prst="ellipse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383279" y="5760720"/>
            <a:ext cx="36576" cy="36576"/>
          </a:xfrm>
          <a:prstGeom prst="ellipse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37759" y="274320"/>
            <a:ext cx="36576" cy="36576"/>
          </a:xfrm>
          <a:prstGeom prst="ellipse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59" y="4389120"/>
            <a:ext cx="36576" cy="36576"/>
          </a:xfrm>
          <a:prstGeom prst="ellipse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3017520"/>
            <a:ext cx="36576" cy="36576"/>
          </a:xfrm>
          <a:prstGeom prst="ellipse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0" y="1645920"/>
            <a:ext cx="36576" cy="36576"/>
          </a:xfrm>
          <a:prstGeom prst="ellipse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20" y="5760720"/>
            <a:ext cx="36576" cy="36576"/>
          </a:xfrm>
          <a:prstGeom prst="ellipse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0" y="274320"/>
            <a:ext cx="36576" cy="36576"/>
          </a:xfrm>
          <a:prstGeom prst="ellipse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0" y="4389120"/>
            <a:ext cx="36576" cy="36576"/>
          </a:xfrm>
          <a:prstGeom prst="ellipse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55680" y="3017520"/>
            <a:ext cx="36576" cy="36576"/>
          </a:xfrm>
          <a:prstGeom prst="ellipse">
            <a:avLst/>
          </a:prstGeom>
          <a:solidFill>
            <a:srgbClr val="15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" y="0"/>
            <a:ext cx="36576" cy="6858000"/>
          </a:xfrm>
          <a:prstGeom prst="rect">
            <a:avLst/>
          </a:prstGeom>
          <a:solidFill>
            <a:srgbClr val="008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SCADA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0058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Лацерта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42316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6517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C4D8"/>
                </a:solidFill>
              </a:defRPr>
            </a:pPr>
            <a:r>
              <a:t>Российская платформа</a:t>
            </a:r>
            <a:br/>
            <a:r>
              <a:t>промышленной автоматизации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566160"/>
            <a:ext cx="1371600" cy="3657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59359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1428"/>
                </a:solidFill>
              </a:defRPr>
            </a:pPr>
            <a:r>
              <a:t>v 1.0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206240"/>
            <a:ext cx="1645920" cy="731520"/>
          </a:xfrm>
          <a:prstGeom prst="roundRect">
            <a:avLst/>
          </a:prstGeom>
          <a:noFill/>
          <a:ln w="19050">
            <a:solidFill>
              <a:srgbClr val="6B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2519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8099"/>
                </a:solidFill>
              </a:defRPr>
            </a:pPr>
            <a:r>
              <a:t>Реестр ПО</a:t>
            </a:r>
            <a:br/>
            <a:r>
              <a:t>№17502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0" y="4206240"/>
            <a:ext cx="1645920" cy="731520"/>
          </a:xfrm>
          <a:prstGeom prst="roundRect">
            <a:avLst/>
          </a:prstGeom>
          <a:noFill/>
          <a:ln w="19050">
            <a:solidFill>
              <a:srgbClr val="6B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42519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8099"/>
                </a:solidFill>
              </a:defRPr>
            </a:pPr>
            <a:r>
              <a:t>Патент РФ</a:t>
            </a:r>
            <a:br/>
            <a:r>
              <a:t>№2797756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4206240"/>
            <a:ext cx="1645920" cy="731520"/>
          </a:xfrm>
          <a:prstGeom prst="roundRect">
            <a:avLst/>
          </a:prstGeom>
          <a:noFill/>
          <a:ln w="19050">
            <a:solidFill>
              <a:srgbClr val="6B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425196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8099"/>
                </a:solidFill>
              </a:defRPr>
            </a:pPr>
            <a:r>
              <a:t>Патент ЕАПО</a:t>
            </a:r>
            <a:br/>
            <a:r>
              <a:t>№045687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457200"/>
            <a:ext cx="1645920" cy="1645920"/>
          </a:xfrm>
          <a:prstGeom prst="ellipse">
            <a:avLst/>
          </a:prstGeom>
          <a:noFill/>
          <a:ln w="317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03720" y="777240"/>
            <a:ext cx="1005840" cy="1005840"/>
          </a:xfrm>
          <a:prstGeom prst="ellipse">
            <a:avLst/>
          </a:prstGeom>
          <a:solidFill>
            <a:srgbClr val="002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8229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4FF"/>
                </a:solidFill>
              </a:defRPr>
            </a:pPr>
            <a:r>
              <a:t>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1325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ТЕГИ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8099"/>
                </a:solidFill>
              </a:defRPr>
            </a:pPr>
            <a:r>
              <a:t>Безлимитные</a:t>
            </a:r>
          </a:p>
        </p:txBody>
      </p:sp>
      <p:sp>
        <p:nvSpPr>
          <p:cNvPr id="35" name="Oval 34"/>
          <p:cNvSpPr/>
          <p:nvPr/>
        </p:nvSpPr>
        <p:spPr>
          <a:xfrm>
            <a:off x="8961120" y="457200"/>
            <a:ext cx="1645920" cy="1645920"/>
          </a:xfrm>
          <a:prstGeom prst="ellipse">
            <a:avLst/>
          </a:prstGeom>
          <a:noFill/>
          <a:ln w="317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281160" y="777240"/>
            <a:ext cx="1005840" cy="1005840"/>
          </a:xfrm>
          <a:prstGeom prst="ellipse">
            <a:avLst/>
          </a:prstGeom>
          <a:solidFill>
            <a:srgbClr val="002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8229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76"/>
                </a:solidFill>
              </a:defRPr>
            </a:pPr>
            <a:r>
              <a:t>13+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1325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ПРОТОКОЛОВ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8099"/>
                </a:solidFill>
              </a:defRPr>
            </a:pPr>
            <a:r>
              <a:t>OPC UA, Modbus...</a:t>
            </a:r>
          </a:p>
        </p:txBody>
      </p:sp>
      <p:sp>
        <p:nvSpPr>
          <p:cNvPr id="40" name="Oval 39"/>
          <p:cNvSpPr/>
          <p:nvPr/>
        </p:nvSpPr>
        <p:spPr>
          <a:xfrm>
            <a:off x="6583680" y="2468880"/>
            <a:ext cx="1645920" cy="1645920"/>
          </a:xfrm>
          <a:prstGeom prst="ellipse">
            <a:avLst/>
          </a:prstGeom>
          <a:noFill/>
          <a:ln w="317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903720" y="2788920"/>
            <a:ext cx="1005840" cy="1005840"/>
          </a:xfrm>
          <a:prstGeom prst="ellipse">
            <a:avLst/>
          </a:prstGeom>
          <a:solidFill>
            <a:srgbClr val="2A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28346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</a:defRPr>
            </a:pPr>
            <a:r>
              <a:t>M:M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КЛАСТЕР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611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8099"/>
                </a:solidFill>
              </a:defRPr>
            </a:pPr>
            <a:r>
              <a:t>Master-Master</a:t>
            </a:r>
          </a:p>
        </p:txBody>
      </p:sp>
      <p:sp>
        <p:nvSpPr>
          <p:cNvPr id="45" name="Oval 44"/>
          <p:cNvSpPr/>
          <p:nvPr/>
        </p:nvSpPr>
        <p:spPr>
          <a:xfrm>
            <a:off x="8961120" y="2468880"/>
            <a:ext cx="1645920" cy="1645920"/>
          </a:xfrm>
          <a:prstGeom prst="ellipse">
            <a:avLst/>
          </a:prstGeom>
          <a:noFill/>
          <a:ln w="317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81160" y="2788920"/>
            <a:ext cx="1005840" cy="1005840"/>
          </a:xfrm>
          <a:prstGeom prst="ellipse">
            <a:avLst/>
          </a:prstGeom>
          <a:solidFill>
            <a:srgbClr val="170F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0" y="28346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B5CF6"/>
                </a:solidFill>
              </a:defRPr>
            </a:pPr>
            <a:r>
              <a:t>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3337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СКРИПТИНГ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3611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8099"/>
                </a:solidFill>
              </a:defRPr>
            </a:pPr>
            <a:r>
              <a:t>TypeScript</a:t>
            </a:r>
          </a:p>
        </p:txBody>
      </p:sp>
      <p:sp>
        <p:nvSpPr>
          <p:cNvPr id="50" name="Oval 49"/>
          <p:cNvSpPr/>
          <p:nvPr/>
        </p:nvSpPr>
        <p:spPr>
          <a:xfrm>
            <a:off x="6583680" y="4480560"/>
            <a:ext cx="1645920" cy="1645920"/>
          </a:xfrm>
          <a:prstGeom prst="ellipse">
            <a:avLst/>
          </a:prstGeom>
          <a:noFill/>
          <a:ln w="317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903720" y="4800600"/>
            <a:ext cx="1005840" cy="1005840"/>
          </a:xfrm>
          <a:prstGeom prst="ellipse">
            <a:avLst/>
          </a:prstGeom>
          <a:solidFill>
            <a:srgbClr val="0019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48463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96C7"/>
                </a:solidFill>
              </a:defRPr>
            </a:pPr>
            <a:r>
              <a:t>7+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5349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ОС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5623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8099"/>
                </a:solidFill>
              </a:defRPr>
            </a:pPr>
            <a:r>
              <a:t>Astra, ALT, РЕД...</a:t>
            </a:r>
          </a:p>
        </p:txBody>
      </p:sp>
      <p:sp>
        <p:nvSpPr>
          <p:cNvPr id="55" name="Oval 54"/>
          <p:cNvSpPr/>
          <p:nvPr/>
        </p:nvSpPr>
        <p:spPr>
          <a:xfrm>
            <a:off x="8961120" y="4480560"/>
            <a:ext cx="1645920" cy="1645920"/>
          </a:xfrm>
          <a:prstGeom prst="ellipse">
            <a:avLst/>
          </a:prstGeom>
          <a:noFill/>
          <a:ln w="31750">
            <a:solidFill>
              <a:srgbClr val="FF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281160" y="4800600"/>
            <a:ext cx="1005840" cy="1005840"/>
          </a:xfrm>
          <a:prstGeom prst="ellipse">
            <a:avLst/>
          </a:prstGeom>
          <a:solidFill>
            <a:srgbClr val="2A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61120" y="48463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0080"/>
                </a:solidFill>
              </a:defRPr>
            </a:pPr>
            <a:r>
              <a:t>API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61120" y="5349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ДОСТУП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5623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B8099"/>
                </a:solidFill>
              </a:defRPr>
            </a:pPr>
            <a:r>
              <a:t>REST + WebSocket</a:t>
            </a:r>
          </a:p>
        </p:txBody>
      </p:sp>
      <p:sp>
        <p:nvSpPr>
          <p:cNvPr id="60" name="Oval 59"/>
          <p:cNvSpPr/>
          <p:nvPr/>
        </p:nvSpPr>
        <p:spPr>
          <a:xfrm>
            <a:off x="8229600" y="1280160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473440" y="1280160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717280" y="1280160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961120" y="1280160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9600" y="3291840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73440" y="3291840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17280" y="3291840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961120" y="3291840"/>
            <a:ext cx="54864" cy="54864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" y="638251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8099"/>
                </a:solidFill>
              </a:defRPr>
            </a:pPr>
            <a:r>
              <a:t>АО «Лаборатория Технологий Автоматизации» (ЛТА)  │  apcslab.ru  │  8 (800) 550-26-21  │  info@apcslab.ru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О платформе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" y="1344168"/>
            <a:ext cx="7187183" cy="2249424"/>
          </a:xfrm>
          <a:prstGeom prst="roundRect">
            <a:avLst/>
          </a:prstGeom>
          <a:solidFill>
            <a:srgbClr val="00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7132320" cy="219456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A1428"/>
                </a:solidFill>
              </a:defRPr>
            </a:pPr>
            <a:r>
              <a:t>⚙️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5544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FF"/>
                </a:solidFill>
              </a:defRPr>
            </a:pPr>
            <a:r>
              <a:t>Что такое «Лацерта»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20240"/>
            <a:ext cx="5852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E0ECF5"/>
                </a:solidFill>
              </a:defRPr>
            </a:pPr>
            <a:r>
              <a:t>▸  Платформа для построения и эксплуатации АСУ объектами на всём жизненном цикле</a:t>
            </a:r>
          </a:p>
          <a:p>
            <a:pPr>
              <a:spcAft>
                <a:spcPts val="500"/>
              </a:spcAft>
              <a:defRPr sz="1200">
                <a:solidFill>
                  <a:srgbClr val="E0ECF5"/>
                </a:solidFill>
              </a:defRPr>
            </a:pPr>
            <a:r>
              <a:t>▸  Низкий порог входа: нужна квалификация в предметной области, не навыки программирования</a:t>
            </a:r>
          </a:p>
          <a:p>
            <a:pPr>
              <a:spcAft>
                <a:spcPts val="500"/>
              </a:spcAft>
              <a:defRPr sz="1200">
                <a:solidFill>
                  <a:srgbClr val="E0ECF5"/>
                </a:solidFill>
              </a:defRPr>
            </a:pPr>
            <a:r>
              <a:t>▸  Сбор данных от ПЛК/IIoT, визуализация, управление, предиктивная аналитика</a:t>
            </a:r>
          </a:p>
          <a:p>
            <a:pPr>
              <a:spcAft>
                <a:spcPts val="500"/>
              </a:spcAft>
              <a:defRPr sz="1200">
                <a:solidFill>
                  <a:srgbClr val="E0ECF5"/>
                </a:solidFill>
              </a:defRPr>
            </a:pPr>
            <a:r>
              <a:t>▸  Двусторонний обмен с внешними информационными системами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36408" y="1344168"/>
            <a:ext cx="3895344" cy="2249424"/>
          </a:xfrm>
          <a:prstGeom prst="roundRect">
            <a:avLst/>
          </a:prstGeom>
          <a:solidFill>
            <a:srgbClr val="004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0" y="1371600"/>
            <a:ext cx="3840480" cy="219456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087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Области применения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874519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87451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CF5"/>
                </a:solidFill>
              </a:defRPr>
            </a:pPr>
            <a:r>
              <a:t>АСУ ТП / АСУ ПП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1031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103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CF5"/>
                </a:solidFill>
              </a:defRPr>
            </a:pPr>
            <a:r>
              <a:t>SCADA / HMI / РСУ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3317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3317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CF5"/>
                </a:solidFill>
              </a:defRPr>
            </a:pPr>
            <a:r>
              <a:t>IIoT — промышленный IoT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5603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🖥️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5603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CF5"/>
                </a:solidFill>
              </a:defRPr>
            </a:pPr>
            <a:r>
              <a:t>Диспетчерские центры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7889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7889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CF5"/>
                </a:solidFill>
              </a:defRPr>
            </a:pPr>
            <a:r>
              <a:t>Предиктивная аналитика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0175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017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CF5"/>
                </a:solidFill>
              </a:defRPr>
            </a:pPr>
            <a:r>
              <a:t>Диагностика оборудования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2461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3246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CF5"/>
                </a:solidFill>
              </a:defRPr>
            </a:pPr>
            <a:r>
              <a:t>Мониторинг инфраструктуры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794760"/>
            <a:ext cx="2103120" cy="192024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794760"/>
            <a:ext cx="21031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43000" y="3977639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402335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A1428"/>
                </a:solidFill>
              </a:defRPr>
            </a:pPr>
            <a:r>
              <a:t>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663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Сбор данных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983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8099"/>
                </a:solidFill>
              </a:defRPr>
            </a:pPr>
            <a:r>
              <a:t>Распределённые</a:t>
            </a:r>
            <a:br/>
            <a:r>
              <a:t>источники, ПЛК, IIoT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88920" y="3794760"/>
            <a:ext cx="2103120" cy="192024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88920" y="3794760"/>
            <a:ext cx="210312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474720" y="3977639"/>
            <a:ext cx="594360" cy="5943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402335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A1428"/>
                </a:solidFill>
              </a:defRPr>
            </a:pPr>
            <a:r>
              <a:t>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4663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Обмен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79" y="4983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8099"/>
                </a:solidFill>
              </a:defRPr>
            </a:pPr>
            <a:r>
              <a:t>Двусторонний обмен</a:t>
            </a:r>
            <a:br/>
            <a:r>
              <a:t>с внешними ИС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79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20640" y="3794760"/>
            <a:ext cx="2103120" cy="192024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120640" y="3794760"/>
            <a:ext cx="210312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806440" y="3977639"/>
            <a:ext cx="594360" cy="5943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06440" y="402335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A1428"/>
                </a:solidFill>
              </a:defRPr>
            </a:pPr>
            <a:r>
              <a:t>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4663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8C00"/>
                </a:solidFill>
              </a:defRPr>
            </a:pPr>
            <a:r>
              <a:t>Управление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7800" y="4983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8099"/>
                </a:solidFill>
              </a:defRPr>
            </a:pPr>
            <a:r>
              <a:t>Логика техпроцесса,</a:t>
            </a:r>
            <a:br/>
            <a:r>
              <a:t>воздействия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600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52359" y="3794760"/>
            <a:ext cx="2103120" cy="192024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52359" y="3794760"/>
            <a:ext cx="21031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138159" y="3977639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38159" y="402335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A1428"/>
                </a:solidFill>
              </a:defRPr>
            </a:pPr>
            <a:r>
              <a:t>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59" y="4663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</a:defRPr>
            </a:pPr>
            <a:r>
              <a:t>Визуализация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19" y="4983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8099"/>
                </a:solidFill>
              </a:defRPr>
            </a:pPr>
            <a:r>
              <a:t>Мнемосхемы, виджеты,</a:t>
            </a:r>
            <a:br/>
            <a:r>
              <a:t>тренды, таблицы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18319" y="4434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</a:defRPr>
            </a:pPr>
            <a:r>
              <a:t>→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84080" y="3794760"/>
            <a:ext cx="2103120" cy="192024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784080" y="3794760"/>
            <a:ext cx="2103120" cy="45720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469880" y="3977639"/>
            <a:ext cx="594360" cy="594360"/>
          </a:xfrm>
          <a:prstGeom prst="ellipse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469880" y="402335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A1428"/>
                </a:solidFill>
              </a:defRPr>
            </a:pPr>
            <a:r>
              <a:t>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84080" y="4663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0080"/>
                </a:solidFill>
              </a:defRPr>
            </a:pPr>
            <a:r>
              <a:t>Аналитика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21240" y="49834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8099"/>
                </a:solidFill>
              </a:defRPr>
            </a:pPr>
            <a:r>
              <a:t>Предиктивная,</a:t>
            </a:r>
            <a:br/>
            <a:r>
              <a:t>поддержка решений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5943600"/>
            <a:ext cx="11247120" cy="457200"/>
          </a:xfrm>
          <a:prstGeom prst="roundRect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" y="59436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🏗️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1600" y="5989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</a:defRPr>
            </a:pPr>
            <a:r>
              <a:t>Энергетика  •  Электросети  •  Нефтегаз  •  Металлургия  •  Химия  •  Машиностроение  •  Транспорт  •  Умный город  •  ЦОД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6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8099"/>
                </a:solidFill>
              </a:defRPr>
            </a:pPr>
            <a:r>
              <a:t>Реестр ПО №17502  •  Патент РФ №2797756  •  Патент ЕАПО №045687  •  Свидетельство №2022660501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Архитектура ядра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099"/>
                </a:solidFill>
              </a:defRPr>
            </a:pPr>
            <a:r>
              <a:t>EDA + SOA — событийно-ориентированная и сервис-ориентированная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71600"/>
            <a:ext cx="5212080" cy="82296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371600"/>
            <a:ext cx="54864" cy="8229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4447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🖥️  КЛИЕНТЫ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8105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</a:defRPr>
            </a:pPr>
            <a:r>
              <a:t>REST API  •  WebSocket  •  Web-браузер (nginx)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286000"/>
            <a:ext cx="6675120" cy="82296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2286000"/>
            <a:ext cx="54864" cy="8229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35915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</a:defRPr>
            </a:pPr>
            <a:r>
              <a:t>⚙️  СЕРВИСЫ (SOA)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72491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</a:defRPr>
            </a:pPr>
            <a:r>
              <a:t>События  •  Расчёты  •  Имитация  •  Архив  •  Скриптинг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3200400"/>
            <a:ext cx="8138160" cy="82296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0" y="3200400"/>
            <a:ext cx="54864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3273552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</a:defRPr>
            </a:pPr>
            <a:r>
              <a:t>⚡  ЯДРО РЕАЛЬНОГО ВРЕМЕНИ (EDA)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63931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</a:defRPr>
            </a:pPr>
            <a:r>
              <a:t>ОДА в RAM  •  Временные метки  •  Latency/Jitter  •  Кэш → Архив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4114800"/>
            <a:ext cx="9601200" cy="82296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0" y="4114800"/>
            <a:ext cx="54864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41879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🔌  ДРАЙВЕРЫ И ШЛЮЗЫ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5537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</a:defRPr>
            </a:pPr>
            <a:r>
              <a:t>OPC UA  •  Modbus  •  Profinet  •  MQTT  •  IEC 61850/60870  •  13+ протоколов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11064240" cy="82296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029200"/>
            <a:ext cx="54864" cy="82296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023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</a:defRPr>
            </a:pPr>
            <a:r>
              <a:t>💾  ДАННЫЕ И ХРАНЕНИЕ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6811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8"/>
                </a:solidFill>
              </a:defRPr>
            </a:pPr>
            <a:r>
              <a:t>PostgreSQL 11 (мета)  •  ClickHouse 23 (TSDB)  •  Циклический архив  •  Сжатие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" y="1344168"/>
            <a:ext cx="2980944" cy="1609344"/>
          </a:xfrm>
          <a:prstGeom prst="roundRect">
            <a:avLst/>
          </a:prstGeom>
          <a:solidFill>
            <a:srgbClr val="004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74320" y="1371600"/>
            <a:ext cx="2926080" cy="155448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76"/>
                </a:solidFill>
              </a:defRPr>
            </a:pPr>
            <a:r>
              <a:t>🔗  Кластер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18288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Multi-active (master-master)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Синхронизация защищённая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Балансировка нагрузки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Линейное масштабирование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33688" y="1344168"/>
            <a:ext cx="2980944" cy="1609344"/>
          </a:xfrm>
          <a:prstGeom prst="roundRect">
            <a:avLst/>
          </a:prstGeom>
          <a:solidFill>
            <a:srgbClr val="550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61120" y="1371600"/>
            <a:ext cx="2926080" cy="155448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1508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0080"/>
                </a:solidFill>
              </a:defRPr>
            </a:pPr>
            <a:r>
              <a:t>🔒  Безопасность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18288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RBAC до уровня объекта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LDAP / Keycloak / SSO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Разделение ОДА/МДА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Межсетевые экраны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6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8099"/>
                </a:solidFill>
              </a:defRPr>
            </a:pPr>
            <a:r>
              <a:t>Событие = реакция на изменение переменных  •  Приоритеты 1–10  •  Квитирование  •  Аудиовизуальные тревоги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Состав платформы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1188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554480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A1428"/>
                </a:solidFill>
              </a:defRPr>
            </a:pPr>
            <a:r>
              <a:t>🖥️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</a:defRPr>
            </a:pPr>
            <a:r>
              <a:t>SCADA/HMI</a:t>
            </a:r>
            <a:br/>
            <a:r>
              <a:t>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Мнемосхемы (SVG) с динамикой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Виджеты: тренды, таблицы, видео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Фрагменты для внешних библиотек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Многоэкранные стенды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Web-доступ (nginx)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61188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80560" y="1554480"/>
            <a:ext cx="594360" cy="5943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6002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A1428"/>
                </a:solidFill>
              </a:defRPr>
            </a:pPr>
            <a:r>
              <a:t>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76"/>
                </a:solidFill>
              </a:defRPr>
            </a:pPr>
            <a:r>
              <a:t>Промышленная</a:t>
            </a:r>
            <a:br/>
            <a:r>
              <a:t>СУБД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488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Кэш РВ в оперативной памяти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Циклический архив (сжатие)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PostgreSQL 11 — метаданные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ClickHouse 23 — TSDB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Экспорт/импорт данных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716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36118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1040" y="1554480"/>
            <a:ext cx="594360" cy="5943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6002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A1428"/>
                </a:solidFill>
              </a:defRPr>
            </a:pPr>
            <a:r>
              <a:t>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508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</a:defRPr>
            </a:pPr>
            <a:r>
              <a:t>Шлюз</a:t>
            </a:r>
            <a:br/>
            <a:r>
              <a:t>сопряжения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1488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9 промышленных протоколов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2 сетевых: ICMP, SNMP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5 внешних: Trassir, Perco...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ППИ для своих драйверов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Двусторонний обмен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148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36118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4297680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3434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A1428"/>
                </a:solidFill>
              </a:defRPr>
            </a:pPr>
            <a:r>
              <a:t>🛠️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251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</a:defRPr>
            </a:pPr>
            <a:r>
              <a:t>SCADA IDE</a:t>
            </a:r>
            <a:br/>
            <a:r>
              <a:t>(Designtime)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8920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Редактор моделей и объектов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Конфигуратор событий/тревог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Конфигуратор драйверов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Скриптинг TypeScript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Подсветка синтаксиса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1148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4114800"/>
            <a:ext cx="3611880" cy="54864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80560" y="4297680"/>
            <a:ext cx="594360" cy="594360"/>
          </a:xfrm>
          <a:prstGeom prst="ellipse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43434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A1428"/>
                </a:solidFill>
              </a:defRPr>
            </a:pPr>
            <a:r>
              <a:t>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251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80"/>
                </a:solidFill>
              </a:defRPr>
            </a:pPr>
            <a:r>
              <a:t>Библиотека</a:t>
            </a:r>
            <a:br/>
            <a:r>
              <a:t>элементов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8920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Датчики, задвижки, насосы...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SVG-формат, любой редактор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Статика + динамика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Экспорт между проектами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Привязка к моделям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1148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4114800"/>
            <a:ext cx="3611880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21040" y="4297680"/>
            <a:ext cx="594360" cy="59436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343400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A1428"/>
                </a:solidFill>
              </a:defRPr>
            </a:pPr>
            <a:r>
              <a:t>🛡️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42519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600"/>
                </a:solidFill>
              </a:defRPr>
            </a:pPr>
            <a:r>
              <a:t>Шлюз</a:t>
            </a:r>
            <a:br/>
            <a:r>
              <a:t>безопасности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8920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LDAP / Active Directory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Keycloak (SSO)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Межсетевые экраны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Разделение ОДА/МДА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▸  Мультитенантность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Протоколы, интеграции и платформы</a:t>
            </a:r>
          </a:p>
        </p:txBody>
      </p:sp>
      <p:sp>
        <p:nvSpPr>
          <p:cNvPr id="6" name="Oval 5"/>
          <p:cNvSpPr/>
          <p:nvPr/>
        </p:nvSpPr>
        <p:spPr>
          <a:xfrm>
            <a:off x="4937760" y="2560320"/>
            <a:ext cx="2286000" cy="2286000"/>
          </a:xfrm>
          <a:prstGeom prst="ellipse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37760" y="2560320"/>
            <a:ext cx="2286000" cy="2286000"/>
          </a:xfrm>
          <a:prstGeom prst="ellipse">
            <a:avLst/>
          </a:prstGeom>
          <a:noFill/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03520" y="2926080"/>
            <a:ext cx="1554480" cy="1554480"/>
          </a:xfrm>
          <a:prstGeom prst="ellipse">
            <a:avLst/>
          </a:prstGeom>
          <a:solidFill>
            <a:srgbClr val="15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3063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4FF"/>
                </a:solidFill>
              </a:defRPr>
            </a:pPr>
            <a:r>
              <a:t>SCADA</a:t>
            </a:r>
            <a:br/>
            <a:r>
              <a:t>Лацерта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8099"/>
                </a:solidFill>
              </a:defRPr>
            </a:pPr>
            <a:r>
              <a:t>Ядро платформы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280160"/>
            <a:ext cx="320040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280160"/>
            <a:ext cx="32004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3898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</a:defRPr>
            </a:pPr>
            <a:r>
              <a:t>Промышленные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1664207"/>
            <a:ext cx="2926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OPC UA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Modbus TCP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Profinet/S7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MQTT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BACnet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IEC 61850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IEC 60870-5-104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NTP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206240"/>
            <a:ext cx="3200400" cy="137160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43159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76"/>
                </a:solidFill>
              </a:defRPr>
            </a:pPr>
            <a:r>
              <a:t>Сетевые и мониторинг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590288"/>
            <a:ext cx="2926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ICMP (ping)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SNMP v2/v3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Zabbix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1280160"/>
            <a:ext cx="3200400" cy="201168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0" y="1280160"/>
            <a:ext cx="320040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138988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</a:defRPr>
            </a:pPr>
            <a:r>
              <a:t>Внешние системы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1664207"/>
            <a:ext cx="2926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Trassir — видео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Perco — СКУД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FindFace — лица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OrionPro — Болид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Asterisk — VoIP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3566160"/>
            <a:ext cx="3200400" cy="16459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0" y="3566160"/>
            <a:ext cx="32004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3675887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</a:defRPr>
            </a:pPr>
            <a:r>
              <a:t>API и связь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50208"/>
            <a:ext cx="2926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REST API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WebSocket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lacerta-протокол</a:t>
            </a:r>
          </a:p>
          <a:p>
            <a:pPr>
              <a:spcAft>
                <a:spcPts val="200"/>
              </a:spcAft>
              <a:defRPr sz="1000">
                <a:solidFill>
                  <a:srgbClr val="B0C4D8"/>
                </a:solidFill>
              </a:defRPr>
            </a:pPr>
            <a:r>
              <a:t>▸  ППИ (SDK)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5806440"/>
            <a:ext cx="5760720" cy="82296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5806440"/>
            <a:ext cx="5760720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897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C7"/>
                </a:solidFill>
              </a:defRPr>
            </a:pPr>
            <a:r>
              <a:t>🖥️  Платформы: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8978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C4D8"/>
                </a:solidFill>
              </a:defRPr>
            </a:pPr>
            <a:r>
              <a:t>Astra Linux  •  ALT  •  РЕД ОС  •  ROSA  •  Ubuntu 18+  •  Debian 10  •  Windows 10 (клиент)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806440"/>
            <a:ext cx="5669280" cy="82296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5806440"/>
            <a:ext cx="5669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897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</a:defRPr>
            </a:pPr>
            <a:r>
              <a:t>⚙️  Стек: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58978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C4D8"/>
                </a:solidFill>
              </a:defRPr>
            </a:pPr>
            <a:r>
              <a:t>lacerta-server :8000  •  nginx :80  •  PostgreSQL :5432  •  ClickHouse :9000  •  lacerta-ui  •  lacerta-drivers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Разработка и визуализация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1188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A1428"/>
                </a:solidFill>
              </a:defRPr>
            </a:pPr>
            <a:r>
              <a:t>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Объектная модель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Модели → Объекты + наследование</a:t>
            </a:r>
          </a:p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Каскадное изменение при обновлении</a:t>
            </a:r>
          </a:p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Иерархия любой вложенности</a:t>
            </a:r>
          </a:p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Типы: bool, float, string, 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031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FF"/>
                </a:solidFill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61188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480560" y="1554480"/>
            <a:ext cx="548640" cy="54864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A1428"/>
                </a:solidFill>
              </a:defRPr>
            </a:pPr>
            <a:r>
              <a:t>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76"/>
                </a:solidFill>
              </a:defRPr>
            </a:pPr>
            <a:r>
              <a:t>IDE (Designtime)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1488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Редактор моделей и навигация</a:t>
            </a:r>
          </a:p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Привязка объектов к драйверам</a:t>
            </a:r>
          </a:p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Конфигуратор событий/ролей</a:t>
            </a:r>
          </a:p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TypeScript + подсветка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1031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FF"/>
                </a:solidFill>
              </a:defRPr>
            </a:pPr>
            <a: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3716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61188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21040" y="155448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A1428"/>
                </a:solidFill>
              </a:defRPr>
            </a:pPr>
            <a:r>
              <a:t>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</a:defRPr>
            </a:pPr>
            <a:r>
              <a:t>Вычисления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1488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Калькулятор: арифметика, ∫</a:t>
            </a:r>
          </a:p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ЕСЛИ / ЕСЛИМН (условия)</a:t>
            </a:r>
          </a:p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Имитатор: sin, △, /|, □</a:t>
            </a:r>
          </a:p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Расширение через ППИ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1148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114800"/>
            <a:ext cx="36118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0080" y="429768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A1428"/>
                </a:solidFill>
              </a:defRPr>
            </a:pPr>
            <a:r>
              <a:t>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297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5CF6"/>
                </a:solidFill>
              </a:defRPr>
            </a:pPr>
            <a:r>
              <a:t>Мнемосхемы SVG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8920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Статика + динамика</a:t>
            </a:r>
          </a:p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Тренды, таблицы, камеры</a:t>
            </a:r>
          </a:p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Композитные (вложенные)</a:t>
            </a:r>
          </a:p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Многоэкранные + мобильные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846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FF"/>
                </a:solidFill>
              </a:defRPr>
            </a:pPr>
            <a: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41148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4114800"/>
            <a:ext cx="3611880" cy="54864"/>
          </a:xfrm>
          <a:prstGeom prst="rect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480560" y="4297680"/>
            <a:ext cx="548640" cy="548640"/>
          </a:xfrm>
          <a:prstGeom prst="ellipse">
            <a:avLst/>
          </a:prstGeom>
          <a:solidFill>
            <a:srgbClr val="FF0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A1428"/>
                </a:solidFill>
              </a:defRPr>
            </a:pPr>
            <a:r>
              <a:t>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297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0080"/>
                </a:solidFill>
              </a:defRPr>
            </a:pPr>
            <a:r>
              <a:t>Привязка данных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48920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Модель ↔ элемент (M:N)</a:t>
            </a:r>
          </a:p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Автовалидация связок</a:t>
            </a:r>
          </a:p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Скрипты поведения</a:t>
            </a:r>
          </a:p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Сценарии на TypeScript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48463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FF"/>
                </a:solidFill>
              </a:defRPr>
            </a:pPr>
            <a: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4114800"/>
            <a:ext cx="3611880" cy="256032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38160" y="4114800"/>
            <a:ext cx="3611880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321040" y="4297680"/>
            <a:ext cx="548640" cy="548640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4343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A1428"/>
                </a:solidFill>
              </a:defRPr>
            </a:pPr>
            <a:r>
              <a:t>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4297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600"/>
                </a:solidFill>
              </a:defRPr>
            </a:pPr>
            <a:r>
              <a:t>Данные и отчёты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48920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Таблицы: срез, изменения</a:t>
            </a:r>
          </a:p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Тренды: наложенные, сглаж.</a:t>
            </a:r>
          </a:p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Архив до 24ч (быстрый)</a:t>
            </a:r>
          </a:p>
          <a:p>
            <a:pPr>
              <a:spcAft>
                <a:spcPts val="400"/>
              </a:spcAft>
              <a:defRPr sz="1100">
                <a:solidFill>
                  <a:srgbClr val="E0ECF5"/>
                </a:solidFill>
              </a:defRPr>
            </a:pPr>
            <a:r>
              <a:t>▸  Экспорт / печать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Лицензирование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651760" cy="64008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6517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</a:defRPr>
            </a:pPr>
            <a:r>
              <a:t>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5331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CF5"/>
                </a:solidFill>
              </a:defRPr>
            </a:pPr>
            <a:r>
              <a:t>Безлимитные</a:t>
            </a:r>
            <a:br/>
            <a:r>
              <a:t>теги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280160"/>
            <a:ext cx="2651760" cy="64008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280160"/>
            <a:ext cx="265176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E676"/>
                </a:solidFill>
              </a:defRPr>
            </a:pPr>
            <a:r>
              <a:t>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35331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CF5"/>
                </a:solidFill>
              </a:defRPr>
            </a:pPr>
            <a:r>
              <a:t>Безлимитные</a:t>
            </a:r>
            <a:br/>
            <a:r>
              <a:t>клиенты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80160"/>
            <a:ext cx="2651760" cy="64008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280160"/>
            <a:ext cx="265176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8C00"/>
                </a:solidFill>
              </a:defRPr>
            </a:pPr>
            <a:r>
              <a:t>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35331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CF5"/>
                </a:solidFill>
              </a:defRPr>
            </a:pPr>
            <a:r>
              <a:t>Безлимитные</a:t>
            </a:r>
            <a:br/>
            <a:r>
              <a:t>подключения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280160"/>
            <a:ext cx="2651760" cy="64008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280160"/>
            <a:ext cx="26517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B5CF6"/>
                </a:solidFill>
              </a:defRPr>
            </a:pPr>
            <a:r>
              <a:t>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35331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CF5"/>
                </a:solidFill>
              </a:defRPr>
            </a:pPr>
            <a:r>
              <a:t>Лицензия</a:t>
            </a:r>
            <a:br/>
            <a:r>
              <a:t>по серверу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103120"/>
            <a:ext cx="2697480" cy="329184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103120"/>
            <a:ext cx="269748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531620" y="228600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31620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A1428"/>
                </a:solidFill>
              </a:defRPr>
            </a:pPr>
            <a: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8803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СТАРТ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154679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990 000 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566160"/>
            <a:ext cx="2148840" cy="18288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6576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Платформа + Runtime + IDE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Библиотека элементов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4 базовых драйвера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Небольшие объекты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Пилотные проекты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1965960"/>
            <a:ext cx="2788920" cy="356616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83280" y="2103120"/>
            <a:ext cx="2697480" cy="3291840"/>
          </a:xfrm>
          <a:prstGeom prst="roundRect">
            <a:avLst/>
          </a:prstGeom>
          <a:solidFill>
            <a:srgbClr val="0D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1993391"/>
            <a:ext cx="2697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A1428"/>
                </a:solidFill>
              </a:defRPr>
            </a:pPr>
            <a:r>
              <a:t>★ ПОПУЛЯРНЫЙ</a:t>
            </a:r>
          </a:p>
        </p:txBody>
      </p:sp>
      <p:sp>
        <p:nvSpPr>
          <p:cNvPr id="33" name="Oval 32"/>
          <p:cNvSpPr/>
          <p:nvPr/>
        </p:nvSpPr>
        <p:spPr>
          <a:xfrm>
            <a:off x="4457700" y="2286000"/>
            <a:ext cx="548640" cy="54864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57700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A1428"/>
                </a:solidFill>
              </a:defRPr>
            </a:pPr>
            <a:r>
              <a:t>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28803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76"/>
                </a:solidFill>
              </a:defRPr>
            </a:pPr>
            <a:r>
              <a:t>ПРО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3154679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1 690 000 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3566160"/>
            <a:ext cx="2148840" cy="18288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0" y="36576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Всё из «Старт» плюс: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Промышленная СУБД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13+ драйверов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Калькулятор / Имитатор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Средние/крупные объекты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2103120"/>
            <a:ext cx="2697480" cy="329184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2103120"/>
            <a:ext cx="2697480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383779" y="228600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83779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A1428"/>
                </a:solidFill>
              </a:defRPr>
            </a:pPr>
            <a:r>
              <a:t>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28803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</a:defRPr>
            </a:pPr>
            <a:r>
              <a:t>КОРПОРАТИВНЫЙ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3154679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2 490 000 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3566160"/>
            <a:ext cx="2148840" cy="18288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36576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Всё из «Про» плюс: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Кластер multi-active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Шлюз безопасности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LDAP / Keycloak / SSO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РСУ, КИИ, диспетчерские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35440" y="2103120"/>
            <a:ext cx="2697480" cy="329184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35440" y="2103120"/>
            <a:ext cx="2697480" cy="45720"/>
          </a:xfrm>
          <a:prstGeom prst="rect">
            <a:avLst/>
          </a:prstGeom>
          <a:solidFill>
            <a:srgbClr val="6B8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09860" y="2286000"/>
            <a:ext cx="548640" cy="548640"/>
          </a:xfrm>
          <a:prstGeom prst="ellipse">
            <a:avLst/>
          </a:prstGeom>
          <a:solidFill>
            <a:srgbClr val="6B8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09860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A1428"/>
                </a:solidFill>
              </a:defRPr>
            </a:pPr>
            <a:r>
              <a:t>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2880360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B8099"/>
                </a:solidFill>
              </a:defRPr>
            </a:pPr>
            <a:r>
              <a:t>EDGE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3154679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120 000 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760" y="3566160"/>
            <a:ext cx="2148840" cy="18288"/>
          </a:xfrm>
          <a:prstGeom prst="rect">
            <a:avLst/>
          </a:prstGeom>
          <a:solidFill>
            <a:srgbClr val="2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20" y="3657600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Шлюз для удалённых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объектов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  <a:r>
              <a:t>Скидки от 10 шт.</a:t>
            </a:r>
          </a:p>
          <a:p>
            <a:pPr>
              <a:spcAft>
                <a:spcPts val="300"/>
              </a:spcAft>
              <a:defRPr sz="1000">
                <a:solidFill>
                  <a:srgbClr val="E0ECF5"/>
                </a:solidFill>
              </a:defRPr>
            </a:pPr>
          </a:p>
        </p:txBody>
      </p:sp>
      <p:sp>
        <p:nvSpPr>
          <p:cNvPr id="55" name="Rounded Rectangle 54"/>
          <p:cNvSpPr/>
          <p:nvPr/>
        </p:nvSpPr>
        <p:spPr>
          <a:xfrm>
            <a:off x="457200" y="5623560"/>
            <a:ext cx="11247120" cy="822960"/>
          </a:xfrm>
          <a:prstGeom prst="roundRect">
            <a:avLst/>
          </a:prstGeom>
          <a:solidFill>
            <a:srgbClr val="18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5715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Готовы обсудить ваш проект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0" y="5760720"/>
            <a:ext cx="2103120" cy="45720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23560" y="5806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</a:defRPr>
            </a:pPr>
            <a:r>
              <a:t>🌐  apcslab.ru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72400" y="5760720"/>
            <a:ext cx="2103120" cy="45720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09560" y="5806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76"/>
                </a:solidFill>
              </a:defRPr>
            </a:pPr>
            <a:r>
              <a:t>📞  8 (800) 550-26-21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58400" y="5760720"/>
            <a:ext cx="2103120" cy="457200"/>
          </a:xfrm>
          <a:prstGeom prst="roundRect">
            <a:avLst/>
          </a:prstGeom>
          <a:solidFill>
            <a:srgbClr val="112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95560" y="5806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8C00"/>
                </a:solidFill>
              </a:defRPr>
            </a:pPr>
            <a:r>
              <a:t>✉️  info@apcslab.ru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5653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8099"/>
                </a:solidFill>
              </a:defRPr>
            </a:pPr>
            <a:r>
              <a:t>Реестр ПО №17502  •  Патент РФ •  Патент ЕАПО  •  Импортозамещение  •  Сертификация ФСТЭК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