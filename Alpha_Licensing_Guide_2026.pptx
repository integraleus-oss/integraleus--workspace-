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АЛЬФА ПЛАТФОРМА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0096D6"/>
                </a:solidFill>
                <a:latin typeface="Segoe UI"/>
              </a:defRPr>
            </a:pPr>
            <a:r>
              <a:t>Руководство по лицензированию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301752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BB"/>
                </a:solidFill>
                <a:latin typeface="Segoe UI"/>
              </a:defRPr>
            </a:pPr>
            <a:r>
              <a:t>Выбор семейства  •  Архитектура  •  Расчёт  •  Пресейл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2026  |  Внутренний документ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Линейка продуктов Alpha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BB"/>
                </a:solidFill>
                <a:latin typeface="Segoe UI"/>
              </a:defRPr>
            </a:pPr>
            <a:r>
              <a:t>Три семейства — от простого к масштабируемому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1148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57400"/>
            <a:ext cx="292608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A0"/>
                </a:solidFill>
                <a:latin typeface="Segoe UI"/>
              </a:defRPr>
            </a:pPr>
            <a:r>
              <a:t>⚡ Alpha.One+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Односерверное решение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До 50 000 тегов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1 пользователь + 1 WEB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Без резервирования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Идеален для малых объектов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Минимальный порог входа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920240"/>
            <a:ext cx="3291840" cy="41148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2057400"/>
            <a:ext cx="292608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Segoe UI"/>
              </a:defRPr>
            </a:pPr>
            <a:r>
              <a:t>🏭 Alpha.SCADA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97480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Типовой промышленный контур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Основной + резервный сервер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Множественные клиенты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Full / WEB / Terminal доступ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Historian и отчёты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Классическая SCADA-архитектура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920240"/>
            <a:ext cx="3291840" cy="41148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2057400"/>
            <a:ext cx="292608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Segoe UI"/>
              </a:defRPr>
            </a:pPr>
            <a:r>
              <a:t>🚀 Alpha.Platform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697480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Мультисерверная архитектура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Масштабирование без ограничений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Драйверы включены в поставку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Alpha.Link для внутреннего обмена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Архитектурная гибкость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Готовность к росту системы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Матрица выбора семейства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383280" cy="18288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01752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Segoe UI"/>
              </a:defRPr>
            </a:pPr>
            <a:r>
              <a:t>🔒 Нужен резерв?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ДА → базовый вариант Alpha.SCADA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Резерв = 2× серверная лицензия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одного уровня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645920"/>
            <a:ext cx="3383280" cy="18288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83080"/>
            <a:ext cx="301752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A0"/>
                </a:solidFill>
                <a:latin typeface="Segoe UI"/>
              </a:defRPr>
            </a:pPr>
            <a:r>
              <a:t>📊 До 50К тегов, 1 клиент?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4231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ДА (без резерва) → Alpha.One+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Простой сценарий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Однопользовательский формат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645920"/>
            <a:ext cx="3657600" cy="18288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59" y="1783080"/>
            <a:ext cx="329184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Segoe UI"/>
              </a:defRPr>
            </a:pPr>
            <a:r>
              <a:t>🌐 Мультисервер / рост?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4231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ДА → Alpha.Platform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Сложные интеграции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Масштабируемость на будущее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40480"/>
            <a:ext cx="11155680" cy="22860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Segoe UI"/>
              </a:defRPr>
            </a:pPr>
            <a:r>
              <a:t>📋 Жёсткие переключатели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Мультисерверный сценарий за пределами SCADA → Platform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Резервирование в требованиях → начинаем с SCADA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Без резерва, ≤50К тегов, 1 клиент → One+ допустим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6634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По умолчанию: минимум 2 варианта в КП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Обычно: SCADA + Platform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Финал: обязательная сверка policy + тариф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Правила интеграции и тегов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303520" cy="22860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493776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Segoe UI"/>
              </a:defRPr>
            </a:pPr>
            <a:r>
              <a:t>🔗 Межсистемный обмен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One+/SCADA → Platform = внешняя интеграция (OPC UA)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Теги считаются внешними у принимающей стороны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Platform ↔ Platform по Alpha.Link = внутренние теги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По OPC/Modbus/IEC — всегда внешние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303520" cy="22860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91640"/>
            <a:ext cx="493776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A0"/>
                </a:solidFill>
                <a:latin typeface="Segoe UI"/>
              </a:defRPr>
            </a:pPr>
            <a:r>
              <a:t>📡 Протоколы и драйверы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OPC UA / OPC DA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Modbus TCP / RTU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IEC 60870-5-101/104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IEC 61850, S7, BACnet, MQTT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Alpha.Platform: драйверы включены!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06240"/>
            <a:ext cx="5303520" cy="22860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343400"/>
            <a:ext cx="493776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Segoe UI"/>
              </a:defRPr>
            </a:pPr>
            <a:r>
              <a:t>🧮 Информационная мощность (коэффициенты)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834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Simple:   DI×2  DO×2  AI×3   AO×1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Medium:  DI×2  DO×5  AI×10  AO×1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Complex: DI×3  DO×10 AI×10  AO×15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Custom:  задаётся явно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206240"/>
            <a:ext cx="5303520" cy="22860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343400"/>
            <a:ext cx="4937760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480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Segoe UI"/>
              </a:defRPr>
            </a:pPr>
            <a:r>
              <a:t>🔢 Режимы расчёта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9834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signals_only — пересчёт DI/DO/AI/AO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tags_only — вручную заданные внешние теги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combine — сигналы + ручные теги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Порядок: сначала сигналы → потом уровень мощности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Клиенты, Historian и резервирование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474720" cy="25603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310896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Segoe UI"/>
              </a:defRPr>
            </a:pPr>
            <a:r>
              <a:t>👤 Клиентский доступ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Full-клиент (CL-F)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WEB-клиент (CL-RO)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Terminal / RDP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Обязательно: уточнить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terminal/RDP распределение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Или пометка «при заказе»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474720" cy="25603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691640"/>
            <a:ext cx="310896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A0"/>
                </a:solidFill>
                <a:latin typeface="Segoe UI"/>
              </a:defRPr>
            </a:pPr>
            <a:r>
              <a:t>🌐 WEB-клиенты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3172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≤5 одновременных — стандарт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&gt;5 — выделенный WEB-сервер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+ WEB-PORTAL обязательно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One+ — только 1 WEB-клиент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474720" cy="25603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691640"/>
            <a:ext cx="310896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Segoe UI"/>
              </a:defRPr>
            </a:pPr>
            <a:r>
              <a:t>🔒 Резервирование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3172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SCADA: 2× серверная лицензия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Historian: отдельная лицензия ×2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Platform: по правилу комплекта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Без двойного учёта тегов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при одном внешнем источнике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80560"/>
            <a:ext cx="5303520" cy="20116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617720"/>
            <a:ext cx="493776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54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Segoe UI"/>
              </a:defRPr>
            </a:pPr>
            <a:r>
              <a:t>📦 Historian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57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Отдельно от внешних тегов системы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При задании в % : ceil(total_tags × percent)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Ближайшая верхняя ступень тарифа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Резерв Historian = отдельная лицензия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480560"/>
            <a:ext cx="5303520" cy="20116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617720"/>
            <a:ext cx="4937760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754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Segoe UI"/>
              </a:defRPr>
            </a:pPr>
            <a:r>
              <a:t>📊 Reports &amp; SLA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257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Reports: серверный + клиентский профиль RPT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SLA уровни: BASE / STD / OPT / PRM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По умолчанию (не указан) → BASE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НДС 22% применяется к SLA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Пресейл-пайплайн: 10 этапов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Квалификация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562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BB"/>
                </a:solidFill>
                <a:latin typeface="Segoe UI"/>
              </a:defRPr>
            </a:pPr>
            <a:r>
              <a:t>Заказчик, объект, цель, дедлайн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Преселекция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163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BB"/>
                </a:solidFill>
                <a:latin typeface="Segoe UI"/>
              </a:defRPr>
            </a:pPr>
            <a:r>
              <a:t>One+ / SCADA / Platform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93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Тех. контур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764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BB"/>
                </a:solidFill>
                <a:latin typeface="Segoe UI"/>
              </a:defRPr>
            </a:pPr>
            <a:r>
              <a:t>Протоколы, драйверы, обмен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4531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Архитектура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36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BB"/>
                </a:solidFill>
                <a:latin typeface="Segoe UI"/>
              </a:defRPr>
            </a:pPr>
            <a:r>
              <a:t>Топология, резерв, серверы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394960"/>
            <a:ext cx="502920" cy="50292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413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Модель данных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6967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BB"/>
                </a:solidFill>
                <a:latin typeface="Segoe UI"/>
              </a:defRPr>
            </a:pPr>
            <a:r>
              <a:t>DI/DO/AI/AO, внешние теги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1554480"/>
            <a:ext cx="502920" cy="50292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Клиенты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18562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BB"/>
                </a:solidFill>
                <a:latin typeface="Segoe UI"/>
              </a:defRPr>
            </a:pPr>
            <a:r>
              <a:t>Full / WEB / Terminal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2514600"/>
            <a:ext cx="502920" cy="50292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Модули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8163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BB"/>
                </a:solidFill>
                <a:latin typeface="Segoe UI"/>
              </a:defRPr>
            </a:pPr>
            <a:r>
              <a:t>Historian, Reports, SLA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3474720"/>
            <a:ext cx="502920" cy="50292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493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Проверка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7764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BB"/>
                </a:solidFill>
                <a:latin typeface="Segoe UI"/>
              </a:defRPr>
            </a:pPr>
            <a:r>
              <a:t>Допущения и неизвестные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4434840"/>
            <a:ext cx="502920" cy="50292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4531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Расчёт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736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BB"/>
                </a:solidFill>
                <a:latin typeface="Segoe UI"/>
              </a:defRPr>
            </a:pPr>
            <a:r>
              <a:t>Мин. 2 варианта: A + B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5394960"/>
            <a:ext cx="502920" cy="50292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413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Валидация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56967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BB"/>
                </a:solidFill>
                <a:latin typeface="Segoe UI"/>
              </a:defRPr>
            </a:pPr>
            <a:r>
              <a:t>Policy + тариф + правила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355080"/>
            <a:ext cx="11155680" cy="4114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6373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10  ➤  Сборка ТКП: входные данные, архитектура, варианты A/B, что входит/не входит, риски, год тарифа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Формат коммерческого предложения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303520" cy="45720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493776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Segoe UI"/>
              </a:defRPr>
            </a:pPr>
            <a:r>
              <a:t>📄 Структура ТКП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1. Подтверждённые входные данные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2. Расчёт тегов и выбор ступеней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3. Вариант A — рекомендованный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4. Вариант B — альтернативный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5. Финансовый блок: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   • Лицензии (без НДС)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   • SLA (без НДС)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   • НДС 22% на SLA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   • SLA (с НДС)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     • Итого к оплате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6. Риски и открытые вопросы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7. Год тарифа — обязательно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303520" cy="21031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91640"/>
            <a:ext cx="4937760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Segoe UI"/>
              </a:defRPr>
            </a:pPr>
            <a:r>
              <a:t>✅ Чек-лист перед отправкой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Протоколы/драйверы подтверждены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Резерв подтверждён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Профиль клиентов подтверждён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Внешние теги посчитаны корректно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Даны 2 варианта (SCADA + Platform)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Сверка policy + тариф выполнена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303520" cy="219456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4069080"/>
            <a:ext cx="493776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06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Segoe UI"/>
              </a:defRPr>
            </a:pPr>
            <a:r>
              <a:t>⚠️ Финансовая безопасность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7091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Артикулы (SKU) — можно показывать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Построчные цены по SKU — НЕЛЬЗЯ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Только общая цена системы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Цены/тарифы — только прямой контур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В публичных чатах — share-safe версия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Опросник для клиента (под ТКП)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606040" cy="237744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224028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Segoe UI"/>
              </a:defRPr>
            </a:pPr>
            <a:r>
              <a:t>🏢 Общая рамка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Заказчик / объект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Отрасль / тип объекта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Цель проекта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Срок / дедлайн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1 или 2 варианта КП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82979800960" y="1554480"/>
            <a:ext cx="2606040" cy="237744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82979983840" y="1691640"/>
            <a:ext cx="224028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2980075280" y="18288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A0"/>
                </a:solidFill>
                <a:latin typeface="Segoe UI"/>
              </a:defRPr>
            </a:pPr>
            <a:r>
              <a:t>🏗 Архитектура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2980075280" y="233172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Семейство: One+/SCADA/Platform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Кол-во серверов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Нужен резерв?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Где именно резерв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Кол-во площадок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554480"/>
            <a:ext cx="2606040" cy="237744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91640"/>
            <a:ext cx="224028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8288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Segoe UI"/>
              </a:defRPr>
            </a:pPr>
            <a:r>
              <a:t>📊 Данные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3172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Оценка внешних тегов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Или сигналы DI/DO/AI/AO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Есть Historian?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Сколько тегов в историю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Режим расчёта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554480"/>
            <a:ext cx="2606040" cy="237744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1691640"/>
            <a:ext cx="2240280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8288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Segoe UI"/>
              </a:defRPr>
            </a:pPr>
            <a:r>
              <a:t>🔗 Интеграции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33172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OPC UA/DA, Modbus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IEC 101/104, 61850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S7, BACnet, MQTT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Источник → Получатель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Внутренний или внешний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206240"/>
            <a:ext cx="3657600" cy="219456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343400"/>
            <a:ext cx="329184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480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Segoe UI"/>
              </a:defRPr>
            </a:pPr>
            <a:r>
              <a:t>👤 Клиенты и доступ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9834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Full-клиенты (кол-во)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WEB одновременных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Terminal/RDP?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Распределение по клиентам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4206240"/>
            <a:ext cx="3657600" cy="219456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343400"/>
            <a:ext cx="329184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480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A0"/>
                </a:solidFill>
                <a:latin typeface="Segoe UI"/>
              </a:defRPr>
            </a:pPr>
            <a:r>
              <a:t>📋 Доп. требования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9834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Отчёты / аналитика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SLA / поддержка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Обучение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ОС, виртуализация, DMZ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206240"/>
            <a:ext cx="3383280" cy="219456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0" y="4343400"/>
            <a:ext cx="301752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4480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Segoe UI"/>
              </a:defRPr>
            </a:pPr>
            <a:r>
              <a:t>❓ Неизвестные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9834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Что пока не уточнено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Кто подтверждает тех.часть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Дата подтверждения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Бюджетный коридор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Ключевые принципы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286000"/>
            <a:ext cx="301752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2743200"/>
            <a:ext cx="8503920" cy="7315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2834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Минимум 2 варианта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12724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В каждом КП: рекомендованный + альтернативный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57600"/>
            <a:ext cx="8503920" cy="7315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3749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749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Сверка перед отправкой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04164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Policy + тариф + интеграционные правила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4572000"/>
            <a:ext cx="8503920" cy="7315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4663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Финансовая дисциплина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95604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Общая цена — да, построчные SKU-цены — нет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5486400"/>
            <a:ext cx="8503920" cy="7315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5577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Год тарифа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87044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BB"/>
                </a:solidFill>
                <a:latin typeface="Segoe UI"/>
              </a:defRPr>
            </a:pPr>
            <a:r>
              <a:t>Всегда указывать актуальный тарифный год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