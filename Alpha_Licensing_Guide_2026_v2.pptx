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B82F6"/>
                </a:solidFill>
                <a:latin typeface="Arial"/>
              </a:defRPr>
            </a:pPr>
            <a:r>
              <a:t>Руководство по лицензированию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749039"/>
            <a:ext cx="2103120" cy="254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Выбор семейства  |  Архитектура  |  Расчёт  |  Пресейл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Тариф 2026  |  Внутренний документ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Линейка продуктов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Три семейства — от простого к масштабируемому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3931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383280" cy="381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Alpha.One+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Односерверное решение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До 50 000 тегов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1 пользователь + 1 WEB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Без резервирования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Минимальный порог входа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Идеален для малых объектов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383280" cy="3931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Alpha.SCADA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Типовой промышленный контур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Основной + резервный сервер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Множественные клиенты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Full / WEB / Terminal доступ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Historian и отчёты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Классическая SCADA-архитектура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383280" cy="3931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38328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Alpha.Platform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Мультисерверная архитектура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Масштабирование без ограничений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Драйверы включены в поставку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Alpha.Link для внутреннего обмена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Архитектурная гибкость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Готовность к росту системы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Матрица выбора семейства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Ключевые переключатели для принятия решения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383280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383280" cy="381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Нужен резерв?  --&gt;  SCADA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Базовый вариант Alpha.SCADA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Резерв = 2x серверная лицензия одного уровня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Historian резерв — отдельная лицензия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737360"/>
            <a:ext cx="3383280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3383280" cy="381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До 50К тегов, 1 клиент?  --&gt;  One+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Без резервирования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Простой однопользовательский сценарий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Допускается 1 WEB-клиент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383280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737360"/>
            <a:ext cx="338328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Мультисервер / рост?  --&gt; 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Сложные интеграции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Выход за рамки SCADA-подхода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Масштабируемость на будущее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Arial"/>
              </a:defRPr>
            </a:pPr>
            <a:r>
              <a:t>Правила формирования КП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По умолчанию: минимум 2 варианта в каждом КП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Обычно: SCADA + Platform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One+ — только для малого/простого сценария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Финал: обязательная сверка policy + тариф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Мультисерверный сценарий за пределами SCADA -&gt; Platform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Резервирование в ТЗ -&gt; начинаем с SCADA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Всегда указывать год тарифа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 Открытые вопросы — явно выписывать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Интеграция и расчёт тегов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Правила обмена данными между системами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0352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3035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Межсистемный обмен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One+/SCADA -&gt; Platform = внешняя интеграция (OPC UA)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Теги считаются внешними у принимающей стороны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Platform &lt;-&gt; Platform по Alpha.Link = внутренние теги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По OPC/Modbus/IEC и др. — всегда внешние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0352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381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Протоколы и драйверы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OPC UA / OPC DA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Modbus TCP / RTU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IEC 60870-5-101/104 / IEC 61850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S7, BACnet, MQTT и другие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Alpha.Platform: все драйверы включены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303520" cy="22860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530352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Информационная мощность (коэффициенты)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Simple:    DI x2    DO x2    AI x3     AO x1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Medium:  DI x2    DO x5    AI x10   AO x1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Complex: DI x3    DO x10  AI x10   AO x15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Custom:   задаётся явно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Порядок: сначала сигналы, потом уровень мощности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303520" cy="22860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5303520" cy="381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Режимы расчёта тегов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006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signals_only — пересчёт из DI/DO/AI/AO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tags_only — вручную заданные внешние теги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combine — сигналы + ручные теги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Выбирать ближайшую верхнюю ступень тарифа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Минимум 2 сценария: базовый + консервативный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Клиенты, Historian и резервирование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474720" cy="22860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4747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Клиентский доступ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Full-клиент (CL-F)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WEB-клиент (CL-RO)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Terminal / RDP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Обязательно уточнить распределение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Или: «уточняется при заказе ключей»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474720" cy="22860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474720" cy="381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WEB-клиенты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&lt;= 5 одновременных — стандарт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&gt; 5 — выделенный WEB-сервер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+ WEB-PORTAL обязательно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One+ — только 1 WEB-клиент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474720" cy="22860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474720" cy="381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Резервирование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SCADA: 2x серверная лицензия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Historian: отдельная лицензия x2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Platform: по правилу комплекта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Без двойного учёта тегов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530352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Historian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Рассчитывается отдельно от внешних тегов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При задании в %: ceil(total_tags x percent)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Ближайшая верхняя ступень тарифа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Резерв Historian = отдельная лицензия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89120"/>
            <a:ext cx="530352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303520" cy="381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Reports и 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83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Reports: серверный + клиентский профиль RPT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SLA уровни: BASE / STD / OPT / PRM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Не указан SLA -&gt; по умолчанию BASE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НДС 22% применяется к SLA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Пресейл-пайплайн: 10 этапов ТКП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Квалификация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Заказчик, объект, цель, дедлайн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Преселекция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Выбор семейства: One+ / SCADA /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Тех. контур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Протоколы, драйверы, характер обмена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Архитектура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Топология, резерв, серверные роли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Модель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DI/DO/AI/AO или внешние теги, пересчёт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Клиенты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Full / WEB / Terminal, распределение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06040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Модули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Historian, Reports, SLA, хранение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474720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49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Что подтверждено / оценочно / требует уточнений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43400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Расчёт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Минимум 2 варианта: A (рекоменд.) + B (альтерн.)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212080"/>
            <a:ext cx="411480" cy="4114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Валидация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Сверка policy + тариф + интеграционные правила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126480"/>
            <a:ext cx="11247120" cy="4572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rial"/>
              </a:defRPr>
            </a:pPr>
            <a:r>
              <a:t>10 -&gt;  Сборка ТКП: входные данные, варианты A/B, что входит / не входит, риски, год тарифа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Формат коммерческого предложения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03520" cy="4389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035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Структура ТКП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1. Подтверждённые входные данные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2. Расчёт тегов и выбор ступеней тарифа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3. Вариант A — рекомендованный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4. Вариант B — альтернативный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5. Финансовый блок: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      Лицензии (без НДС)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      SLA (без НДС)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      НДС 22% на SLA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      SLA (с НДС)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      Итого к оплате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6. Риски и открытые вопросы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7. Год тарифа — указывать обязательно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035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03520" cy="381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Чек-лист перед отправкой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Протоколы и драйверы подтверждены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Резерв подтверждён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Профиль клиентов зафиксирован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Внешние теги посчитаны корректно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Даны 2 варианта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Policy + тариф сверены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035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03520" cy="381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Финансовая безопасность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7091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Артикулы (SKU) — можно показывать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Построчные цены по SKU — НЕЛЬЗЯ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Допустима только общая цена системы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Тарифные детали — только прямой контур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Для рабочих чатов — share-safe версия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Опросник для клиента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Стандартная форма сбора данных под ТКП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265176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65176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Общая рамка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Заказчик / объект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Отрасль / тип объекта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Цель проекта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Срок / дедлайн ТКП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65176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737360"/>
            <a:ext cx="2651760" cy="381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Архитектура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31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Семейство: One+/SCADA/Platform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Кол-во серверов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Нужен ли резерв и где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Количество площадок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65176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651760" cy="381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Данные и теги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Оценка внешних тегов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Или сигналы DI/DO/AI/AO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Historian: да/нет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Объём тегов в историю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65176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737360"/>
            <a:ext cx="2651760" cy="381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Интеграции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331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Протоколы: OPC, Modbus...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Источник -&gt; Получатель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Внутренний или внешний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Нестандартные протоколы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14800"/>
            <a:ext cx="3566160" cy="2194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4114800"/>
            <a:ext cx="356616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Клиенты и доступ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Full-клиенты (кол-во)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WEB одновременных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Terminal / RDP ?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Распределение по типам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114800"/>
            <a:ext cx="3566160" cy="2194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4114800"/>
            <a:ext cx="3566160" cy="381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Доп. требования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709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Отчёты / аналитика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SLA / поддержка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Обучение персонала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ОС, сеть, DMZ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383280" cy="2194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4114800"/>
            <a:ext cx="3383280" cy="381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Открытые вопросы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7091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Что пока неизвестно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Кто подтверждает тех.часть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Когда подтверждение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Бюджетный коридор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Ключевые принципы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2194560"/>
            <a:ext cx="2103120" cy="254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651760"/>
            <a:ext cx="94183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651760"/>
            <a:ext cx="635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24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Минимум 2 варианта в каждом КП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9923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Рекомендованный + альтернативный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29000"/>
            <a:ext cx="94183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429000"/>
            <a:ext cx="6350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502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Обязательная сверка перед отправкой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7647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Policy + тариф + интеграционные правила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06240"/>
            <a:ext cx="94183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4206240"/>
            <a:ext cx="635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Финансовая дисциплина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5371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Общая цена — да, построчные цены по SKU —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983480"/>
            <a:ext cx="94183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4983480"/>
            <a:ext cx="6350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056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Год тарифа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30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Всегда указывать актуальный тарифный год в ТКП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5760720"/>
            <a:ext cx="6350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833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Драйверы в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61081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Входят в поставку, отдельно не докупаются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Альфа Платформа  |  Тариф 2026  |  Внутренний документ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