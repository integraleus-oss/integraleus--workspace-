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аргумент: это не просто экономия — это регуляторная необходимость. НОВАТЭК как объект КИИ обязан перейти на отечественное ПО. PI System больше не получает обновлений и поддержки в РФ.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Важно показать, что мы глубоко понимаем PI System. Это создаёт доверие у инженеров НОВАТЭК, которые работают с PI ежедневно. PI System — это прежде всего инфраструктура данных, не SCADA.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компоненты кроссплатформенные (Windows + Linux). Alpha.HMI.Alarms 3.3 заменил устаревший Alpha.Alarms 3.30 (Windows-only). Графики — через встроенную библиотеку alpha.hmi.charts в HMI-проектах, а не устаревший standalone Alpha.Trends. В реестре Минцифры. Лицензирование — бессрочное на USB HASP-ключ.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Эти компоненты замещаются без существенных компромиссов. Alpha.Diagnostics даже шире PI — есть Hashcheck (контроль целостности), SystemMonitor (мониторинг железа по SNMP), NTPClient.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Частичное покрытие — не значит 'не работает'. Это значит, что подход отличается. Для 30 драйверов — OPC UA Client покрывает большинство современных систем. Для устаревших протоколов — возможна доработка.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самый важный слайд для инженеров НОВАТЭК. Честность здесь = доверие. Каждый пробел нужно обсудить: критичен ли он для конкретных объектов НОВАТЭК?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Каждый пробел имеет обходной путь. Вопрос — стоимость и сроки доработки. Предлагаем выявить критичные пробелы на этапе аудита и оценить доработку по ним.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не 'плохо vs хорошо'. Это разные архитектурные подходы. PI System изначально создавался как data historian, Альфа — как SCADA. При миграции нужно учитывать это различие и не пытаться копировать PI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аргумент для руководства — TCO и регуляторика. Для инженеров — функционал и техподдержка на русском языке. Бессрочная лицензия vs подписка Flex — ключевое коммерческое преимущество.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встроенных модулей покрывают большинство типовых задач нефтегаза. Для экзотических протоколов — OPC UA Gateway от стороннего производителя или заказная доработка Атомик Софт.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Общий срок: 8-14 месяцев в зависимости от масштаба. Параллельная работа двух систем — обязательна. Переключение только после полной валидации идентичности данных. Опыт отрасли (см. Хабр: кейс миграции с Vijeo Citect — 39K сигналов за 2 недели переключения).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Каждый риск нужно оценить для конкретных объектов НОВАТЭК. Предлагаем на этапе аудита составить матрицу рисков с приоритетами.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Точные цифры по Альфе зависят от конфигурации (кол-во тегов, клиентов, модулей). Предоставим детальный расчёт после аудита. Ключевое: бессрочная лицензия + техподдержка ~15%/год vs ежегодная подписка AVEVA с ростом.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Предлагаем начать с аудита — это покажет реальную картину и позволит точно оценить объём работ. Аудит можно провести за 1-2 месяца без остановки работающей PI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Миграция с AVEVA PI System</a:t>
            </a:r>
            <a:br/>
            <a:r>
              <a:t>на Альфа платформу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A6B7F"/>
                </a:solidFill>
              </a:defRPr>
            </a:pPr>
            <a:r>
              <a:t>Анализ возможностей, пробелов и план перехода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Текущая ситуация: почему миграция актуальна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Санкции: AVEVA прекратила поддержку и продажу в РФ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AVEVA Flex — подписочная модель: ~$108K/год за 25-50K тегов (по данным публичных контрактов)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При прекращении оплаты — ПО перестаёт работать (в отличие от бессрочных лицензий)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Невозможность обновления: PI Server 2024 недоступен без Flex-подписки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Регуляторные требования: ФЗ-187 о КИИ, Указы Президента №166 и №250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Сроки: запрет на использование иностранного ПО на объектах КИИ — с 01.01.2025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 System — архитектура и компоненты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PI Server: Data Archive (архив тегов) + Asset Framework (модель активов) + Analysis Service + Notifications + Event Frames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Сбор данных: 450+ PI Interfaces, PI Connectors (OPC UA, UFL, Relay), PI Buffer Subsystem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Визуализация: PI Vision (веб), PI ProcessBook (desktop, устарел)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Интеграция: PI Web API (REST), PI DataLink (Excel), PI Integrator for BA (BI), PI Integrator for Azure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Инфраструктура: PI to PI (репликация), Edge Data Store, HA/Failover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Дополнительно: PI Manual Logger (ручной ввод), PI SDK / AF SDK (.NET)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Альфа платформа — архитектура и модули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Ядро: Alpha.Server 6.4 (сигналы, ~30 коммуникационных модулей, резервирование, кластер)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Архив: Alpha.Historian 4.0 (форматы 3x/4x, журнал транзакций, сжатие LZMA)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Визуализация: Alpha.HMI 2.0 (дизайнер + визуализатор) + WebViewer 2.0 (веб) + встроенные графики (alpha.hmi.charts)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Алармы: Alpha.HMI.Alarms 3.3 (кроссплатформенный: Windows, Linux, веб — квитирование, подавление, экспорт CSV/PDF/XLSX)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Разработка: Alpha.DevStudio 4.1 (IDE, CLI, SVN/Git, деплой, откат)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Безопасность: Alpha.Security (LDAP, аудит) + Alpha.Diagnostics 2.2 (Hashcheck, SystemMonitor, NTP)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Дополнительно: Alpha.Om 1.4 (формулы/процедуры), Alpha.Reports 1.1, Alpha.RMap (SQL), Alpha.Domain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Покрытие функционала: что заменяется полностью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✅ PI Data Archive → Alpha.Historian 4.0 — полноценный архив с журналом транзакций и сжатием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✅ PI Notifications → Alpha.HMI.Alarms 3.3 + Diagnostics.AuditReport — тревоги + рассылка SMTP/Syslog/OPC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✅ PI ProcessBook → Alpha.HMI 2.0 + WebViewer 2.0 — значительно функциональнее (скрипты, типизация, кроссплатформенность)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✅ HA / Failover → Подсистема резервирования — горячее резервирование, дублирование (Server, Historian, АРМ)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✅ PI Buffer Subsystem → Буферизация Alpha.Link — транзакционная модель, Data Buffer в ПЛК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✅ PI Security → Alpha.Security + Diagnostics.Hashcheck — LDAP, аудит + контроль целостности файлов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Покрытие функционала: что заменяется частично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⚠️ PI Interfaces (450+) → Alpha.Server (~30 модулей): OPC UA/DA/HDA/AE, Modbus TCP/RTU, IEC 104/101/61850, S7, EtherNet/IP, FINS, BACnet, MQTT, SNMP, SQL Connector и др.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⚠️ PI Vision (self-service веб-дашборды) → Alpha.HMI.WebViewer — веб-доступ к мнемосхемам, но не self-service BI-стиль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⚠️ PI Asset Framework (runtime-модель, шаблоны, наследование) → DevStudio (объекты, аспекты, сокеты) — design-time модель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⚠️ PI Analysis Service (серверный batch-анализ) → Alpha.Om (формулы + процедуры + таймеры + cron) — нет rollup по иерархии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⚠️ PI DataLink (Excel) → Alpha.Reports 1.1 — другой подход: конструктор отчётов, не Excel-плагин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⚠️ PI Integrator for BA → Alpha.RMap — SQL-интерфейс к данным, можно подключить BI, но нет готового коннектора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Функциональные пробелы: что отсутствует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❌ Event Frames — контекстные события с привязкой к активам, вложенностью, захватом данных за период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❌ PI Web API (REST) — нет открытого REST API; доступ через Alpha.Link (TCP), OPC UA, SQL Connector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❌ PI to PI (репликация данных между архивами) — AccessPoint только агрегирует, не реплицирует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❌ Edge Data Store — нет лёгкого edge-решения для удалённых объектов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❌ PI Manual Logger — нет готового модуля ручного ввода (реализуемо через HMI-формы)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❌ Облачные интеграторы (Azure, AWS) — отсутствуют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❌ Открытый SDK (.NET/Python) для внешних приложений — нет полноценного публичного SDK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Стратегия закрытия пробелов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A6B7F"/>
                </a:solidFill>
              </a:defRPr>
            </a:pPr>
            <a:r>
              <a:t>Пробел</a:t>
            </a:r>
          </a:p>
          <a:p>
            <a:pPr>
              <a:spcAft>
                <a:spcPts val="600"/>
              </a:spcAft>
              <a:defRPr sz="1600"/>
            </a:pPr>
            <a:r>
              <a:t>  •  Event Frames</a:t>
            </a:r>
          </a:p>
          <a:p>
            <a:pPr>
              <a:spcAft>
                <a:spcPts val="600"/>
              </a:spcAft>
              <a:defRPr sz="1600"/>
            </a:pPr>
            <a:r>
              <a:t>  •  REST API</a:t>
            </a:r>
          </a:p>
          <a:p>
            <a:pPr>
              <a:spcAft>
                <a:spcPts val="600"/>
              </a:spcAft>
              <a:defRPr sz="1600"/>
            </a:pPr>
            <a:r>
              <a:t>  •  Репликация данных</a:t>
            </a:r>
          </a:p>
          <a:p>
            <a:pPr>
              <a:spcAft>
                <a:spcPts val="600"/>
              </a:spcAft>
              <a:defRPr sz="1600"/>
            </a:pPr>
            <a:r>
              <a:t>  •  Edge Data Store</a:t>
            </a:r>
          </a:p>
          <a:p>
            <a:pPr>
              <a:spcAft>
                <a:spcPts val="600"/>
              </a:spcAft>
              <a:defRPr sz="1600"/>
            </a:pPr>
            <a:r>
              <a:t>  •  Ручной ввод данных</a:t>
            </a:r>
          </a:p>
          <a:p>
            <a:pPr>
              <a:spcAft>
                <a:spcPts val="600"/>
              </a:spcAft>
              <a:defRPr sz="1600"/>
            </a:pPr>
            <a:r>
              <a:t>  •  BI-интеграция</a:t>
            </a:r>
          </a:p>
          <a:p>
            <a:pPr>
              <a:spcAft>
                <a:spcPts val="600"/>
              </a:spcAft>
              <a:defRPr sz="1600"/>
            </a:pPr>
            <a:r>
              <a:t>  •  450+ интерфейсов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Решение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Кастомная доработка на Alpha.Om + Alpha.HMI.Alarms + PostgreSQL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Разработка REST-обёртки над Alpha.RMap (SQL → REST)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Доработка: периодический экспорт из Historian → PostgreSQL → импорт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Alpha.Server в минимальной конфигурации + Historian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Кастомная HMI-форма с записью в сигналы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Alpha.RMap (SQL) → Power BI / Grafana / Superset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OPC UA как универсальный мост; доработка драйверов под заказ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Ключевое архитектурное различие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A6B7F"/>
                </a:solidFill>
              </a:defRPr>
            </a:pPr>
            <a:r>
              <a:t>AVEVA PI System</a:t>
            </a:r>
          </a:p>
          <a:p>
            <a:pPr>
              <a:spcAft>
                <a:spcPts val="600"/>
              </a:spcAft>
              <a:defRPr sz="1600"/>
            </a:pPr>
            <a:r>
              <a:t>  •  Data Infrastructure — инфраструктура данных</a:t>
            </a:r>
          </a:p>
          <a:p>
            <a:pPr>
              <a:spcAft>
                <a:spcPts val="600"/>
              </a:spcAft>
              <a:defRPr sz="1600"/>
            </a:pPr>
            <a:r>
              <a:t>  •  Фокус: сбор → хранение → доставка данных</a:t>
            </a:r>
          </a:p>
          <a:p>
            <a:pPr>
              <a:spcAft>
                <a:spcPts val="600"/>
              </a:spcAft>
              <a:defRPr sz="1600"/>
            </a:pPr>
            <a:r>
              <a:t>  •  Визуализация — вторична (PI Vision)</a:t>
            </a:r>
          </a:p>
          <a:p>
            <a:pPr>
              <a:spcAft>
                <a:spcPts val="600"/>
              </a:spcAft>
              <a:defRPr sz="1600"/>
            </a:pPr>
            <a:r>
              <a:t>  •  Asset Framework — runtime-модель активов</a:t>
            </a:r>
          </a:p>
          <a:p>
            <a:pPr>
              <a:spcAft>
                <a:spcPts val="600"/>
              </a:spcAft>
              <a:defRPr sz="1600"/>
            </a:pPr>
            <a:r>
              <a:t>  •  REST API, SDK — открытая экосистема</a:t>
            </a:r>
          </a:p>
          <a:p>
            <a:pPr>
              <a:spcAft>
                <a:spcPts val="600"/>
              </a:spcAft>
              <a:defRPr sz="1600"/>
            </a:pPr>
            <a:r>
              <a:t>  •  Облако: Azure, Connect, Edge</a:t>
            </a:r>
          </a:p>
          <a:p>
            <a:pPr>
              <a:spcAft>
                <a:spcPts val="600"/>
              </a:spcAft>
              <a:defRPr sz="1600"/>
            </a:pPr>
            <a:r>
              <a:t>  •  Лицензирование: Flex (подписка, $/год)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Альфа платформа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SCADA-платформа — управление техпроцессом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Фокус: визуализация + управление + данные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HMI/SCADA — ядро платформы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DevStudio — design-time модель объектов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Проприетарные протоколы + OPC UA + SQL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Только on-premises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 Лицензирование: бессрочное (HASP USB-ключ)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Преимущества перехода на Альфа платформу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Реестр Минцифры — соответствие требованиям ФЗ-187 о КИИ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Бессрочная лицензия — нет зависимости от ежегодных подписок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Linux: Astra Linux, РЕД ОС, Альт, Ubuntu — полная поддержка, включая сертифицированные ОС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Единая платформа: SCADA + Historian + HMI + Alarms — не нужно собирать из разных продуктов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Российская техподдержка и разработка (АО «Атомик Софт», бренд Automiq)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Горячее резервирование, кластер, отказоустойчивость — проверено на промышленных объектах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TCO: существенно ниже PI System при сопоставимом масштабе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Сравнение протоколов и коннекторов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OPC UA/DA/HDA/AE — клиент и сервер (UA кроссплатформенный, DA/AE только Windows)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Modbus TCP/RTU — Master и Slave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IEC 60870-5-104/101 — Master и Slave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IEC 61850 — Client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Siemens S7 — Client (прямое подключение к S7-300/400/1200/1500)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EtherNet/IP — Scanner (Rockwell ControlLogix)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FINS — Client (OMRON)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BACnet, MQTT, SNMP, CANopen, KNX, DCON, Меркурий, SQL Connector, SMTP, Syslog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Для отсутствующих протоколов: OPC UA как универсальный шлюз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План миграции: 5 фаз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Фаза 1 — АУДИТ (1-2 мес.): инвентаризация PI-инфраструктуры, теги, AF-модели, интерфейсы, отчёты, Event Frames, интеграции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Фаза 2 — АРХИТЕКТУРА (1 мес.): проектирование целевой архитектуры Альфы, выбор редакции, расчёт лицензий, определение доработок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Фаза 3 — ПИЛОТ (2-3 мес.): развёртывание на одном объекте/участке, параллельная работа с PI System, валидация данных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Фаза 4 — МИГРАЦИЯ ДАННЫХ (1-2 мес.): экспорт исторических данных из PI Data Archive, импорт в Alpha.Historian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Фаза 5 — ПОЭТАПНЫЙ ПЕРЕВОД (3-6 мес.): перевод объектов по одному, начиная с наименее критичных, мониторинг, обучение персонала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Оценка рисков и митигация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⚠️ Потеря функционала Event Frames — митигация: аудит использования EF, при необходимости — кастомная доработка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⚠️ Несовместимость формата архива — митигация: параллельная запись, экспорт/импорт исторических данных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⚠️ Переобучение персонала (инженеры привыкли к PI) — митигация: обучение от Атомик Софт, документация на русском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⚠️ Меньше интерфейсов (30 vs 450+) — митигация: OPC UA Gateway, заказная разработка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⚠️ Отсутствие REST API — митигация: REST-обёртка над RMap, OPC UA для программного доступа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⚠️ Нет облачной стратегии — митигация: для КИИ облако часто запрещено; on-premises — преимущество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Экономика: TCO сравнение (ориентировочно)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22860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A5B5"/>
                </a:solidFill>
              </a:defRPr>
            </a:pPr>
            <a:r>
              <a:t>~$108K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" y="41148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A6B7F"/>
                </a:solidFill>
              </a:defRPr>
            </a:pPr>
            <a:r>
              <a:t>AVEVA Flex / год</a:t>
            </a:r>
            <a:br/>
            <a:r>
              <a:t>(25-50K тегов)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647" y="22860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A5B5"/>
                </a:solidFill>
              </a:defRPr>
            </a:pPr>
            <a:r>
              <a:t>~$325K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647" y="41148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A6B7F"/>
                </a:solidFill>
              </a:defRPr>
            </a:pPr>
            <a:r>
              <a:t>AVEVA Flex / 3 года</a:t>
            </a:r>
            <a:br/>
            <a:r>
              <a:t>(публичный контракт)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22860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A5B5"/>
                </a:solidFill>
              </a:defRPr>
            </a:pPr>
            <a:r>
              <a:t>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41148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A6B7F"/>
                </a:solidFill>
              </a:defRPr>
            </a:pPr>
            <a:r>
              <a:t>Альфа платформа</a:t>
            </a:r>
            <a:br/>
            <a:r>
              <a:t>бессрочная лицензия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9047" y="22860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A5B5"/>
                </a:solidFill>
              </a:defRPr>
            </a:pPr>
            <a:r>
              <a:t>0 ₽/год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9047" y="41148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A6B7F"/>
                </a:solidFill>
              </a:defRPr>
            </a:pPr>
            <a:r>
              <a:t>Подписка</a:t>
            </a:r>
            <a:br/>
            <a:r>
              <a:t>(нет подписки)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Следующие шаги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1. Согласование объёма аудита PI-инфраструктуры НОВАТЭК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2. Определение пилотного объекта / участка для миграции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3. Составление перечня критичных функций PI System (Event Frames? PI DataLink? API?)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4. Расчёт лицензий Альфа платформы под целевую архитектуру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5. Оценка стоимости и сроков доработок под выявленные пробелы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  •  6. Согласование дорожной карты и старт пилота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Контакты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Станислав Павловский</a:t>
            </a:r>
          </a:p>
          <a:p>
            <a:pPr algn="ctr"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Telegram: @Integraleus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