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  <p:sldId id="265" r:id="rId8"/>
    <p:sldId id="266" r:id="rId7"/>
    <p:sldId id="267" r:id="rId6"/>
    <p:sldId id="268" r:id="rId5"/>
    <p:sldId id="269" r:id="rId25"/>
    <p:sldId id="270" r:id="rId26"/>
    <p:sldId id="271" r:id="rId2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Миграция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CCF7"/>
                </a:solidFill>
                <a:latin typeface="Arial"/>
              </a:defRPr>
            </a:pPr>
            <a:r>
              <a:t>Анализ возможностей, пробелов и план перехода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997C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B0D0"/>
                </a:solidFill>
                <a:latin typeface="Arial"/>
              </a:defRPr>
            </a:pPr>
            <a:r>
              <a:t>АО «Атомик Софт»  |  automiq.ru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Текущая ситуация: почему миграция актуальна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Санкции</a:t>
            </a:r>
            <a:r>
              <a:rPr sz="1200">
                <a:solidFill>
                  <a:srgbClr val="445469"/>
                </a:solidFill>
                <a:latin typeface="Arial"/>
              </a:rPr>
              <a:t> — AVEVA прекратила поддержку и продажу в РФ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AVEVA Flex</a:t>
            </a:r>
            <a:r>
              <a:rPr sz="1200">
                <a:solidFill>
                  <a:srgbClr val="445469"/>
                </a:solidFill>
                <a:latin typeface="Arial"/>
              </a:rPr>
              <a:t> — подписочная модель: ~$108K/год за 25-50K тегов (по данным публичных контрактов)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При прекращении оплаты</a:t>
            </a:r>
            <a:r>
              <a:rPr sz="1200">
                <a:solidFill>
                  <a:srgbClr val="445469"/>
                </a:solidFill>
                <a:latin typeface="Arial"/>
              </a:rPr>
              <a:t> — ПО перестаёт работать (в отличие от бессрочных лицензий)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Невозможность получить обновления, патчи безопасности, новые версии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Требования регуляторов: ФЗ-187 о КИИ требует перехода на отечественное ПО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Риск отключения облачных сервисов AVEVA (PI Cloud, AVEVA Connect)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Кадровый вопрос: новые специалисты обучаются на российском ПО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PI System — архитектура и компоненты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PI Server</a:t>
            </a:r>
            <a:r>
              <a:rPr sz="1200">
                <a:solidFill>
                  <a:srgbClr val="445469"/>
                </a:solidFill>
                <a:latin typeface="Arial"/>
              </a:rPr>
              <a:t> — Data Archive (архив тегов) + Asset Framework (модель активов) + Analysis Service + Notifications + Event Frames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Сбор данных</a:t>
            </a:r>
            <a:r>
              <a:rPr sz="1200">
                <a:solidFill>
                  <a:srgbClr val="445469"/>
                </a:solidFill>
                <a:latin typeface="Arial"/>
              </a:rPr>
              <a:t> — 450+ PI Interfaces, PI Connectors (OPC UA, UFL, Relay), PI Buffer Subsystem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Визуализация</a:t>
            </a:r>
            <a:r>
              <a:rPr sz="1200">
                <a:solidFill>
                  <a:srgbClr val="445469"/>
                </a:solidFill>
                <a:latin typeface="Arial"/>
              </a:rPr>
              <a:t> — PI Vision (веб), PI ProcessBook (десктоп), PI DataLink (Excel)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Аналитика</a:t>
            </a:r>
            <a:r>
              <a:rPr sz="1200">
                <a:solidFill>
                  <a:srgbClr val="445469"/>
                </a:solidFill>
                <a:latin typeface="Arial"/>
              </a:rPr>
              <a:t> — PI Analytics, Asset Analytics, PI Integrator for BA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Инфраструктура</a:t>
            </a:r>
            <a:r>
              <a:rPr sz="1200">
                <a:solidFill>
                  <a:srgbClr val="445469"/>
                </a:solidFill>
                <a:latin typeface="Arial"/>
              </a:rPr>
              <a:t> — PI to PI (репликация), PI Web API (REST), PI SDK/.NET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Облако</a:t>
            </a:r>
            <a:r>
              <a:rPr sz="1200">
                <a:solidFill>
                  <a:srgbClr val="445469"/>
                </a:solidFill>
                <a:latin typeface="Arial"/>
              </a:rPr>
              <a:t> — AVEVA Data Hub (PI Cloud), AVEVA 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Альфа платформа — архитектура и модули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Ядро</a:t>
            </a:r>
            <a:r>
              <a:rPr sz="1100">
                <a:solidFill>
                  <a:srgbClr val="445469"/>
                </a:solidFill>
                <a:latin typeface="Arial"/>
              </a:rPr>
              <a:t> — Alpha.Server 6.4 (сигналы, ~30 коммуникационных модулей, резервирование, кластер)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Архив</a:t>
            </a:r>
            <a:r>
              <a:rPr sz="1100">
                <a:solidFill>
                  <a:srgbClr val="445469"/>
                </a:solidFill>
                <a:latin typeface="Arial"/>
              </a:rPr>
              <a:t> — Alpha.Historian 4.0 (форматы 3x/4x, журнал транзакций, сжатие LZMA)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Визуализация</a:t>
            </a:r>
            <a:r>
              <a:rPr sz="1100">
                <a:solidFill>
                  <a:srgbClr val="445469"/>
                </a:solidFill>
                <a:latin typeface="Arial"/>
              </a:rPr>
              <a:t> — Alpha.HMI 2.0 (дизайнер + визуализатор) + WebViewer 2.0 (веб)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Тревоги</a:t>
            </a:r>
            <a:r>
              <a:rPr sz="1100">
                <a:solidFill>
                  <a:srgbClr val="445469"/>
                </a:solidFill>
                <a:latin typeface="Arial"/>
              </a:rPr>
              <a:t> — Alpha.HMI.Alarms 3.3 (кроссплатформенный: Windows, Linux, веб)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Графики</a:t>
            </a:r>
            <a:r>
              <a:rPr sz="1100">
                <a:solidFill>
                  <a:srgbClr val="445469"/>
                </a:solidFill>
                <a:latin typeface="Arial"/>
              </a:rPr>
              <a:t> — встроенные графики Alpha.HMI (alpha.hmi.charts)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Отчёты</a:t>
            </a:r>
            <a:r>
              <a:rPr sz="1100">
                <a:solidFill>
                  <a:srgbClr val="445469"/>
                </a:solidFill>
                <a:latin typeface="Arial"/>
              </a:rPr>
              <a:t> — Alpha.Report.Generator 2.0 + Diagnostics.AuditReport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Разработка</a:t>
            </a:r>
            <a:r>
              <a:rPr sz="1100">
                <a:solidFill>
                  <a:srgbClr val="445469"/>
                </a:solidFill>
                <a:latin typeface="Arial"/>
              </a:rPr>
              <a:t> — DevStudio (объектная модель, Alpha.Om, JavaScript)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Безопасность</a:t>
            </a:r>
            <a:r>
              <a:rPr sz="1100">
                <a:solidFill>
                  <a:srgbClr val="445469"/>
                </a:solidFill>
                <a:latin typeface="Arial"/>
              </a:rPr>
              <a:t> — ФСТЭК, IEC 62443, подсистема безопасности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Покрытие функционала: что заменяется полностью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73152" cy="41148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✅ PI Data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43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Alpha.Historian 4.0 — полноценный архив с журналом транзакций и сжатием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73152" cy="41148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✅ PI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Alpha.HMI.Alarms 3.3 + Diagnostics.AuditReport — тревоги + рассылка SMTP/Syslog/OPC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73152" cy="41148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✅ PI ProcessBook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Alpha.HMI 2.0 + WebViewer — полная замена десктопной и веб-визуализации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73152" cy="41148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✅ PI System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DevStudio + Alpha.Diag — конфигурирование, диагностика, мониторинг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54680"/>
            <a:ext cx="73152" cy="41148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✅ PI Buffer Subsystem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Встроенная буферизация Alpha.Server — автоматическая, без настройки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73152" cy="41148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✅ PI SDK (программный доступ)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Alpha.Link + OPC UA SDK + SQL Connector — несколько вариантов доступа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Покрытие функционала: что заменяется частично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73152" cy="50292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PI Interfaces (450+)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Alpha.Server (~30 модулей): OPC UA/DA/HDA/AE, Modbus TCP/RTU, IEC 104/101/61850, S7, EtherNet/IP, FINS, BACnet, MQTT, SNMP, SQL Connector и др.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73152" cy="50292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PI Vision (self-service)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Alpha.HMI.WebViewer — веб-доступ к мнемосхемам и трендам, но без self-service построителя дашбордов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23160"/>
            <a:ext cx="73152" cy="50292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PI AF (Asset Framework)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DevStudio — объектная модель, но design-time (не runtime, как AF)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73152" cy="50292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PI DataLink (Excel)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Alpha.Report.Generator 2.0 — отчёты, но не интерактивный Excel add-in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Функциональные пробелы: что отсутствует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73152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❌ Event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Контекстные события с привязкой к активам, вложенностью, захватом данных за период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73152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❌ PI Web API (REST)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открытого REST API; доступ через Alpha.Link (TCP), OPC UA, SQL Connector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73152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❌ PI to PI (репликация)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встроенной репликации данных между архивами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73152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❌ Edge 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лёгкого edge-решения для удалённых площадок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54680"/>
            <a:ext cx="73152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❌ Manual Logger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встроенного интерфейса ручного ввода данных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57600"/>
            <a:ext cx="73152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❌ PI Integrator for 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прямой интеграции с BI (Power BI, Tableau)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Стратегия закрытия пробелов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Пробел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8138160" cy="32004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24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Пробел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124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8138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Кастомная доработка на Alpha.Om + Alpha.HMI.Alarms +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47088"/>
            <a:ext cx="8138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928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Разработка REST-обёртки над Alpha.RMap (SQL → REST)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31136"/>
            <a:ext cx="8138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768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Репликация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76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Периодический экспорт из Historian → PostgreSQL → импорт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15184"/>
            <a:ext cx="8138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609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Edge Data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660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Alpha.Server в минимальной конфигурации + буферизация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99232"/>
            <a:ext cx="8138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044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Ручной ввод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044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Веб-форма через Alpha.HMI.WebViewer + Alpha.Om скрипт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83280"/>
            <a:ext cx="8138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BI-интеграция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SQL Connector → PostgreSQL → Power BI / Grafana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67328"/>
            <a:ext cx="8138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13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450+ интерфейсов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813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Покрытие ~80% промышленных протоколов; остальное — OPC UA шлюзы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Ключевое архитектурное различие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840480" cy="3474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188720"/>
            <a:ext cx="3840480" cy="34747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9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566160" cy="2926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445469"/>
                </a:solidFill>
                <a:latin typeface="Arial"/>
              </a:rPr>
              <a:t>• Data Infrastructure</a:t>
            </a:r>
            <a:r>
              <a:rPr sz="1000">
                <a:solidFill>
                  <a:srgbClr val="445469"/>
                </a:solidFill>
                <a:latin typeface="Arial"/>
              </a:rPr>
              <a:t> — инфраструктура данных</a:t>
            </a:r>
          </a:p>
          <a:p>
            <a:pPr>
              <a:spcAft>
                <a:spcPts val="4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Фокус: сбор → хранение → доставка данных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445469"/>
                </a:solidFill>
                <a:latin typeface="Arial"/>
              </a:rPr>
              <a:t>• Визуализация</a:t>
            </a:r>
            <a:r>
              <a:rPr sz="1000">
                <a:solidFill>
                  <a:srgbClr val="445469"/>
                </a:solidFill>
                <a:latin typeface="Arial"/>
              </a:rPr>
              <a:t> — вторична (PI Vision)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445469"/>
                </a:solidFill>
                <a:latin typeface="Arial"/>
              </a:rPr>
              <a:t>• Asset Framework</a:t>
            </a:r>
            <a:r>
              <a:rPr sz="1000">
                <a:solidFill>
                  <a:srgbClr val="445469"/>
                </a:solidFill>
                <a:latin typeface="Arial"/>
              </a:rPr>
              <a:t> — runtime-модель активов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445469"/>
                </a:solidFill>
                <a:latin typeface="Arial"/>
              </a:rPr>
              <a:t>• REST API, SDK</a:t>
            </a:r>
            <a:r>
              <a:rPr sz="1000">
                <a:solidFill>
                  <a:srgbClr val="445469"/>
                </a:solidFill>
                <a:latin typeface="Arial"/>
              </a:rPr>
              <a:t> — открытая экосистема</a:t>
            </a:r>
          </a:p>
          <a:p>
            <a:pPr>
              <a:spcAft>
                <a:spcPts val="4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Облако (AVEVA Data Hub, AVEVA Connect)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566160" cy="2926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005497"/>
                </a:solidFill>
                <a:latin typeface="Arial"/>
              </a:rPr>
              <a:t>• SCADA-платформа</a:t>
            </a:r>
            <a:r>
              <a:rPr sz="1000">
                <a:solidFill>
                  <a:srgbClr val="005497"/>
                </a:solidFill>
                <a:latin typeface="Arial"/>
              </a:rPr>
              <a:t> — управление техпроцессом</a:t>
            </a:r>
          </a:p>
          <a:p>
            <a:pPr>
              <a:spcAft>
                <a:spcPts val="400"/>
              </a:spcAft>
              <a:defRPr sz="1000">
                <a:solidFill>
                  <a:srgbClr val="005497"/>
                </a:solidFill>
                <a:latin typeface="Arial"/>
              </a:defRPr>
            </a:pPr>
            <a:r>
              <a:t>• Фокус: визуализация + управление + данные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5497"/>
                </a:solidFill>
                <a:latin typeface="Arial"/>
              </a:rPr>
              <a:t>• HMI/SCADA</a:t>
            </a:r>
            <a:r>
              <a:rPr sz="1000">
                <a:solidFill>
                  <a:srgbClr val="005497"/>
                </a:solidFill>
                <a:latin typeface="Arial"/>
              </a:rPr>
              <a:t> — ядро платформы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5497"/>
                </a:solidFill>
                <a:latin typeface="Arial"/>
              </a:rPr>
              <a:t>• DevStudio</a:t>
            </a:r>
            <a:r>
              <a:rPr sz="1000">
                <a:solidFill>
                  <a:srgbClr val="005497"/>
                </a:solidFill>
                <a:latin typeface="Arial"/>
              </a:rPr>
              <a:t> — design-time модель объектов</a:t>
            </a:r>
          </a:p>
          <a:p>
            <a:pPr>
              <a:spcAft>
                <a:spcPts val="400"/>
              </a:spcAft>
              <a:defRPr sz="1000">
                <a:solidFill>
                  <a:srgbClr val="005497"/>
                </a:solidFill>
                <a:latin typeface="Arial"/>
              </a:defRPr>
            </a:pPr>
            <a:r>
              <a:t>• Проприетарные протоколы + OPC UA + SQL</a:t>
            </a:r>
          </a:p>
          <a:p>
            <a:pPr>
              <a:spcAft>
                <a:spcPts val="400"/>
              </a:spcAft>
              <a:defRPr sz="1000">
                <a:solidFill>
                  <a:srgbClr val="005497"/>
                </a:solidFill>
                <a:latin typeface="Arial"/>
              </a:defRPr>
            </a:pPr>
            <a:r>
              <a:t>• Только on-premises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Преимущества перехода на Альфа платформу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Реестр Минцифры</a:t>
            </a:r>
            <a:r>
              <a:rPr sz="1200">
                <a:solidFill>
                  <a:srgbClr val="445469"/>
                </a:solidFill>
                <a:latin typeface="Arial"/>
              </a:rPr>
              <a:t> — соответствие требованиям ФЗ-187 о КИИ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Бессрочная лицензия</a:t>
            </a:r>
            <a:r>
              <a:rPr sz="1200">
                <a:solidFill>
                  <a:srgbClr val="445469"/>
                </a:solidFill>
                <a:latin typeface="Arial"/>
              </a:rPr>
              <a:t> — нет зависимости от ежегодных подписок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445469"/>
                </a:solidFill>
                <a:latin typeface="Arial"/>
              </a:rPr>
              <a:t>• Linux: Astra Linux, РЕД ОС, Альт, Ubuntu</a:t>
            </a:r>
            <a:r>
              <a:rPr sz="1200">
                <a:solidFill>
                  <a:srgbClr val="445469"/>
                </a:solidFill>
                <a:latin typeface="Arial"/>
              </a:rPr>
              <a:t> — полная поддержка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Единая платформа: SCADA + HMI + Historian + Alarms + Reports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Техподдержка на русском языке 24/7, вендор в Томске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6500+ инсталляций, 80+ партнёров-интеграторов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Лицензия ФСТЭК на разработку СЗКИ</a:t>
            </a:r>
          </a:p>
          <a:p>
            <a:pPr>
              <a:spcAft>
                <a:spcPts val="500"/>
              </a:spcAft>
              <a:defRPr sz="1200">
                <a:solidFill>
                  <a:srgbClr val="445469"/>
                </a:solidFill>
                <a:latin typeface="Arial"/>
              </a:defRPr>
            </a:pPr>
            <a:r>
              <a:t>• Соответствие п.29.3 Приказа №239 ФСТЭК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Сравнение протоколов и коннекторов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777240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OPC UA/DA/HDA/AE</a:t>
            </a:r>
            <a:r>
              <a:rPr sz="1100">
                <a:solidFill>
                  <a:srgbClr val="445469"/>
                </a:solidFill>
                <a:latin typeface="Arial"/>
              </a:rPr>
              <a:t> — клиент и сервер (UA кроссплатформенный, DA/AE только Windows)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Modbus TCP/RTU</a:t>
            </a:r>
            <a:r>
              <a:rPr sz="1100">
                <a:solidFill>
                  <a:srgbClr val="445469"/>
                </a:solidFill>
                <a:latin typeface="Arial"/>
              </a:rPr>
              <a:t> — Master и Slave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IEC 60870-5-104/101</a:t>
            </a:r>
            <a:r>
              <a:rPr sz="1100">
                <a:solidFill>
                  <a:srgbClr val="445469"/>
                </a:solidFill>
                <a:latin typeface="Arial"/>
              </a:rPr>
              <a:t> — Master и Slave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IEC 61850</a:t>
            </a:r>
            <a:r>
              <a:rPr sz="1100">
                <a:solidFill>
                  <a:srgbClr val="445469"/>
                </a:solidFill>
                <a:latin typeface="Arial"/>
              </a:rPr>
              <a:t> — Client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Siemens S7</a:t>
            </a:r>
            <a:r>
              <a:rPr sz="1100">
                <a:solidFill>
                  <a:srgbClr val="445469"/>
                </a:solidFill>
                <a:latin typeface="Arial"/>
              </a:rPr>
              <a:t> — Client (прямое подключение к S7-300/400/1200/1500)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EtherNet/IP (Allen-Bradley)</a:t>
            </a:r>
            <a:r>
              <a:rPr sz="1100">
                <a:solidFill>
                  <a:srgbClr val="445469"/>
                </a:solidFill>
                <a:latin typeface="Arial"/>
              </a:rPr>
              <a:t> — Client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FINS (Omron)</a:t>
            </a:r>
            <a:r>
              <a:rPr sz="1100">
                <a:solidFill>
                  <a:srgbClr val="445469"/>
                </a:solidFill>
                <a:latin typeface="Arial"/>
              </a:rPr>
              <a:t> — Client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BACnet IP</a:t>
            </a:r>
            <a:r>
              <a:rPr sz="1100">
                <a:solidFill>
                  <a:srgbClr val="445469"/>
                </a:solidFill>
                <a:latin typeface="Arial"/>
              </a:rPr>
              <a:t> — Client (здания и инфраструктура)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MQTT</a:t>
            </a:r>
            <a:r>
              <a:rPr sz="1100">
                <a:solidFill>
                  <a:srgbClr val="445469"/>
                </a:solidFill>
                <a:latin typeface="Arial"/>
              </a:rPr>
              <a:t> — Publisher/Subscriber (IIoT, Edge)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SNMP</a:t>
            </a:r>
            <a:r>
              <a:rPr sz="1100">
                <a:solidFill>
                  <a:srgbClr val="445469"/>
                </a:solidFill>
                <a:latin typeface="Arial"/>
              </a:rPr>
              <a:t> — Manager (мониторинг сетевого оборудования)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SQL Connector</a:t>
            </a:r>
            <a:r>
              <a:rPr sz="1100">
                <a:solidFill>
                  <a:srgbClr val="445469"/>
                </a:solidFill>
                <a:latin typeface="Arial"/>
              </a:rPr>
              <a:t> — PostgreSQL, MS SQL, Oracle, MySQL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План миграции: 5 фаз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09728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5087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Инвентаризация PI-инфраструктуры:</a:t>
            </a:r>
            <a:br/>
            <a:r>
              <a:t>теги, AF-модели, интерфейсы,</a:t>
            </a:r>
            <a:br/>
            <a:r>
              <a:t>отчёты, Event Frames, интеграции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97C8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2" name="Oval 11"/>
          <p:cNvSpPr/>
          <p:nvPr/>
        </p:nvSpPr>
        <p:spPr>
          <a:xfrm>
            <a:off x="2624328" y="109728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143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16459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АРХИТЕКТУРА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1408" y="2194560"/>
            <a:ext cx="15087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22860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Проектирование целевой архитектуры,</a:t>
            </a:r>
            <a:br/>
            <a:r>
              <a:t>выбор редакции, расчёт лицензий,</a:t>
            </a:r>
            <a:br/>
            <a:r>
              <a:t>определение доработок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97C8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9" name="Oval 18"/>
          <p:cNvSpPr/>
          <p:nvPr/>
        </p:nvSpPr>
        <p:spPr>
          <a:xfrm>
            <a:off x="4242816" y="109728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1143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16459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39896" y="2194560"/>
            <a:ext cx="15087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1336" y="22860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Развёртывание на пилотном объекте,</a:t>
            </a:r>
            <a:br/>
            <a:r>
              <a:t>миграция тегов и мнемосхем,</a:t>
            </a:r>
            <a:br/>
            <a:r>
              <a:t>тестирование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97C8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6" name="Oval 25"/>
          <p:cNvSpPr/>
          <p:nvPr/>
        </p:nvSpPr>
        <p:spPr>
          <a:xfrm>
            <a:off x="5861304" y="109728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61304" y="1143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16459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58384" y="2194560"/>
            <a:ext cx="15087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9824" y="22860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Последовательный перевод объектов,</a:t>
            </a:r>
            <a:br/>
            <a:r>
              <a:t>параллельная работа PI + Альфа,</a:t>
            </a:r>
            <a:br/>
            <a:r>
              <a:t>обучение персонала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7432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997C8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3" name="Oval 32"/>
          <p:cNvSpPr/>
          <p:nvPr/>
        </p:nvSpPr>
        <p:spPr>
          <a:xfrm>
            <a:off x="7479792" y="109728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1143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16459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ЗАКРЫТИЕ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1920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76872" y="2194560"/>
            <a:ext cx="150876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8312" y="22860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Отключение PI System,</a:t>
            </a:r>
            <a:br/>
            <a:r>
              <a:t>перенос исторических данных,</a:t>
            </a:r>
            <a:br/>
            <a:r>
              <a:t>финальная документация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Оценка рисков и митигация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Потеря функционала Event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→ Аудит использования EF, при необходимости — кастомная доработка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Несовместимость формата архива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→ Параллельная запись, экспорт/импорт исторических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Переобучение персонала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→ Программа обучения, 5 лабораторий в ВУЗах, онлайн-курсы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Простой при переходе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→ Параллельная работа PI + Альфа, поэтапная миграция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Недостающие протоколы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→ OPC UA шлюзы для экзотических устройств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⚠️ Потеря облачных сервисов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→ On-prem аналитика, Grafana/Power BI через SQL Connector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Экономика: TCO сравнение (ориентировочно)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C3333"/>
                </a:solidFill>
                <a:latin typeface="Arial"/>
              </a:defRPr>
            </a:pPr>
            <a:r>
              <a:t>~$108K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AVEVA Flex / год</a:t>
            </a:r>
            <a:br/>
            <a:r>
              <a:t>(25-50K тегов)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C3333"/>
                </a:solidFill>
                <a:latin typeface="Arial"/>
              </a:defRPr>
            </a:pPr>
            <a:r>
              <a:t>~$325K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AVEVA Flex / 3 года</a:t>
            </a:r>
            <a:br/>
            <a:r>
              <a:t>(публичный контракт)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75AD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2C444"/>
                </a:solidFill>
                <a:latin typeface="Arial"/>
              </a:defRPr>
            </a:pPr>
            <a:r>
              <a:t>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Альфа платформа</a:t>
            </a:r>
            <a:br/>
            <a:r>
              <a:t>бессрочная лицензия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8138160" cy="1645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7589520" cy="14630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Разовая закупка vs ежегодная подписка</a:t>
            </a:r>
            <a:r>
              <a:rPr sz="1100">
                <a:solidFill>
                  <a:srgbClr val="445469"/>
                </a:solidFill>
                <a:latin typeface="Arial"/>
              </a:rPr>
              <a:t> — принципиально разная модель владения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Нет валютных рисков</a:t>
            </a:r>
            <a:r>
              <a:rPr sz="1100">
                <a:solidFill>
                  <a:srgbClr val="445469"/>
                </a:solidFill>
                <a:latin typeface="Arial"/>
              </a:rPr>
              <a:t> — расчёты в рублях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445469"/>
                </a:solidFill>
                <a:latin typeface="Arial"/>
              </a:rPr>
              <a:t>• Нет risk of deactivation</a:t>
            </a:r>
            <a:r>
              <a:rPr sz="1100">
                <a:solidFill>
                  <a:srgbClr val="445469"/>
                </a:solidFill>
                <a:latin typeface="Arial"/>
              </a:rPr>
              <a:t> — лицензия бессрочная, работает без интернета</a:t>
            </a:r>
          </a:p>
          <a:p>
            <a:pPr>
              <a:spcAft>
                <a:spcPts val="4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• Стоимость миграции окупается за 1.5-3 года в зависимости от масштаба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097280" cy="3200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188720"/>
            <a:ext cx="365760" cy="36576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2529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16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Согласование объёма аудита PI-инфраструктуры НОВАТЭК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691640"/>
            <a:ext cx="365760" cy="36576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2821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Определение пилотного объекта / участка для миграции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194560"/>
            <a:ext cx="365760" cy="36576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23113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21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Составление перечня критичных функций PI System (Event Frames? PI DataLink? API?)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73405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249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Расчёт лицензий Альфа платформы под целевую архитектуру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200400"/>
            <a:ext cx="365760" cy="36576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23697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278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Формирование рабочей группы: НОВАТЭК + Атомик Софт + интегратор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703320"/>
            <a:ext cx="365760" cy="36576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73989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Разработка детального плана-графика и бюджета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Контакты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Станислав Павловский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CCF7"/>
                </a:solidFill>
                <a:latin typeface="Arial"/>
              </a:defRPr>
            </a:pPr>
            <a:r>
              <a:t>Telegram: @Integraleus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B0D0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  <a:br/>
            <a:r>
              <a:t>info@automiq.ru | 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0997C8"/>
                </a:solidFill>
                <a:latin typeface="Arial"/>
              </a:defRPr>
            </a:pPr>
            <a:r>
              <a:t>Будущее автоматизации</a:t>
            </a:r>
            <a:br/>
            <a:r>
              <a:t>в ваших руках.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