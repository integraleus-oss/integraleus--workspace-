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1"/>
    <p:sldId id="263" r:id="rId10"/>
    <p:sldId id="264" r:id="rId9"/>
    <p:sldId id="265" r:id="rId8"/>
    <p:sldId id="266" r:id="rId7"/>
  </p:sldIdLst>
  <p:sldSz cx="9144000" cy="5143500" type="screen16x9"/>
  <p:notesSz cx="6858000" cy="9144000"/>
  <p:defaultTextStyle>
    <a:defPPr>
      <a:defRPr lang="en-US"/>
    </a:defPPr>
    <a:lvl1pPr marL="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3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663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494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326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157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тчалко Алексей Валерьевич" initials="ОАВ" lastIdx="2" clrIdx="0">
    <p:extLst>
      <p:ext uri="{19B8F6BF-5375-455C-9EA6-DF929625EA0E}">
        <p15:presenceInfo xmlns:p15="http://schemas.microsoft.com/office/powerpoint/2012/main" userId="S-1-5-21-4150067811-3172932439-921807814-212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40000"/>
    <a:srgbClr val="0997C8"/>
    <a:srgbClr val="151320"/>
    <a:srgbClr val="14121F"/>
    <a:srgbClr val="18597F"/>
    <a:srgbClr val="00559A"/>
    <a:srgbClr val="005497"/>
    <a:srgbClr val="82C444"/>
    <a:srgbClr val="669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216" autoAdjust="0"/>
  </p:normalViewPr>
  <p:slideViewPr>
    <p:cSldViewPr snapToGrid="0">
      <p:cViewPr varScale="1">
        <p:scale>
          <a:sx n="137" d="100"/>
          <a:sy n="137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FD982-2CA3-466A-871B-FBBB36BA29C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B1D8-357D-4FC8-88B1-BB2FE4247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831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663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494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326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714157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ium_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434B0F-F40F-C569-0068-3A0AB96CC7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79" y="318581"/>
            <a:ext cx="2793054" cy="4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19B87-EEDF-34A8-548B-284B24476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043EC-7684-4F7C-AE01-8FA32FBACF43}"/>
              </a:ext>
            </a:extLst>
          </p:cNvPr>
          <p:cNvSpPr/>
          <p:nvPr userDrawn="1"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8D3A3-4F2D-2E8E-7343-C5D3CB90E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6E261-E28D-12DF-8306-61524001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132105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68DF6-DF0E-5EC9-4183-B981DC9B5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61F1-CCD4-F743-B10E-178ED07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DE89-36E4-5146-825B-076388FF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8E4A-25BD-604C-9B38-4ACD6517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05/12/2025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7B86-0F08-2840-85D5-C4833950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1260-A9CF-D746-A2C9-B7B2A67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53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7" r:id="rId2"/>
    <p:sldLayoutId id="2147483948" r:id="rId3"/>
    <p:sldLayoutId id="2147483955" r:id="rId4"/>
    <p:sldLayoutId id="2147483942" r:id="rId5"/>
    <p:sldLayoutId id="2147483961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685663" rtl="0" eaLnBrk="1" latinLnBrk="0" hangingPunct="1">
        <a:lnSpc>
          <a:spcPct val="90000"/>
        </a:lnSpc>
        <a:spcBef>
          <a:spcPct val="0"/>
        </a:spcBef>
        <a:buNone/>
        <a:defRPr lang="en-US" sz="225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171416" indent="-171416" algn="l" defTabSz="68566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1pPr>
      <a:lvl2pPr marL="51424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5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2pPr>
      <a:lvl3pPr marL="857079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3pPr>
      <a:lvl4pPr marL="1199910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4pPr>
      <a:lvl5pPr marL="1542741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4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4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"/>
            <a:ext cx="226771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4630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Переход с AVEVA PI System</a:t>
            </a:r>
            <a:br/>
            <a:r>
              <a:t>на Альфа платформу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D0F0"/>
                </a:solidFill>
                <a:latin typeface="Arial"/>
              </a:defRPr>
            </a:pPr>
            <a:r>
              <a:t>Стратегическое обоснование для руководства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B0D0"/>
                </a:solidFill>
                <a:latin typeface="Arial"/>
              </a:defRPr>
            </a:pPr>
            <a:r>
              <a:t>АО «Атомик Софт»  •  automiq.ru  •  Конфиденциально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Ситуация: почему нужно действовать сейчас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2697480" cy="457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45469"/>
                </a:solidFill>
                <a:latin typeface="Arial"/>
              </a:defRPr>
            </a:pPr>
            <a: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3333"/>
                </a:solidFill>
                <a:latin typeface="Arial"/>
              </a:defRPr>
            </a:pPr>
            <a:r>
              <a:t>Санкционный риск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прекратила поддержку</a:t>
            </a:r>
            <a:br/>
            <a:r>
              <a:t>и продажу в РФ.</a:t>
            </a:r>
            <a:br/>
            <a:r>
              <a:t>Нет обновлений. Нет патчей</a:t>
            </a:r>
            <a:br/>
            <a:r>
              <a:t>безопасности. Нет техподдержки.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868680"/>
            <a:ext cx="2697480" cy="4572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005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45469"/>
                </a:solidFill>
                <a:latin typeface="Arial"/>
              </a:defRPr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C00"/>
                </a:solidFill>
                <a:latin typeface="Arial"/>
              </a:defRPr>
            </a:pPr>
            <a:r>
              <a:t>Финансовый риск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AVEVA Flex: ~$108K/год</a:t>
            </a:r>
            <a:br/>
            <a:r>
              <a:t>за подписку.</a:t>
            </a:r>
            <a:br/>
            <a:r>
              <a:t>При неоплате — ПО</a:t>
            </a:r>
            <a:br/>
            <a:r>
              <a:t>перестаёт работать.</a:t>
            </a:r>
            <a:br/>
            <a:r>
              <a:t>Валютный риск.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868680"/>
            <a:ext cx="2697480" cy="3474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868680"/>
            <a:ext cx="2697480" cy="4572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005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45469"/>
                </a:solidFill>
                <a:latin typeface="Arial"/>
              </a:defRPr>
            </a:pPr>
            <a: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051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Регуляторный риск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ФЗ-187 о КИИ требует</a:t>
            </a:r>
            <a:br/>
            <a:r>
              <a:t>перехода на отечественное ПО.</a:t>
            </a:r>
            <a:br/>
            <a:r>
              <a:t>Сроки ужесточаются.</a:t>
            </a:r>
            <a:br/>
            <a:r>
              <a:t>ФСТЭК-аудиты.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3333"/>
                </a:solidFill>
                <a:latin typeface="Arial"/>
              </a:defRPr>
            </a:pPr>
            <a:r>
              <a:t>Каждый месяц без действий — это $9K подписки + растущий риск деактивации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Решение: Альфа платформа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Российская SCADA-платформа №1</a:t>
            </a:r>
            <a:br/>
            <a:r>
              <a:t>от АО «Атомик Софт» (Томск)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6500+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инсталляций</a:t>
            </a:r>
            <a:br/>
            <a:r>
              <a:t>в промышленности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партнёров-</a:t>
            </a:r>
            <a:br/>
            <a:r>
              <a:t>интеграторов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140+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сотрудников</a:t>
            </a:r>
            <a:br/>
            <a:r>
              <a:t>разработки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997C8"/>
                </a:solidFill>
                <a:latin typeface="Arial"/>
              </a:defRPr>
            </a:pPr>
            <a:r>
              <a:t>10 лет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65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5469"/>
                </a:solidFill>
                <a:latin typeface="Arial"/>
              </a:defRPr>
            </a:pPr>
            <a:r>
              <a:t>на рынке</a:t>
            </a:r>
            <a:br/>
            <a:r>
              <a:t>АСУ ТП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804672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Реестр Минцифры — полное соответствие ФЗ-187 о КИИ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Бессрочная лицензия в рублях — предсказуемый бюджет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 — сертифицированные ОС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Лицензия ФСТЭК на разработку СЗКИ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776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Техподдержка 24/7 на русском языке, вендор в России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Что меняется: суть перехода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402336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4023360" cy="36576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AVEVA PI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9C00"/>
                </a:solidFill>
                <a:latin typeface="Arial"/>
              </a:defRPr>
            </a:pPr>
            <a:r>
              <a:t>«Склад данных»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Собирает данные и раздаёт —</a:t>
            </a:r>
            <a:br/>
            <a:r>
              <a:t>аналитикам, Excel, облаку, BI.</a:t>
            </a:r>
            <a:br/>
            <a:r>
              <a:t>Управление процессом — не его задача.</a:t>
            </a:r>
            <a:br/>
            <a:r>
              <a:t>Подписка в долларах. Облако за рубежом.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822960"/>
            <a:ext cx="4206240" cy="22860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22960"/>
            <a:ext cx="4206240" cy="36576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188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97C8"/>
                </a:solidFill>
                <a:latin typeface="Arial"/>
              </a:defRPr>
            </a:pPr>
            <a:r>
              <a:t>«Диспетчерская с пультом»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544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Оператор видит и управляет процессом.</a:t>
            </a:r>
            <a:br/>
            <a:r>
              <a:t>Хранение данных тоже есть (Historian).</a:t>
            </a:r>
            <a:br/>
            <a:r>
              <a:t>Но главное — пульт управления.</a:t>
            </a:r>
            <a:br/>
            <a:r>
              <a:t>Бессрочная лицензия в рублях. On-prem.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497"/>
                </a:solidFill>
                <a:latin typeface="Arial"/>
              </a:defRPr>
            </a:pPr>
            <a:r>
              <a:t>Что это значит для бизнеса: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Переход с «хранилища данных» на «систему управления с хранилищем» — функционал расширяется</a:t>
            </a:r>
            <a:br/>
            <a:r>
              <a:t>• Некоторые «курьерские сервисы» (REST API, облако, Event Frames) потребуют доработки</a:t>
            </a:r>
            <a:br/>
            <a:r>
              <a:t>• Основные функции (архив, визуализация, тревоги, протоколы) заменяются полностью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Покрытие функционала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2697480" cy="36576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✅ Полная замена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Архив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Экраны оператора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Тревоги и события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Буферизация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Администрирование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Программный доступ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822960"/>
            <a:ext cx="2697480" cy="36576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⚠️ Частичная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Коннекторы (450→30,</a:t>
            </a:r>
            <a:br/>
            <a:r>
              <a:t>но 80% покрыто)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Self-service дашборды</a:t>
            </a:r>
            <a:br/>
            <a:r>
              <a:t>(есть, но проще)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Модель активов</a:t>
            </a:r>
            <a:br/>
            <a:r>
              <a:t>(не «на лету»)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889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Excel-отчёты</a:t>
            </a:r>
            <a:br/>
            <a:r>
              <a:t>(другой формат)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822960"/>
            <a:ext cx="2697480" cy="3657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850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❌ Требует доработки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280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Запись событий</a:t>
            </a:r>
            <a:br/>
            <a:r>
              <a:t>(Event Frames)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HTTP-доступ (REST API)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Синхронизация серверов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14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•  BI-интеграция</a:t>
            </a:r>
            <a:br/>
            <a:r>
              <a:t>(через SQL обход)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Экономика: стоимость владения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402336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4023360" cy="36576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3333"/>
                </a:solidFill>
                <a:latin typeface="Arial"/>
              </a:defRPr>
            </a:pPr>
            <a:r>
              <a:t>AVEVA PI System (текущие затраты)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C3333"/>
                </a:solidFill>
                <a:latin typeface="Arial"/>
              </a:defRPr>
            </a:pPr>
            <a:r>
              <a:t>~$108K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5469"/>
                </a:solidFill>
                <a:latin typeface="Arial"/>
              </a:defRPr>
            </a:pPr>
            <a:r>
              <a:t>в год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~$325K за 3 года (публичный контракт)</a:t>
            </a:r>
            <a:br/>
            <a:r>
              <a:t>Подписка в долларах. Валютный риск.</a:t>
            </a:r>
            <a:br/>
            <a:r>
              <a:t>При неоплате — деактивация.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822960"/>
            <a:ext cx="4206240" cy="182880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22960"/>
            <a:ext cx="4206240" cy="36576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2C444"/>
                </a:solidFill>
                <a:latin typeface="Arial"/>
              </a:defRPr>
            </a:pPr>
            <a:r>
              <a:t>Альфа платформа (целевые затраты)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280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2C444"/>
                </a:solidFill>
                <a:latin typeface="Arial"/>
              </a:defRPr>
            </a:pPr>
            <a:r>
              <a:t>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5469"/>
                </a:solidFill>
                <a:latin typeface="Arial"/>
              </a:defRPr>
            </a:pPr>
            <a:r>
              <a:t>разово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8288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Бессрочная лицензия. Рубли.</a:t>
            </a:r>
            <a:br/>
            <a:r>
              <a:t>Не зависит от курса. Не отключат.</a:t>
            </a:r>
            <a:br/>
            <a:r>
              <a:t>Техподдержка — отдельный договор.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71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Окупаемость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918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997C8"/>
                </a:solidFill>
                <a:latin typeface="Arial"/>
              </a:defRPr>
            </a:pPr>
            <a:r>
              <a:t>Год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918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Затраты на миграцию + лицензии Альфы. Экономия подписки AVEVA начинается.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118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997C8"/>
                </a:solidFill>
                <a:latin typeface="Arial"/>
              </a:defRPr>
            </a:pPr>
            <a:r>
              <a:t>Год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11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Миграция завершена. Полная экономия $108K/год = ~₽10M/год.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997C8"/>
                </a:solidFill>
                <a:latin typeface="Arial"/>
              </a:defRPr>
            </a:pPr>
            <a:r>
              <a:t>Год 3+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319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Чистая экономия. TCO перехода окупился. Только затраты на поддержку.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2C444"/>
                </a:solidFill>
                <a:latin typeface="Arial"/>
              </a:defRPr>
            </a:pPr>
            <a:r>
              <a:t>Окупаемость: 1.5–3 года в зависимости от масштаба инфраструктуры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План перехода: сроки и ресурсы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8229600" cy="9144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АУДИТ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Считаем: сколько тегов,</a:t>
            </a:r>
            <a:br/>
            <a:r>
              <a:t>какие протоколы, какие</a:t>
            </a:r>
            <a:br/>
            <a:r>
              <a:t>скрипты, что критично</a:t>
            </a:r>
          </a:p>
        </p:txBody>
      </p:sp>
      <p:sp>
        <p:nvSpPr>
          <p:cNvPr id="11" name="Oval 10"/>
          <p:cNvSpPr/>
          <p:nvPr/>
        </p:nvSpPr>
        <p:spPr>
          <a:xfrm>
            <a:off x="2697480" y="1965960"/>
            <a:ext cx="274320" cy="27432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997C8"/>
                </a:solidFill>
                <a:latin typeface="Arial"/>
              </a:defRPr>
            </a:pPr>
            <a:r>
              <a:t>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 мес.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Архитектура, лицензии,</a:t>
            </a:r>
            <a:br/>
            <a:r>
              <a:t>бюджет, рабочая группа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1965960"/>
            <a:ext cx="274320" cy="27432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75AD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2-3 мес.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Один объект — проверяем</a:t>
            </a:r>
            <a:br/>
            <a:r>
              <a:t>всё на практике</a:t>
            </a:r>
          </a:p>
        </p:txBody>
      </p:sp>
      <p:sp>
        <p:nvSpPr>
          <p:cNvPr id="21" name="Oval 20"/>
          <p:cNvSpPr/>
          <p:nvPr/>
        </p:nvSpPr>
        <p:spPr>
          <a:xfrm>
            <a:off x="5989320" y="1965960"/>
            <a:ext cx="274320" cy="27432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760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497"/>
                </a:solidFill>
                <a:latin typeface="Arial"/>
              </a:defRPr>
            </a:pPr>
            <a:r>
              <a:t>МИГРАЦИЯ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3-6 мес.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Переводим объекты.</a:t>
            </a:r>
            <a:br/>
            <a:r>
              <a:t>PI + Альфа параллельно.</a:t>
            </a:r>
            <a:br/>
            <a:r>
              <a:t>Обучаем людей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1965960"/>
            <a:ext cx="274320" cy="27432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1993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914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2C444"/>
                </a:solidFill>
                <a:latin typeface="Arial"/>
              </a:defRPr>
            </a:pPr>
            <a:r>
              <a:t>СДАЧА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1430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997C8"/>
                </a:solidFill>
                <a:latin typeface="Arial"/>
              </a:defRPr>
            </a:pPr>
            <a:r>
              <a:t>1-2 мес.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423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Отключаем PI.</a:t>
            </a:r>
            <a:br/>
            <a:r>
              <a:t>Документация. SLA.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8229600" cy="5486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Общая длительность: 8–14 месяцев.  Нулевой простой — PI и Альфа работают параллельно.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Управление рисками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822960" cy="2743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Высокий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22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Потеря Event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Уникальная функция PI для анализа событий. Проводим аудит: если используется — допрограммируем. Если нет — риск нулевой.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822960" cy="27432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910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Средний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572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Переобучение персонала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470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Обучение от Атомик Софт: курсы, лаборатории, сертификация. Альфа проще PI в ежедневном использовании.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58568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22576"/>
            <a:ext cx="822960" cy="27432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408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Средний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3225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Нет облачных сервисов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5968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PI Cloud отключён для РФ. Ставим Grafana + Power BI на своих серверах — данные остаются внутри периметра.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08376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072384"/>
            <a:ext cx="822960" cy="27432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906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Низкий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0723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Технический простой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34670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PI и Альфа работают параллельно на каждом этапе. Переключение — после 2-4 недель валидации.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58184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22192"/>
            <a:ext cx="822960" cy="27432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40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Низкий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22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Неполное покрытие протоколов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0965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~80% промышленных протоколов — из коробки. Остальное — через стандартные OPC UA шлюзы.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07992"/>
            <a:ext cx="822960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Сравнение: ключевые параметры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103120" cy="292608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777240"/>
            <a:ext cx="2834640" cy="292608"/>
          </a:xfrm>
          <a:prstGeom prst="rect">
            <a:avLst/>
          </a:prstGeom>
          <a:solidFill>
            <a:srgbClr val="8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0" y="777240"/>
            <a:ext cx="3108960" cy="292608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046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Параметр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8046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PI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8046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5214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Лицензия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15214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~$108K/год, подписка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15214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Разовая покупка, рубли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453896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49047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4904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Только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49047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Windows + Linux (Astra, РЕД ОС)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792224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82880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Реестр Минцифры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82880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82880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Да — соответствие ФЗ-187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30552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6712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Поддержка в РФ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16712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(санкции)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16712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24/7 на русском, вендор в Томске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50545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Визуализация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250545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Vision — простая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50545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Alpha.HMI 2.0 — мощная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07208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843784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Коннекторы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843784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450+ протоколов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843784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~30 + OPC UA шлюзы (~80%)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145536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8211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Облако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18211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AVEVA Data 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182112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(on-prem = безопаснее)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83864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52044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3520440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20440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(доработка если нужно)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858768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858768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Есть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858768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(доступ через TCP/SQL)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197096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ФСТЭК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197096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197096"/>
            <a:ext cx="2926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Лицензия на разработку СЗКИ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"/>
            <a:ext cx="4572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497"/>
                </a:solidFill>
                <a:latin typeface="Arial"/>
              </a:defRPr>
            </a:pPr>
            <a:r>
              <a:t>Запрос на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429768"/>
            <a:ext cx="1371600" cy="1371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Предлагаем утвердить: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6245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Запуск аудита PI-инфраструктуры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Инвентаризация: теги, протоколы, скрипты, отчёты, Event Frames.</a:t>
            </a:r>
            <a:br/>
            <a:r>
              <a:t>Срок: 1-2 месяца. Результат: отчёт с рекомендациями.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3113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Определение пилотного объекта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Один объект для проверки на практике.</a:t>
            </a:r>
            <a:br/>
            <a:r>
              <a:t>PI и Альфа работают параллельно 2-4 недели.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09981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Формирование рабочей группы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НОВАТЭК (КИПиА + IT) + Атомик Софт + интегратор.</a:t>
            </a:r>
            <a:br/>
            <a:r>
              <a:t>Еженедельные статус-встречи.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68496"/>
            <a:ext cx="28346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862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Бюджет на пилот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Лицензии Альфа платформы (пилотный комплект) +</a:t>
            </a:r>
            <a:br/>
            <a:r>
              <a:t>работы по миграции пилотного объекта.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pic>
        <p:nvPicPr>
          <p:cNvPr id="3" name="Picture 2" descr="contact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Будущее автоматизации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497"/>
                </a:solidFill>
                <a:latin typeface="Arial"/>
              </a:defRPr>
            </a:pPr>
            <a:r>
              <a:t>в ваших руках.</a:t>
            </a:r>
          </a:p>
        </p:txBody>
      </p:sp>
      <p:pic>
        <p:nvPicPr>
          <p:cNvPr id="6" name="Picture 5" descr="qr_or_de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94560"/>
            <a:ext cx="155448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233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АО «Атомик Софт»</a:t>
            </a:r>
            <a:br/>
            <a:r>
              <a:t>634050 Томск, пр. Ленина 60/1</a:t>
            </a:r>
            <a:br/>
            <a:r>
              <a:t>+7 (3822) 281 914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info@automiq.ru</a:t>
            </a:r>
            <a:br/>
            <a:r>
              <a:t>www.automiq.ru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023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Станислав Павловский</a:t>
            </a:r>
            <a:br/>
            <a:r>
              <a:t>Telegram: @Integraleus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_Атомик">
  <a:themeElements>
    <a:clrScheme name="Custom 2">
      <a:dk1>
        <a:srgbClr val="000000"/>
      </a:dk1>
      <a:lt1>
        <a:sysClr val="window" lastClr="FFFFFF"/>
      </a:lt1>
      <a:dk2>
        <a:srgbClr val="6E6E6E"/>
      </a:dk2>
      <a:lt2>
        <a:srgbClr val="FFFFFF"/>
      </a:lt2>
      <a:accent1>
        <a:srgbClr val="005497"/>
      </a:accent1>
      <a:accent2>
        <a:srgbClr val="3375AD"/>
      </a:accent2>
      <a:accent3>
        <a:srgbClr val="0997C8"/>
      </a:accent3>
      <a:accent4>
        <a:srgbClr val="52CCF7"/>
      </a:accent4>
      <a:accent5>
        <a:srgbClr val="82C444"/>
      </a:accent5>
      <a:accent6>
        <a:srgbClr val="CDE7B4"/>
      </a:accent6>
      <a:hlink>
        <a:srgbClr val="0997C8"/>
      </a:hlink>
      <a:folHlink>
        <a:srgbClr val="CDE7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_Атомик" id="{CEB1B155-F77A-4A19-9AEE-767E43EEE002}" vid="{E33B8DA0-9C2E-4591-9D92-CDFA1B99F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FB12FA238B29479C15A3FBF1901892" ma:contentTypeVersion="15" ma:contentTypeDescription="Создание документа." ma:contentTypeScope="" ma:versionID="ecc35f767065df6b4e4d6498d5eac02d">
  <xsd:schema xmlns:xsd="http://www.w3.org/2001/XMLSchema" xmlns:xs="http://www.w3.org/2001/XMLSchema" xmlns:p="http://schemas.microsoft.com/office/2006/metadata/properties" xmlns:ns2="0502b1be-0fe2-4509-97a9-ec0fd3fafc9b" xmlns:ns3="b723f446-6c9e-405e-84d5-4916a0afa7d5" targetNamespace="http://schemas.microsoft.com/office/2006/metadata/properties" ma:root="true" ma:fieldsID="7bfcc36716481aa470f9f4409057f6cb" ns2:_="" ns3:_="">
    <xsd:import namespace="0502b1be-0fe2-4509-97a9-ec0fd3fafc9b"/>
    <xsd:import namespace="b723f446-6c9e-405e-84d5-4916a0afa7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2b1be-0fe2-4509-97a9-ec0fd3faf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e2e7791-cded-476b-940f-30d7621795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3f446-6c9e-405e-84d5-4916a0afa7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520b3-41b0-41ba-9884-d7cef35bb1b8}" ma:internalName="TaxCatchAll" ma:showField="CatchAllData" ma:web="b723f446-6c9e-405e-84d5-4916a0afa7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02b1be-0fe2-4509-97a9-ec0fd3fafc9b">
      <Terms xmlns="http://schemas.microsoft.com/office/infopath/2007/PartnerControls"/>
    </lcf76f155ced4ddcb4097134ff3c332f>
    <TaxCatchAll xmlns="b723f446-6c9e-405e-84d5-4916a0afa7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A56F4-2A60-49CC-AA53-5AA9356824FD}">
  <ds:schemaRefs>
    <ds:schemaRef ds:uri="0502b1be-0fe2-4509-97a9-ec0fd3fafc9b"/>
    <ds:schemaRef ds:uri="b723f446-6c9e-405e-84d5-4916a0afa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8006AA-1608-4641-B256-E4528952F154}">
  <ds:schemaRefs>
    <ds:schemaRef ds:uri="0502b1be-0fe2-4509-97a9-ec0fd3fafc9b"/>
    <ds:schemaRef ds:uri="b723f446-6c9e-405e-84d5-4916a0afa7d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A3223D-C643-4D8A-962C-239797B11A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Тема_Атомик</Template>
  <TotalTime>52805</TotalTime>
  <Words>627</Words>
  <Application>Microsoft Office PowerPoint</Application>
  <PresentationFormat>Экран (16:9)</PresentationFormat>
  <Paragraphs>129</Paragraphs>
  <Slides>13</Slides>
  <Notes>11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Circe ExtraBold</vt:lpstr>
      <vt:lpstr>Gill Sans</vt:lpstr>
      <vt:lpstr>Helvetica</vt:lpstr>
      <vt:lpstr>HelveticaNeueCyr Light</vt:lpstr>
      <vt:lpstr>HelveticaNeueCyr Medium</vt:lpstr>
      <vt:lpstr>Verdana</vt:lpstr>
      <vt:lpstr>Wingdings</vt:lpstr>
      <vt:lpstr>Тема_Атомик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Иващенко Наталья Владимировна</cp:lastModifiedBy>
  <cp:revision>115</cp:revision>
  <dcterms:created xsi:type="dcterms:W3CDTF">2014-11-12T21:47:38Z</dcterms:created>
  <dcterms:modified xsi:type="dcterms:W3CDTF">2025-05-12T07:19:19Z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0x01010028FB12FA238B29479C15A3FBF1901892</vt:lpwstr>
  </property>
  <property fmtid="{D5CDD505-2E9C-101B-9397-08002B2CF9AE}" pid="3" name="MediaServiceImageTags">
    <vt:lpwstr/>
  </property>
</Properties>
</file>