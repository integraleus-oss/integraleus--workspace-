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946" r:id="rId4"/>
  </p:sldMasterIdLst>
  <p:notesMasterIdLst>
    <p:notesMasterId r:id="rId18"/>
  </p:notesMasterIdLst>
  <p:handoutMasterIdLst>
    <p:handoutMasterId r:id="rId19"/>
  </p:handout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1"/>
    <p:sldId id="263" r:id="rId10"/>
    <p:sldId id="264" r:id="rId9"/>
    <p:sldId id="265" r:id="rId8"/>
    <p:sldId id="266" r:id="rId7"/>
    <p:sldId id="267" r:id="rId6"/>
    <p:sldId id="268" r:id="rId5"/>
    <p:sldId id="269" r:id="rId25"/>
    <p:sldId id="270" r:id="rId26"/>
    <p:sldId id="271" r:id="rId27"/>
  </p:sldIdLst>
  <p:sldSz cx="9144000" cy="5143500" type="screen16x9"/>
  <p:notesSz cx="6858000" cy="9144000"/>
  <p:defaultTextStyle>
    <a:defPPr>
      <a:defRPr lang="en-US"/>
    </a:defPPr>
    <a:lvl1pPr marL="0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831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663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494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326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157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6989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399820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2651" algn="l" defTabSz="68566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Отчалко Алексей Валерьевич" initials="ОАВ" lastIdx="2" clrIdx="0">
    <p:extLst>
      <p:ext uri="{19B8F6BF-5375-455C-9EA6-DF929625EA0E}">
        <p15:presenceInfo xmlns:p15="http://schemas.microsoft.com/office/powerpoint/2012/main" userId="S-1-5-21-4150067811-3172932439-921807814-2128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C0000"/>
    <a:srgbClr val="740000"/>
    <a:srgbClr val="0997C8"/>
    <a:srgbClr val="151320"/>
    <a:srgbClr val="14121F"/>
    <a:srgbClr val="18597F"/>
    <a:srgbClr val="00559A"/>
    <a:srgbClr val="005497"/>
    <a:srgbClr val="82C444"/>
    <a:srgbClr val="669C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3216" autoAdjust="0"/>
  </p:normalViewPr>
  <p:slideViewPr>
    <p:cSldViewPr snapToGrid="0">
      <p:cViewPr varScale="1">
        <p:scale>
          <a:sx n="137" d="100"/>
          <a:sy n="137" d="100"/>
        </p:scale>
        <p:origin x="82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3.xml"/><Relationship Id="rId6" Type="http://schemas.openxmlformats.org/officeDocument/2006/relationships/slide" Target="slides/slide12.xml"/><Relationship Id="rId7" Type="http://schemas.openxmlformats.org/officeDocument/2006/relationships/slide" Target="slides/slide11.xml"/><Relationship Id="rId8" Type="http://schemas.openxmlformats.org/officeDocument/2006/relationships/slide" Target="slides/slide10.xml"/><Relationship Id="rId9" Type="http://schemas.openxmlformats.org/officeDocument/2006/relationships/slide" Target="slides/slide9.xml"/><Relationship Id="rId10" Type="http://schemas.openxmlformats.org/officeDocument/2006/relationships/slide" Target="slides/slide8.xml"/><Relationship Id="rId11" Type="http://schemas.openxmlformats.org/officeDocument/2006/relationships/slide" Target="slides/slide7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notesMaster" Target="notesMasters/notesMaster1.xml"/><Relationship Id="rId19" Type="http://schemas.openxmlformats.org/officeDocument/2006/relationships/handoutMaster" Target="handoutMasters/handoutMaster1.xml"/><Relationship Id="rId20" Type="http://schemas.openxmlformats.org/officeDocument/2006/relationships/commentAuthors" Target="commentAuthors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3FD982-2CA3-466A-871B-FBBB36BA29C9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1CB1D8-357D-4FC8-88B1-BB2FE42471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2215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Verdana" panose="020B060403050404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Verdana" panose="020B0604030504040204" pitchFamily="34" charset="0"/>
              </a:defRPr>
            </a:lvl1pPr>
          </a:lstStyle>
          <a:p>
            <a:fld id="{EFC10EE1-B198-C942-8235-326C972CBB30}" type="datetimeFigureOut">
              <a:rPr lang="en-US" smtClean="0"/>
              <a:pPr/>
              <a:t>5/12/2025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Verdana" panose="020B060403050404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Verdana" panose="020B0604030504040204" pitchFamily="34" charset="0"/>
              </a:defRPr>
            </a:lvl1pPr>
          </a:lstStyle>
          <a:p>
            <a:fld id="{006BE02D-20C0-F840-AFAC-BEA99C74FDC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289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42831" rtl="0" eaLnBrk="1" latinLnBrk="0" hangingPunct="1">
      <a:defRPr sz="9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342831" algn="l" defTabSz="342831" rtl="0" eaLnBrk="1" latinLnBrk="0" hangingPunct="1">
      <a:defRPr sz="9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685663" algn="l" defTabSz="342831" rtl="0" eaLnBrk="1" latinLnBrk="0" hangingPunct="1">
      <a:defRPr sz="9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028494" algn="l" defTabSz="342831" rtl="0" eaLnBrk="1" latinLnBrk="0" hangingPunct="1">
      <a:defRPr sz="9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371326" algn="l" defTabSz="342831" rtl="0" eaLnBrk="1" latinLnBrk="0" hangingPunct="1">
      <a:defRPr sz="9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1714157" algn="l" defTabSz="34283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6989" algn="l" defTabSz="34283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399820" algn="l" defTabSz="34283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2651" algn="l" defTabSz="342831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lium_Break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5434B0F-F40F-C569-0068-3A0AB96CC7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679" y="318581"/>
            <a:ext cx="2793054" cy="423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648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0119B87-EEDF-34A8-548B-284B244760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65209" y="4676568"/>
            <a:ext cx="372490" cy="37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670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54216" y="4700240"/>
            <a:ext cx="2651893" cy="3763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77043EC-7684-4F7C-AE01-8FA32FBACF43}"/>
              </a:ext>
            </a:extLst>
          </p:cNvPr>
          <p:cNvSpPr/>
          <p:nvPr userDrawn="1"/>
        </p:nvSpPr>
        <p:spPr>
          <a:xfrm>
            <a:off x="3254216" y="4700240"/>
            <a:ext cx="2651893" cy="3763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1A8D3A3-4F2D-2E8E-7343-C5D3CB90EA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65209" y="4676568"/>
            <a:ext cx="372490" cy="37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199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Gener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8E6E261-E28D-12DF-8306-615240014F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65209" y="4676568"/>
            <a:ext cx="372490" cy="37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680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ac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 noChangeAspect="1"/>
          </p:cNvSpPr>
          <p:nvPr>
            <p:ph type="pic" sz="quarter" idx="10"/>
          </p:nvPr>
        </p:nvSpPr>
        <p:spPr>
          <a:xfrm>
            <a:off x="0" y="1132105"/>
            <a:ext cx="9144000" cy="2540000"/>
          </a:xfrm>
        </p:spPr>
        <p:txBody>
          <a:bodyPr>
            <a:normAutofit/>
          </a:bodyPr>
          <a:lstStyle>
            <a:lvl1pPr marL="0" indent="0">
              <a:buNone/>
              <a:defRPr sz="1575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4C68DF6-DF0E-5EC9-4183-B981DC9B51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65209" y="4676568"/>
            <a:ext cx="372490" cy="37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165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14:reveal/>
      </p:transition>
    </mc:Choice>
    <mc:Fallback xmlns="">
      <p:transition spd="slow" advClick="0" advTm="3000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C61F1-CCD4-F743-B10E-178ED077EC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CEDE89-36E4-5146-825B-076388FFB1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BD8E4A-25BD-604C-9B38-4ACD65179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3DFB-8595-A44B-9F09-A50FA310E559}" type="datetimeFigureOut">
              <a:rPr lang="en-RU" smtClean="0"/>
              <a:t>05/12/2025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127B86-0F08-2840-85D5-C4833950F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61260-A9CF-D746-A2C9-B7B2A67A9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65534962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7"/>
            <a:ext cx="7886700" cy="994172"/>
          </a:xfrm>
          <a:prstGeom prst="rect">
            <a:avLst/>
          </a:prstGeom>
        </p:spPr>
        <p:txBody>
          <a:bodyPr vert="horz" lIns="182843" tIns="91422" rIns="182843" bIns="91422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182843" tIns="91422" rIns="182843" bIns="91422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087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0" r:id="rId1"/>
    <p:sldLayoutId id="2147483947" r:id="rId2"/>
    <p:sldLayoutId id="2147483948" r:id="rId3"/>
    <p:sldLayoutId id="2147483955" r:id="rId4"/>
    <p:sldLayoutId id="2147483942" r:id="rId5"/>
    <p:sldLayoutId id="2147483961" r:id="rId6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hf hdr="0" ftr="0" dt="0"/>
  <p:txStyles>
    <p:titleStyle>
      <a:lvl1pPr algn="l" defTabSz="685663" rtl="0" eaLnBrk="1" latinLnBrk="0" hangingPunct="1">
        <a:lnSpc>
          <a:spcPct val="90000"/>
        </a:lnSpc>
        <a:spcBef>
          <a:spcPct val="0"/>
        </a:spcBef>
        <a:buNone/>
        <a:defRPr lang="en-US" sz="2250" kern="1200">
          <a:solidFill>
            <a:schemeClr val="tx1"/>
          </a:solidFill>
          <a:latin typeface="Verdana" panose="020B0604030504040204" pitchFamily="34" charset="0"/>
          <a:ea typeface="+mj-ea"/>
          <a:cs typeface="+mj-cs"/>
        </a:defRPr>
      </a:lvl1pPr>
    </p:titleStyle>
    <p:bodyStyle>
      <a:lvl1pPr marL="171416" indent="-171416" algn="l" defTabSz="68566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lang="en-US" sz="1800" kern="1200" dirty="0" smtClean="0">
          <a:solidFill>
            <a:schemeClr val="tx1"/>
          </a:solidFill>
          <a:effectLst/>
          <a:latin typeface="Verdana" panose="020B0604030504040204" pitchFamily="34" charset="0"/>
          <a:ea typeface="+mn-ea"/>
          <a:cs typeface="+mn-cs"/>
        </a:defRPr>
      </a:lvl1pPr>
      <a:lvl2pPr marL="514247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en-US" sz="1500" kern="1200" dirty="0" smtClean="0">
          <a:solidFill>
            <a:schemeClr val="tx1"/>
          </a:solidFill>
          <a:effectLst/>
          <a:latin typeface="Verdana" panose="020B0604030504040204" pitchFamily="34" charset="0"/>
          <a:ea typeface="+mn-ea"/>
          <a:cs typeface="+mn-cs"/>
        </a:defRPr>
      </a:lvl2pPr>
      <a:lvl3pPr marL="857079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en-US" sz="1350" kern="1200" dirty="0" smtClean="0">
          <a:solidFill>
            <a:schemeClr val="tx1"/>
          </a:solidFill>
          <a:effectLst/>
          <a:latin typeface="Verdana" panose="020B0604030504040204" pitchFamily="34" charset="0"/>
          <a:ea typeface="+mn-ea"/>
          <a:cs typeface="+mn-cs"/>
        </a:defRPr>
      </a:lvl3pPr>
      <a:lvl4pPr marL="1199910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effectLst/>
          <a:latin typeface="Verdana" panose="020B0604030504040204" pitchFamily="34" charset="0"/>
          <a:ea typeface="+mn-ea"/>
          <a:cs typeface="+mn-cs"/>
        </a:defRPr>
      </a:lvl4pPr>
      <a:lvl5pPr marL="1542741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effectLst/>
          <a:latin typeface="Verdana" panose="020B0604030504040204" pitchFamily="34" charset="0"/>
          <a:ea typeface="+mn-ea"/>
          <a:cs typeface="+mn-cs"/>
        </a:defRPr>
      </a:lvl5pPr>
      <a:lvl6pPr marL="1885573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404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236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067" indent="-171416" algn="l" defTabSz="68566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31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663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494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326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157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6989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399820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2651" algn="l" defTabSz="68566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0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Миграция с AVEVA PI System</a:t>
            </a:r>
            <a:br/>
            <a:r>
              <a:t>на Альфа платформу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834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2CCF7"/>
                </a:solidFill>
                <a:latin typeface="Arial"/>
              </a:defRPr>
            </a:pPr>
            <a:r>
              <a:t>Анализ возможностей, пробелов и план перехода</a:t>
            </a:r>
          </a:p>
        </p:txBody>
      </p:sp>
      <p:sp>
        <p:nvSpPr>
          <p:cNvPr id="7" name="Oval 6"/>
          <p:cNvSpPr/>
          <p:nvPr/>
        </p:nvSpPr>
        <p:spPr>
          <a:xfrm>
            <a:off x="6583680" y="731520"/>
            <a:ext cx="1645920" cy="1645920"/>
          </a:xfrm>
          <a:prstGeom prst="ellipse">
            <a:avLst/>
          </a:prstGeom>
          <a:solidFill>
            <a:srgbClr val="0997C8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589520" y="2103120"/>
            <a:ext cx="914400" cy="914400"/>
          </a:xfrm>
          <a:prstGeom prst="ellipse">
            <a:avLst/>
          </a:prstGeom>
          <a:solidFill>
            <a:srgbClr val="3375AD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217920" y="2743200"/>
            <a:ext cx="640080" cy="640080"/>
          </a:xfrm>
          <a:prstGeom prst="ellipse">
            <a:avLst/>
          </a:prstGeom>
          <a:solidFill>
            <a:srgbClr val="82C444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0" y="3200400"/>
            <a:ext cx="457200" cy="457200"/>
          </a:xfrm>
          <a:prstGeom prst="ellipse">
            <a:avLst/>
          </a:prstGeom>
          <a:solidFill>
            <a:srgbClr val="52CCF7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188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SCADA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3317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HMI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88036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IIoT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3832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997C8"/>
                </a:solidFill>
                <a:latin typeface="Arial"/>
              </a:defRPr>
            </a:pPr>
            <a:r>
              <a:t>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0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617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B0D0"/>
                </a:solidFill>
                <a:latin typeface="Arial"/>
              </a:defRPr>
            </a:pPr>
            <a:r>
              <a:t>АО «Атомик Софт»  •  automiq.ru  •  Томск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777240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Почему миграция актуальна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77240"/>
            <a:ext cx="1097280" cy="27432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005840"/>
            <a:ext cx="2560320" cy="1554480"/>
          </a:xfrm>
          <a:prstGeom prst="round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005840"/>
            <a:ext cx="54864" cy="155448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43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C3333"/>
                </a:solidFill>
                <a:latin typeface="Arial"/>
              </a:defRPr>
            </a:pPr>
            <a:r>
              <a:t>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143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C3333"/>
                </a:solidFill>
                <a:latin typeface="Arial"/>
              </a:defRPr>
            </a:pPr>
            <a:r>
              <a:t>Санкции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50876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AVEVA прекратила</a:t>
            </a:r>
            <a:br/>
            <a:r>
              <a:t>поддержку в РФ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005840"/>
            <a:ext cx="2560320" cy="155448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005840"/>
            <a:ext cx="54864" cy="1554480"/>
          </a:xfrm>
          <a:prstGeom prst="rect">
            <a:avLst/>
          </a:prstGeom>
          <a:solidFill>
            <a:srgbClr val="E89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143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89C00"/>
                </a:solidFill>
                <a:latin typeface="Arial"/>
              </a:defRPr>
            </a:pPr>
            <a:r>
              <a:t>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1143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9C00"/>
                </a:solidFill>
                <a:latin typeface="Arial"/>
              </a:defRPr>
            </a:pPr>
            <a:r>
              <a:t>Подписка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150876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~$108K/год</a:t>
            </a:r>
            <a:br/>
            <a:r>
              <a:t>за 25-50K тегов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1005840"/>
            <a:ext cx="2560320" cy="155448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005840"/>
            <a:ext cx="54864" cy="155448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143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5497"/>
                </a:solidFill>
                <a:latin typeface="Arial"/>
              </a:defRPr>
            </a:pPr>
            <a:r>
              <a:t>⚖️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1143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5497"/>
                </a:solidFill>
                <a:latin typeface="Arial"/>
              </a:defRPr>
            </a:pPr>
            <a:r>
              <a:t>ФЗ-187 КИИ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150876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Требование перехода</a:t>
            </a:r>
            <a:br/>
            <a:r>
              <a:t>на отечественное ПО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743200"/>
            <a:ext cx="2560320" cy="1554480"/>
          </a:xfrm>
          <a:prstGeom prst="round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2743200"/>
            <a:ext cx="54864" cy="155448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880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C3333"/>
                </a:solidFill>
                <a:latin typeface="Arial"/>
              </a:defRPr>
            </a:pPr>
            <a:r>
              <a:t>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28803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C3333"/>
                </a:solidFill>
                <a:latin typeface="Arial"/>
              </a:defRPr>
            </a:pPr>
            <a:r>
              <a:t>Деактивация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324612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При неоплате ПО</a:t>
            </a:r>
            <a:br/>
            <a:r>
              <a:t>перестаёт работать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91840" y="2743200"/>
            <a:ext cx="2560320" cy="155448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91840" y="2743200"/>
            <a:ext cx="54864" cy="1554480"/>
          </a:xfrm>
          <a:prstGeom prst="rect">
            <a:avLst/>
          </a:prstGeom>
          <a:solidFill>
            <a:srgbClr val="E89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0" y="2880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89C00"/>
                </a:solidFill>
                <a:latin typeface="Arial"/>
              </a:defRPr>
            </a:pPr>
            <a:r>
              <a:t>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28803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9C00"/>
                </a:solidFill>
                <a:latin typeface="Arial"/>
              </a:defRPr>
            </a:pPr>
            <a:r>
              <a:t>Обновления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324612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Нет патчей,</a:t>
            </a:r>
            <a:br/>
            <a:r>
              <a:t>нет новых версий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0" y="2743200"/>
            <a:ext cx="2560320" cy="1554480"/>
          </a:xfrm>
          <a:prstGeom prst="round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35040" y="2743200"/>
            <a:ext cx="54864" cy="15544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2880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6A1B9A"/>
                </a:solidFill>
                <a:latin typeface="Arial"/>
              </a:defRPr>
            </a:pPr>
            <a:r>
              <a:t>☁️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28803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A1B9A"/>
                </a:solidFill>
                <a:latin typeface="Arial"/>
              </a:defRPr>
            </a:pPr>
            <a:r>
              <a:t>Облако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324612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Риск отключения</a:t>
            </a:r>
            <a:br/>
            <a:r>
              <a:t>AVEVA Cloud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777240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PI System — архитектура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77240"/>
            <a:ext cx="1097280" cy="27432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7680960" cy="548640"/>
          </a:xfrm>
          <a:prstGeom prst="rect">
            <a:avLst/>
          </a:prstGeom>
          <a:solidFill>
            <a:srgbClr val="A06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960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Облако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960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AVEVA Data Hub  •  AVEVA Insight  •  AVEVA Connect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00200"/>
            <a:ext cx="7680960" cy="548640"/>
          </a:xfrm>
          <a:prstGeom prst="rect">
            <a:avLst/>
          </a:prstGeom>
          <a:solidFill>
            <a:srgbClr val="337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459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Аналитика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645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PI Analytics  •  Asset Analytics  •  PI Integrator for BA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286000"/>
            <a:ext cx="7680960" cy="548640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331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Визуализация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331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PI Vision (веб)  •  PI ProcessBook  •  PI DataLink (Excel)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971800"/>
            <a:ext cx="7680960" cy="54864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017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Сервер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3017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Data Archive  •  Asset Framework  •  Notifications  •  Event Frames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657600"/>
            <a:ext cx="7680960" cy="548640"/>
          </a:xfrm>
          <a:prstGeom prst="rect">
            <a:avLst/>
          </a:prstGeom>
          <a:solidFill>
            <a:srgbClr val="3D7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7033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Сбор данных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3703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450+ PI Interfaces  •  PI Connectors  •  Buffer Subsystem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" y="1371600"/>
            <a:ext cx="640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997C8"/>
                </a:solidFill>
                <a:latin typeface="Arial"/>
              </a:defRPr>
            </a:pPr>
            <a:r>
              <a:t>PI Web API</a:t>
            </a:r>
            <a:br/>
            <a:r>
              <a:t>(REST)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" y="256032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997C8"/>
                </a:solidFill>
                <a:latin typeface="Arial"/>
              </a:defRPr>
            </a:pPr>
            <a:r>
              <a:t>PI SDK</a:t>
            </a:r>
            <a:br/>
            <a:r>
              <a:t>(.NET)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1371600"/>
            <a:ext cx="18288" cy="2468880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182880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75AD"/>
                </a:solidFill>
                <a:latin typeface="Arial"/>
              </a:defRPr>
            </a:pPr>
            <a:r>
              <a:t>PI to PI</a:t>
            </a:r>
            <a:br/>
            <a:r>
              <a:t>Репликация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32520" y="1645920"/>
            <a:ext cx="18288" cy="1828800"/>
          </a:xfrm>
          <a:prstGeom prst="rect">
            <a:avLst/>
          </a:prstGeom>
          <a:solidFill>
            <a:srgbClr val="337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777240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Альфа платформа — архитектура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77240"/>
            <a:ext cx="1097280" cy="27432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7680960" cy="548640"/>
          </a:xfrm>
          <a:prstGeom prst="rect">
            <a:avLst/>
          </a:prstGeom>
          <a:solidFill>
            <a:srgbClr val="337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960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Отчёты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960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Alpha.Report.Generator 2.0  •  Diagnostics.AuditReport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600200"/>
            <a:ext cx="7680960" cy="548640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459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Визуализация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645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Alpha.HMI 2.0  •  WebViewer 2.0  •  alpha.hmi.charts  •  Alpha.HMI.Alarms 3.3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286000"/>
            <a:ext cx="7680960" cy="54864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331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Ядро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331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Alpha.Server 6.4  •  Резервирование  •  Кластер  •  Alpha.Om / JS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971800"/>
            <a:ext cx="7680960" cy="548640"/>
          </a:xfrm>
          <a:prstGeom prst="rect">
            <a:avLst/>
          </a:prstGeom>
          <a:solidFill>
            <a:srgbClr val="067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017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Архив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3017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Alpha.Historian 4.0  •  Журнал транзакций  •  Сжатие LZMA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657600"/>
            <a:ext cx="7680960" cy="548640"/>
          </a:xfrm>
          <a:prstGeom prst="rect">
            <a:avLst/>
          </a:prstGeom>
          <a:solidFill>
            <a:srgbClr val="3D7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7033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Сбор данных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3703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~30 модулей: OPC UA/DA, Modbus, IEC 104/101/61850, S7, MQTT, BACnet, SNMP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" y="164592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997C8"/>
                </a:solidFill>
                <a:latin typeface="Arial"/>
              </a:defRPr>
            </a:pPr>
            <a:r>
              <a:t>Alpha.Link</a:t>
            </a:r>
            <a:br/>
            <a:r>
              <a:t>(TCP)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" y="256032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997C8"/>
                </a:solidFill>
                <a:latin typeface="Arial"/>
              </a:defRPr>
            </a:pPr>
            <a:r>
              <a:t>OPC UA</a:t>
            </a:r>
            <a:br/>
            <a:r>
              <a:t>SQL Conn.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1645920"/>
            <a:ext cx="18288" cy="1828800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1371600"/>
            <a:ext cx="640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75AD"/>
                </a:solidFill>
                <a:latin typeface="Arial"/>
              </a:defRPr>
            </a:pPr>
            <a:r>
              <a:t>DevStudio</a:t>
            </a:r>
            <a:br/>
            <a:r>
              <a:t>Инструменты</a:t>
            </a:r>
            <a:br/>
            <a:r>
              <a:t>разработки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32520" y="1371600"/>
            <a:ext cx="18288" cy="2286000"/>
          </a:xfrm>
          <a:prstGeom prst="rect">
            <a:avLst/>
          </a:prstGeom>
          <a:solidFill>
            <a:srgbClr val="337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58200" y="38404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82C444"/>
                </a:solidFill>
                <a:latin typeface="Arial"/>
              </a:defRPr>
            </a:pPr>
            <a:r>
              <a:t>ФСТЭК  •  IEC 62443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777240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Карта замены компонентов PI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77240"/>
            <a:ext cx="1097280" cy="27432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0" y="2560320"/>
            <a:ext cx="1463040" cy="640080"/>
          </a:xfrm>
          <a:prstGeom prst="round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60520" y="26060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PI System</a:t>
            </a:r>
            <a:br/>
            <a:r>
              <a:t>→ Альфа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914400"/>
            <a:ext cx="1828800" cy="548640"/>
          </a:xfrm>
          <a:prstGeom prst="roundRect">
            <a:avLst/>
          </a:prstGeom>
          <a:solidFill>
            <a:srgbClr val="F0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914400"/>
            <a:ext cx="45720" cy="548640"/>
          </a:xfrm>
          <a:prstGeom prst="rect">
            <a:avLst/>
          </a:prstGeom>
          <a:solidFill>
            <a:srgbClr val="82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941832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2C444"/>
                </a:solidFill>
                <a:latin typeface="Arial"/>
              </a:defRPr>
            </a:pPr>
            <a:r>
              <a:t>Data Archive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14300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45469"/>
                </a:solidFill>
                <a:latin typeface="Arial"/>
              </a:defRPr>
            </a:pPr>
            <a:r>
              <a:t>→ Alpha.Historian 4.0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7440" y="914400"/>
            <a:ext cx="1828800" cy="548640"/>
          </a:xfrm>
          <a:prstGeom prst="roundRect">
            <a:avLst/>
          </a:prstGeom>
          <a:solidFill>
            <a:srgbClr val="F0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77440" y="914400"/>
            <a:ext cx="45720" cy="548640"/>
          </a:xfrm>
          <a:prstGeom prst="rect">
            <a:avLst/>
          </a:prstGeom>
          <a:solidFill>
            <a:srgbClr val="82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87168" y="941832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2C444"/>
                </a:solidFill>
                <a:latin typeface="Arial"/>
              </a:defRPr>
            </a:pPr>
            <a:r>
              <a:t>Notifications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7168" y="114300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45469"/>
                </a:solidFill>
                <a:latin typeface="Arial"/>
              </a:defRPr>
            </a:pPr>
            <a:r>
              <a:t>→ Alpha.HMI.Alarms 3.3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914400"/>
            <a:ext cx="2011680" cy="548640"/>
          </a:xfrm>
          <a:prstGeom prst="roundRect">
            <a:avLst/>
          </a:prstGeom>
          <a:solidFill>
            <a:srgbClr val="F0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63440" y="914400"/>
            <a:ext cx="45720" cy="548640"/>
          </a:xfrm>
          <a:prstGeom prst="rect">
            <a:avLst/>
          </a:prstGeom>
          <a:solidFill>
            <a:srgbClr val="82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73168" y="941832"/>
            <a:ext cx="1874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2C444"/>
                </a:solidFill>
                <a:latin typeface="Arial"/>
              </a:defRPr>
            </a:pPr>
            <a:r>
              <a:t>ProcessBook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1143000"/>
            <a:ext cx="1874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45469"/>
                </a:solidFill>
                <a:latin typeface="Arial"/>
              </a:defRPr>
            </a:pPr>
            <a:r>
              <a:t>→ Alpha.HMI 2.0 + WebViewer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0" y="914400"/>
            <a:ext cx="1920240" cy="548640"/>
          </a:xfrm>
          <a:prstGeom prst="roundRect">
            <a:avLst/>
          </a:prstGeom>
          <a:solidFill>
            <a:srgbClr val="F0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49440" y="914400"/>
            <a:ext cx="45720" cy="548640"/>
          </a:xfrm>
          <a:prstGeom prst="rect">
            <a:avLst/>
          </a:prstGeom>
          <a:solidFill>
            <a:srgbClr val="82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59168" y="941832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2C444"/>
                </a:solidFill>
                <a:latin typeface="Arial"/>
              </a:defRPr>
            </a:pPr>
            <a:r>
              <a:t>Buffer Subsystem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114300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45469"/>
                </a:solidFill>
                <a:latin typeface="Arial"/>
              </a:defRPr>
            </a:pPr>
            <a:r>
              <a:t>→ Встроен в Alpha.Server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2377440"/>
            <a:ext cx="1828800" cy="64008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2377440"/>
            <a:ext cx="45720" cy="640080"/>
          </a:xfrm>
          <a:prstGeom prst="rect">
            <a:avLst/>
          </a:prstGeom>
          <a:solidFill>
            <a:srgbClr val="E89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2404872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9C00"/>
                </a:solidFill>
                <a:latin typeface="Arial"/>
              </a:defRPr>
            </a:pPr>
            <a:r>
              <a:t>450+ Interfaces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260604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45469"/>
                </a:solidFill>
                <a:latin typeface="Arial"/>
              </a:defRPr>
            </a:pPr>
            <a:r>
              <a:t>→ ~30 модулей</a:t>
            </a:r>
            <a:br/>
            <a:r>
              <a:t>+ OPC UA шлюзы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" y="3291840"/>
            <a:ext cx="1828800" cy="64008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3291840"/>
            <a:ext cx="45720" cy="640080"/>
          </a:xfrm>
          <a:prstGeom prst="rect">
            <a:avLst/>
          </a:prstGeom>
          <a:solidFill>
            <a:srgbClr val="E89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3319272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9C00"/>
                </a:solidFill>
                <a:latin typeface="Arial"/>
              </a:defRPr>
            </a:pPr>
            <a:r>
              <a:t>PI Vision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" y="352044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45469"/>
                </a:solidFill>
                <a:latin typeface="Arial"/>
              </a:defRPr>
            </a:pPr>
            <a:r>
              <a:t>→ WebViewer</a:t>
            </a:r>
            <a:br/>
            <a:r>
              <a:t>(без self-service)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49440" y="2377440"/>
            <a:ext cx="1920240" cy="640080"/>
          </a:xfrm>
          <a:prstGeom prst="round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949440" y="2377440"/>
            <a:ext cx="45720" cy="64008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59168" y="2404872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C3333"/>
                </a:solidFill>
                <a:latin typeface="Arial"/>
              </a:defRPr>
            </a:pPr>
            <a:r>
              <a:t>Event Frames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59168" y="260604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45469"/>
                </a:solidFill>
                <a:latin typeface="Arial"/>
              </a:defRPr>
            </a:pPr>
            <a:r>
              <a:t>❌ Нет аналога</a:t>
            </a:r>
            <a:br/>
            <a:r>
              <a:t>Нужна доработка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949440" y="3291840"/>
            <a:ext cx="1920240" cy="640080"/>
          </a:xfrm>
          <a:prstGeom prst="round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949440" y="3291840"/>
            <a:ext cx="45720" cy="64008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59168" y="3319272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C3333"/>
                </a:solidFill>
                <a:latin typeface="Arial"/>
              </a:defRPr>
            </a:pPr>
            <a:r>
              <a:t>REST API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59168" y="352044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45469"/>
                </a:solidFill>
                <a:latin typeface="Arial"/>
              </a:defRPr>
            </a:pPr>
            <a:r>
              <a:t>❌ Нет</a:t>
            </a:r>
            <a:br/>
            <a:r>
              <a:t>Alpha.Link + OPC UA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371600" y="4114800"/>
            <a:ext cx="1828800" cy="548640"/>
          </a:xfrm>
          <a:prstGeom prst="round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371600" y="4114800"/>
            <a:ext cx="45720" cy="54864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481328" y="4142232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C3333"/>
                </a:solidFill>
                <a:latin typeface="Arial"/>
              </a:defRPr>
            </a:pPr>
            <a:r>
              <a:t>PI to PI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81328" y="434340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45469"/>
                </a:solidFill>
                <a:latin typeface="Arial"/>
              </a:defRPr>
            </a:pPr>
            <a:r>
              <a:t>❌ Нет репликации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657600" y="4114800"/>
            <a:ext cx="1828800" cy="548640"/>
          </a:xfrm>
          <a:prstGeom prst="round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657600" y="4114800"/>
            <a:ext cx="45720" cy="54864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67328" y="4142232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C3333"/>
                </a:solidFill>
                <a:latin typeface="Arial"/>
              </a:defRPr>
            </a:pPr>
            <a:r>
              <a:t>Edge Data Store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67328" y="434340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45469"/>
                </a:solidFill>
                <a:latin typeface="Arial"/>
              </a:defRPr>
            </a:pPr>
            <a:r>
              <a:t>❌ Нет edge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0" y="4114800"/>
            <a:ext cx="1828800" cy="548640"/>
          </a:xfrm>
          <a:prstGeom prst="round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943600" y="4114800"/>
            <a:ext cx="45720" cy="54864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53328" y="4142232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C3333"/>
                </a:solidFill>
                <a:latin typeface="Arial"/>
              </a:defRPr>
            </a:pPr>
            <a:r>
              <a:t>Integrator for BA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53328" y="434340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45469"/>
                </a:solidFill>
                <a:latin typeface="Arial"/>
              </a:defRPr>
            </a:pPr>
            <a:r>
              <a:t>❌ Нет прямой BI</a:t>
            </a:r>
          </a:p>
        </p:txBody>
      </p:sp>
      <p:sp>
        <p:nvSpPr>
          <p:cNvPr id="51" name="Oval 50"/>
          <p:cNvSpPr/>
          <p:nvPr/>
        </p:nvSpPr>
        <p:spPr>
          <a:xfrm>
            <a:off x="274320" y="841248"/>
            <a:ext cx="109728" cy="109728"/>
          </a:xfrm>
          <a:prstGeom prst="ellipse">
            <a:avLst/>
          </a:prstGeom>
          <a:solidFill>
            <a:srgbClr val="82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82296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2C444"/>
                </a:solidFill>
                <a:latin typeface="Arial"/>
              </a:defRPr>
            </a:pPr>
            <a:r>
              <a:t>✅ Полная замена</a:t>
            </a:r>
          </a:p>
        </p:txBody>
      </p:sp>
      <p:sp>
        <p:nvSpPr>
          <p:cNvPr id="53" name="Oval 52"/>
          <p:cNvSpPr/>
          <p:nvPr/>
        </p:nvSpPr>
        <p:spPr>
          <a:xfrm>
            <a:off x="1737360" y="841248"/>
            <a:ext cx="109728" cy="109728"/>
          </a:xfrm>
          <a:prstGeom prst="ellipse">
            <a:avLst/>
          </a:prstGeom>
          <a:solidFill>
            <a:srgbClr val="E89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874520" y="82296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89C00"/>
                </a:solidFill>
                <a:latin typeface="Arial"/>
              </a:defRPr>
            </a:pPr>
            <a:r>
              <a:t>⚠️ Частичная</a:t>
            </a:r>
          </a:p>
        </p:txBody>
      </p:sp>
      <p:sp>
        <p:nvSpPr>
          <p:cNvPr id="55" name="Oval 54"/>
          <p:cNvSpPr/>
          <p:nvPr/>
        </p:nvSpPr>
        <p:spPr>
          <a:xfrm>
            <a:off x="3200400" y="841248"/>
            <a:ext cx="109728" cy="109728"/>
          </a:xfrm>
          <a:prstGeom prst="ellipse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337560" y="82296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CC3333"/>
                </a:solidFill>
                <a:latin typeface="Arial"/>
              </a:defRPr>
            </a:pPr>
            <a:r>
              <a:t>❌ Пробел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777240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Полное покрытие — что заменяется 1:1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77240"/>
            <a:ext cx="1097280" cy="27432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960120"/>
            <a:ext cx="2560320" cy="1554480"/>
          </a:xfrm>
          <a:prstGeom prst="roundRect">
            <a:avLst/>
          </a:prstGeom>
          <a:solidFill>
            <a:srgbClr val="F0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2560320" cy="36576"/>
          </a:xfrm>
          <a:prstGeom prst="rect">
            <a:avLst/>
          </a:prstGeom>
          <a:solidFill>
            <a:srgbClr val="82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45469"/>
                </a:solidFill>
                <a:latin typeface="Arial"/>
              </a:defRPr>
            </a:pPr>
            <a:r>
              <a:t>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0698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PI Data Archive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965960" y="1124712"/>
            <a:ext cx="228600" cy="137160"/>
          </a:xfrm>
          <a:prstGeom prst="rightArrow">
            <a:avLst/>
          </a:prstGeom>
          <a:solidFill>
            <a:srgbClr val="82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40280" y="106984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Alpha.Historian 4.0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4630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Архив с журналом транзакций</a:t>
            </a:r>
            <a:br/>
            <a:r>
              <a:t>и сжатием LZMA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73552" y="960120"/>
            <a:ext cx="2560320" cy="1554480"/>
          </a:xfrm>
          <a:prstGeom prst="roundRect">
            <a:avLst/>
          </a:prstGeom>
          <a:solidFill>
            <a:srgbClr val="F0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73552" y="960120"/>
            <a:ext cx="2560320" cy="36576"/>
          </a:xfrm>
          <a:prstGeom prst="rect">
            <a:avLst/>
          </a:prstGeom>
          <a:solidFill>
            <a:srgbClr val="82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0712" y="10972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45469"/>
                </a:solidFill>
                <a:latin typeface="Arial"/>
              </a:defRPr>
            </a:pPr>
            <a:r>
              <a:t>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22192" y="10698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PI Notifications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690872" y="1124712"/>
            <a:ext cx="228600" cy="137160"/>
          </a:xfrm>
          <a:prstGeom prst="rightArrow">
            <a:avLst/>
          </a:prstGeom>
          <a:solidFill>
            <a:srgbClr val="82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65192" y="106984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Alpha.HMI.Alarms 3.3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0712" y="14630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Тревоги + рассылка</a:t>
            </a:r>
            <a:br/>
            <a:r>
              <a:t>SMTP/Syslog/OPC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98464" y="960120"/>
            <a:ext cx="2560320" cy="1554480"/>
          </a:xfrm>
          <a:prstGeom prst="roundRect">
            <a:avLst/>
          </a:prstGeom>
          <a:solidFill>
            <a:srgbClr val="F0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98464" y="960120"/>
            <a:ext cx="2560320" cy="36576"/>
          </a:xfrm>
          <a:prstGeom prst="rect">
            <a:avLst/>
          </a:prstGeom>
          <a:solidFill>
            <a:srgbClr val="82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35624" y="10972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45469"/>
                </a:solidFill>
                <a:latin typeface="Arial"/>
              </a:defRPr>
            </a:pPr>
            <a:r>
              <a:t>🖥️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10698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PI ProcessBook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415784" y="1124712"/>
            <a:ext cx="228600" cy="137160"/>
          </a:xfrm>
          <a:prstGeom prst="rightArrow">
            <a:avLst/>
          </a:prstGeom>
          <a:solidFill>
            <a:srgbClr val="82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90104" y="106984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Alpha.HMI 2.0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35624" y="14630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Десктоп + веб</a:t>
            </a:r>
            <a:br/>
            <a:r>
              <a:t>визуализация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2697480"/>
            <a:ext cx="2560320" cy="1554480"/>
          </a:xfrm>
          <a:prstGeom prst="roundRect">
            <a:avLst/>
          </a:prstGeom>
          <a:solidFill>
            <a:srgbClr val="F0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2697480"/>
            <a:ext cx="2560320" cy="36576"/>
          </a:xfrm>
          <a:prstGeom prst="rect">
            <a:avLst/>
          </a:prstGeom>
          <a:solidFill>
            <a:srgbClr val="82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2834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45469"/>
                </a:solidFill>
                <a:latin typeface="Arial"/>
              </a:defRPr>
            </a:pPr>
            <a:r>
              <a:t>⚙️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28072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PI System Mgmt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1965960" y="2862072"/>
            <a:ext cx="228600" cy="137160"/>
          </a:xfrm>
          <a:prstGeom prst="rightArrow">
            <a:avLst/>
          </a:prstGeom>
          <a:solidFill>
            <a:srgbClr val="82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40280" y="280720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DevStudio + Alpha.Diag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32004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Конфигурация,</a:t>
            </a:r>
            <a:br/>
            <a:r>
              <a:t>диагностика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73552" y="2697480"/>
            <a:ext cx="2560320" cy="1554480"/>
          </a:xfrm>
          <a:prstGeom prst="roundRect">
            <a:avLst/>
          </a:prstGeom>
          <a:solidFill>
            <a:srgbClr val="F0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73552" y="2697480"/>
            <a:ext cx="2560320" cy="36576"/>
          </a:xfrm>
          <a:prstGeom prst="rect">
            <a:avLst/>
          </a:prstGeom>
          <a:solidFill>
            <a:srgbClr val="82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10712" y="2834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45469"/>
                </a:solidFill>
                <a:latin typeface="Arial"/>
              </a:defRPr>
            </a:pPr>
            <a:r>
              <a:t>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22192" y="28072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PI Buffer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4690872" y="2862072"/>
            <a:ext cx="228600" cy="137160"/>
          </a:xfrm>
          <a:prstGeom prst="rightArrow">
            <a:avLst/>
          </a:prstGeom>
          <a:solidFill>
            <a:srgbClr val="82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65192" y="280720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Alpha.Server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10712" y="32004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Встроенная буферизация</a:t>
            </a:r>
            <a:br/>
            <a:r>
              <a:t>без настройки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98464" y="2697480"/>
            <a:ext cx="2560320" cy="1554480"/>
          </a:xfrm>
          <a:prstGeom prst="roundRect">
            <a:avLst/>
          </a:prstGeom>
          <a:solidFill>
            <a:srgbClr val="F0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98464" y="2697480"/>
            <a:ext cx="2560320" cy="36576"/>
          </a:xfrm>
          <a:prstGeom prst="rect">
            <a:avLst/>
          </a:prstGeom>
          <a:solidFill>
            <a:srgbClr val="82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35624" y="2834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45469"/>
                </a:solidFill>
                <a:latin typeface="Arial"/>
              </a:defRPr>
            </a:pPr>
            <a:r>
              <a:t>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47104" y="28072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PI SDK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7415784" y="2862072"/>
            <a:ext cx="228600" cy="137160"/>
          </a:xfrm>
          <a:prstGeom prst="rightArrow">
            <a:avLst/>
          </a:prstGeom>
          <a:solidFill>
            <a:srgbClr val="82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90104" y="280720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5497"/>
                </a:solidFill>
                <a:latin typeface="Arial"/>
              </a:defRPr>
            </a:pPr>
            <a:r>
              <a:t>Alpha.Link + OPC UA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35624" y="32004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Несколько вариантов</a:t>
            </a:r>
            <a:br/>
            <a:r>
              <a:t>программного доступа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777240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Частичная замена и функциональные пробелы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77240"/>
            <a:ext cx="1097280" cy="27432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9C00"/>
                </a:solidFill>
                <a:latin typeface="Arial"/>
              </a:defRPr>
            </a:pPr>
            <a:r>
              <a:t>⚠️  Частичная замена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3840480" cy="77724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45720" cy="777240"/>
          </a:xfrm>
          <a:prstGeom prst="rect">
            <a:avLst/>
          </a:prstGeom>
          <a:solidFill>
            <a:srgbClr val="E89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497"/>
                </a:solidFill>
                <a:latin typeface="Arial"/>
              </a:defRPr>
            </a:pPr>
            <a:r>
              <a:t>PI Interfaces (450+)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~30 модулей Alpha.Server</a:t>
            </a:r>
            <a:br/>
            <a:r>
              <a:t>+ OPC UA шлюзы для остальных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084832"/>
            <a:ext cx="3840480" cy="77724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084832"/>
            <a:ext cx="45720" cy="777240"/>
          </a:xfrm>
          <a:prstGeom prst="rect">
            <a:avLst/>
          </a:prstGeom>
          <a:solidFill>
            <a:srgbClr val="E89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30552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497"/>
                </a:solidFill>
                <a:latin typeface="Arial"/>
              </a:defRPr>
            </a:pPr>
            <a:r>
              <a:t>PI Vision (self-service)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5915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WebViewer — есть, но без</a:t>
            </a:r>
            <a:br/>
            <a:r>
              <a:t>конструктора дашбордов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935224"/>
            <a:ext cx="3840480" cy="77724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935224"/>
            <a:ext cx="45720" cy="777240"/>
          </a:xfrm>
          <a:prstGeom prst="rect">
            <a:avLst/>
          </a:prstGeom>
          <a:solidFill>
            <a:srgbClr val="E89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980944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497"/>
                </a:solidFill>
                <a:latin typeface="Arial"/>
              </a:defRPr>
            </a:pPr>
            <a:r>
              <a:t>PI AF (Asset Framework)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209544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DevStudio — design-time</a:t>
            </a:r>
            <a:br/>
            <a:r>
              <a:t>(не runtime как AF)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85616"/>
            <a:ext cx="3840480" cy="77724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785616"/>
            <a:ext cx="45720" cy="777240"/>
          </a:xfrm>
          <a:prstGeom prst="rect">
            <a:avLst/>
          </a:prstGeom>
          <a:solidFill>
            <a:srgbClr val="E89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831336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497"/>
                </a:solidFill>
                <a:latin typeface="Arial"/>
              </a:defRPr>
            </a:pPr>
            <a:r>
              <a:t>PI DataLink (Excel)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059936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Report.Generator 2.0</a:t>
            </a:r>
            <a:br/>
            <a:r>
              <a:t>(не интерактивный Excel add-in)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8686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C3333"/>
                </a:solidFill>
                <a:latin typeface="Arial"/>
              </a:defRPr>
            </a:pPr>
            <a:r>
              <a:t>❌  Функциональные пробелы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1234440"/>
            <a:ext cx="3931920" cy="530352"/>
          </a:xfrm>
          <a:prstGeom prst="round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54880" y="1234440"/>
            <a:ext cx="45720" cy="530352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92040" y="126187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C3333"/>
                </a:solidFill>
                <a:latin typeface="Arial"/>
              </a:defRPr>
            </a:pPr>
            <a:r>
              <a:t>Event Frames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126187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45469"/>
                </a:solidFill>
                <a:latin typeface="Arial"/>
              </a:defRPr>
            </a:pPr>
            <a:r>
              <a:t>Контекстные события</a:t>
            </a:r>
            <a:br/>
            <a:r>
              <a:t>с привязкой к активам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0" y="1801368"/>
            <a:ext cx="3931920" cy="530352"/>
          </a:xfrm>
          <a:prstGeom prst="round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54880" y="1801368"/>
            <a:ext cx="45720" cy="530352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92040" y="182880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C3333"/>
                </a:solidFill>
                <a:latin typeface="Arial"/>
              </a:defRPr>
            </a:pPr>
            <a:r>
              <a:t>PI Web API (REST)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18288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45469"/>
                </a:solidFill>
                <a:latin typeface="Arial"/>
              </a:defRPr>
            </a:pPr>
            <a:r>
              <a:t>Нет открытого REST API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0" y="2368296"/>
            <a:ext cx="3931920" cy="530352"/>
          </a:xfrm>
          <a:prstGeom prst="round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754880" y="2368296"/>
            <a:ext cx="45720" cy="530352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92040" y="239572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C3333"/>
                </a:solidFill>
                <a:latin typeface="Arial"/>
              </a:defRPr>
            </a:pPr>
            <a:r>
              <a:t>PI to PI (репликация)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239572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45469"/>
                </a:solidFill>
                <a:latin typeface="Arial"/>
              </a:defRPr>
            </a:pPr>
            <a:r>
              <a:t>Нет встроенной репликации</a:t>
            </a:r>
            <a:br/>
            <a:r>
              <a:t>между архивами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54880" y="2935224"/>
            <a:ext cx="3931920" cy="530352"/>
          </a:xfrm>
          <a:prstGeom prst="round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754880" y="2935224"/>
            <a:ext cx="45720" cy="530352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92040" y="2962656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C3333"/>
                </a:solidFill>
                <a:latin typeface="Arial"/>
              </a:defRPr>
            </a:pPr>
            <a:r>
              <a:t>Edge Data Store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2962656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45469"/>
                </a:solidFill>
                <a:latin typeface="Arial"/>
              </a:defRPr>
            </a:pPr>
            <a:r>
              <a:t>Нет лёгкого edge-решения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54880" y="3502152"/>
            <a:ext cx="3931920" cy="530352"/>
          </a:xfrm>
          <a:prstGeom prst="round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754880" y="3502152"/>
            <a:ext cx="45720" cy="530352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92040" y="3529584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C3333"/>
                </a:solidFill>
                <a:latin typeface="Arial"/>
              </a:defRPr>
            </a:pPr>
            <a:r>
              <a:t>Manual Logger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3529584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45469"/>
                </a:solidFill>
                <a:latin typeface="Arial"/>
              </a:defRPr>
            </a:pPr>
            <a:r>
              <a:t>Нет ручного ввода данных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54880" y="4069080"/>
            <a:ext cx="3931920" cy="530352"/>
          </a:xfrm>
          <a:prstGeom prst="round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754880" y="4069080"/>
            <a:ext cx="45720" cy="530352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92040" y="409651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C3333"/>
                </a:solidFill>
                <a:latin typeface="Arial"/>
              </a:defRPr>
            </a:pPr>
            <a:r>
              <a:t>Integrator for BA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409651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45469"/>
                </a:solidFill>
                <a:latin typeface="Arial"/>
              </a:defRPr>
            </a:pPr>
            <a:r>
              <a:t>Нет прямой BI-интеграции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777240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Стратегия закрытия пробелов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77240"/>
            <a:ext cx="1097280" cy="27432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2286000" cy="32004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80360" y="914400"/>
            <a:ext cx="3017520" cy="32004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89320" y="914400"/>
            <a:ext cx="2651760" cy="32004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94183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Пробел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9418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Решение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94183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Подход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298448"/>
            <a:ext cx="8138160" cy="457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76072" y="1453896"/>
            <a:ext cx="137160" cy="137160"/>
          </a:xfrm>
          <a:prstGeom prst="ellipse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3716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497"/>
                </a:solidFill>
                <a:latin typeface="Arial"/>
              </a:defRPr>
            </a:pPr>
            <a:r>
              <a:t>Event Frames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560320" y="1435608"/>
            <a:ext cx="228600" cy="164592"/>
          </a:xfrm>
          <a:prstGeom prst="rightArrow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13716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Alpha.Om + Alarms + PostgreSQL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1371600"/>
            <a:ext cx="1645920" cy="274320"/>
          </a:xfrm>
          <a:prstGeom prst="round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38988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Кастомная доработка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1828800"/>
            <a:ext cx="8138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6072" y="1984248"/>
            <a:ext cx="137160" cy="137160"/>
          </a:xfrm>
          <a:prstGeom prst="ellipse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190195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497"/>
                </a:solidFill>
                <a:latin typeface="Arial"/>
              </a:defRPr>
            </a:pPr>
            <a:r>
              <a:t>REST API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560320" y="1965960"/>
            <a:ext cx="228600" cy="164592"/>
          </a:xfrm>
          <a:prstGeom prst="rightArrow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80360" y="190195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Alpha.RMap → SQL → REST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80760" y="1901952"/>
            <a:ext cx="1645920" cy="274320"/>
          </a:xfrm>
          <a:prstGeom prst="round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192024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REST-обёртка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359152"/>
            <a:ext cx="8138160" cy="457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6072" y="2514600"/>
            <a:ext cx="137160" cy="137160"/>
          </a:xfrm>
          <a:prstGeom prst="ellipse">
            <a:avLst/>
          </a:prstGeom>
          <a:solidFill>
            <a:srgbClr val="337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243230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497"/>
                </a:solidFill>
                <a:latin typeface="Arial"/>
              </a:defRPr>
            </a:pPr>
            <a:r>
              <a:t>Репликация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2560320" y="2496312"/>
            <a:ext cx="228600" cy="164592"/>
          </a:xfrm>
          <a:prstGeom prst="rightArrow">
            <a:avLst/>
          </a:prstGeom>
          <a:solidFill>
            <a:srgbClr val="337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80360" y="243230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Historian → PostgreSQL → Import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80760" y="2432304"/>
            <a:ext cx="1645920" cy="274320"/>
          </a:xfrm>
          <a:prstGeom prst="roundRect">
            <a:avLst/>
          </a:prstGeom>
          <a:solidFill>
            <a:srgbClr val="337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245059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Периодический экспорт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2889504"/>
            <a:ext cx="8138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76072" y="3044952"/>
            <a:ext cx="137160" cy="137160"/>
          </a:xfrm>
          <a:prstGeom prst="ellipse">
            <a:avLst/>
          </a:prstGeom>
          <a:solidFill>
            <a:srgbClr val="337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296265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497"/>
                </a:solidFill>
                <a:latin typeface="Arial"/>
              </a:defRPr>
            </a:pPr>
            <a:r>
              <a:t>Edge Data Store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2560320" y="3026664"/>
            <a:ext cx="228600" cy="164592"/>
          </a:xfrm>
          <a:prstGeom prst="rightArrow">
            <a:avLst/>
          </a:prstGeom>
          <a:solidFill>
            <a:srgbClr val="337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80360" y="296265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Alpha.Server (мин. конфиг)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80760" y="2962656"/>
            <a:ext cx="1645920" cy="274320"/>
          </a:xfrm>
          <a:prstGeom prst="roundRect">
            <a:avLst/>
          </a:prstGeom>
          <a:solidFill>
            <a:srgbClr val="337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0" y="2980944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Лёгкая инсталляция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3419856"/>
            <a:ext cx="8138160" cy="457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76072" y="3575304"/>
            <a:ext cx="137160" cy="137160"/>
          </a:xfrm>
          <a:prstGeom prst="ellipse">
            <a:avLst/>
          </a:prstGeom>
          <a:solidFill>
            <a:srgbClr val="82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349300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497"/>
                </a:solidFill>
                <a:latin typeface="Arial"/>
              </a:defRPr>
            </a:pPr>
            <a:r>
              <a:t>Ручной ввод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2560320" y="3557016"/>
            <a:ext cx="228600" cy="164592"/>
          </a:xfrm>
          <a:prstGeom prst="rightArrow">
            <a:avLst/>
          </a:prstGeom>
          <a:solidFill>
            <a:srgbClr val="82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80360" y="349300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WebViewer + Alpha.Om скрипт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80760" y="3493008"/>
            <a:ext cx="1645920" cy="274320"/>
          </a:xfrm>
          <a:prstGeom prst="roundRect">
            <a:avLst/>
          </a:prstGeom>
          <a:solidFill>
            <a:srgbClr val="82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26480" y="3511296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Веб-форма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3950208"/>
            <a:ext cx="8138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76072" y="4105656"/>
            <a:ext cx="137160" cy="137160"/>
          </a:xfrm>
          <a:prstGeom prst="ellipse">
            <a:avLst/>
          </a:prstGeom>
          <a:solidFill>
            <a:srgbClr val="82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40233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497"/>
                </a:solidFill>
                <a:latin typeface="Arial"/>
              </a:defRPr>
            </a:pPr>
            <a:r>
              <a:t>BI-интеграция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2560320" y="4087368"/>
            <a:ext cx="228600" cy="164592"/>
          </a:xfrm>
          <a:prstGeom prst="rightArrow">
            <a:avLst/>
          </a:prstGeom>
          <a:solidFill>
            <a:srgbClr val="82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880360" y="4023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SQL Connector → Grafana/PowerBI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080760" y="4023360"/>
            <a:ext cx="1645920" cy="274320"/>
          </a:xfrm>
          <a:prstGeom prst="roundRect">
            <a:avLst/>
          </a:prstGeom>
          <a:solidFill>
            <a:srgbClr val="82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26480" y="404164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Через PostgreSQL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4480560"/>
            <a:ext cx="8138160" cy="457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76072" y="4636008"/>
            <a:ext cx="137160" cy="137160"/>
          </a:xfrm>
          <a:prstGeom prst="ellipse">
            <a:avLst/>
          </a:prstGeom>
          <a:solidFill>
            <a:srgbClr val="E89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7240" y="455371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497"/>
                </a:solidFill>
                <a:latin typeface="Arial"/>
              </a:defRPr>
            </a:pPr>
            <a:r>
              <a:t>450+ интерфейсов</a:t>
            </a:r>
          </a:p>
        </p:txBody>
      </p:sp>
      <p:sp>
        <p:nvSpPr>
          <p:cNvPr id="56" name="Right Arrow 55"/>
          <p:cNvSpPr/>
          <p:nvPr/>
        </p:nvSpPr>
        <p:spPr>
          <a:xfrm>
            <a:off x="2560320" y="4617720"/>
            <a:ext cx="228600" cy="164592"/>
          </a:xfrm>
          <a:prstGeom prst="rightArrow">
            <a:avLst/>
          </a:prstGeom>
          <a:solidFill>
            <a:srgbClr val="E89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880360" y="455371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~30 модулей + OPC UA шлюзы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080760" y="4553712"/>
            <a:ext cx="1645920" cy="274320"/>
          </a:xfrm>
          <a:prstGeom prst="roundRect">
            <a:avLst/>
          </a:prstGeom>
          <a:solidFill>
            <a:srgbClr val="E89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26480" y="457200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~80% покрытие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777240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Ключевое архитектурное различие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77240"/>
            <a:ext cx="1097280" cy="27432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60520" y="2331720"/>
            <a:ext cx="548640" cy="548640"/>
          </a:xfrm>
          <a:prstGeom prst="ellipse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60520" y="237744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VS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914400"/>
            <a:ext cx="3749039" cy="3566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914400"/>
            <a:ext cx="3749039" cy="457200"/>
          </a:xfrm>
          <a:prstGeom prst="rect">
            <a:avLst/>
          </a:prstGeom>
          <a:solidFill>
            <a:srgbClr val="6A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960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AVEVA PI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087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📦  Data Infrastructure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5623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🎯  Фокус: сбор → хранение → доставка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0370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📊  Визуализация вторична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5117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🏗️  Asset Framework (runtime)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89864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🔌  REST API, SDK — открытая экосистема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461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☁️  Облачные сервисы (AVEVA Data Hub)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0" y="914400"/>
            <a:ext cx="4023360" cy="356616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914400"/>
            <a:ext cx="4023360" cy="45720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83480" y="9601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Альфа платформа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1508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5497"/>
                </a:solidFill>
                <a:latin typeface="Arial"/>
              </a:defRPr>
            </a:pPr>
            <a:r>
              <a:t>🏭  SCADA-платформа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18562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5497"/>
                </a:solidFill>
                <a:latin typeface="Arial"/>
              </a:defRPr>
            </a:pPr>
            <a:r>
              <a:t>🎯  Фокус: визуализация + управление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20370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5497"/>
                </a:solidFill>
                <a:latin typeface="Arial"/>
              </a:defRPr>
            </a:pPr>
            <a:r>
              <a:t>🖥️  HMI/SCADA — ядро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255117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5497"/>
                </a:solidFill>
                <a:latin typeface="Arial"/>
              </a:defRPr>
            </a:pPr>
            <a:r>
              <a:t>🛠️  DevStudio (design-time)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28986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5497"/>
                </a:solidFill>
                <a:latin typeface="Arial"/>
              </a:defRPr>
            </a:pPr>
            <a:r>
              <a:t>🔗  Alpha.Link + OPC UA + 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3246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5497"/>
                </a:solidFill>
                <a:latin typeface="Arial"/>
              </a:defRPr>
            </a:pPr>
            <a:r>
              <a:t>🔒  Только on-premises (безопасно)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777240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Преимущества перехода на Альфа платформу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77240"/>
            <a:ext cx="1097280" cy="27432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548640" y="960120"/>
            <a:ext cx="960120" cy="960120"/>
          </a:xfrm>
          <a:prstGeom prst="hexagon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143000"/>
            <a:ext cx="8138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Реестр</a:t>
            </a:r>
            <a:br/>
            <a:r>
              <a:t>Минцифры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2344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ФЗ-187 о КИИ</a:t>
            </a:r>
          </a:p>
        </p:txBody>
      </p:sp>
      <p:sp>
        <p:nvSpPr>
          <p:cNvPr id="8" name="Hexagon 7"/>
          <p:cNvSpPr/>
          <p:nvPr/>
        </p:nvSpPr>
        <p:spPr>
          <a:xfrm>
            <a:off x="2724912" y="960120"/>
            <a:ext cx="960120" cy="960120"/>
          </a:xfrm>
          <a:prstGeom prst="hexagon">
            <a:avLst/>
          </a:prstGeom>
          <a:solidFill>
            <a:srgbClr val="82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98064" y="1143000"/>
            <a:ext cx="8138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Бессрочная</a:t>
            </a:r>
            <a:br/>
            <a:r>
              <a:t>лицензия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76472" y="12344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Нет подписок</a:t>
            </a:r>
          </a:p>
        </p:txBody>
      </p:sp>
      <p:sp>
        <p:nvSpPr>
          <p:cNvPr id="11" name="Hexagon 10"/>
          <p:cNvSpPr/>
          <p:nvPr/>
        </p:nvSpPr>
        <p:spPr>
          <a:xfrm>
            <a:off x="4901184" y="960120"/>
            <a:ext cx="960120" cy="960120"/>
          </a:xfrm>
          <a:prstGeom prst="hexagon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74336" y="1143000"/>
            <a:ext cx="8138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Linux</a:t>
            </a:r>
            <a:br/>
            <a:r>
              <a:t>поддержка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52744" y="12344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Astra, РЕД, Альт</a:t>
            </a:r>
          </a:p>
        </p:txBody>
      </p:sp>
      <p:sp>
        <p:nvSpPr>
          <p:cNvPr id="14" name="Hexagon 13"/>
          <p:cNvSpPr/>
          <p:nvPr/>
        </p:nvSpPr>
        <p:spPr>
          <a:xfrm>
            <a:off x="7077456" y="960120"/>
            <a:ext cx="960120" cy="960120"/>
          </a:xfrm>
          <a:prstGeom prst="hexagon">
            <a:avLst/>
          </a:prstGeom>
          <a:solidFill>
            <a:srgbClr val="337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50608" y="1143000"/>
            <a:ext cx="8138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Единая</a:t>
            </a:r>
            <a:br/>
            <a:r>
              <a:t>платформа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9016" y="12344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SCADA+HMI+Hist</a:t>
            </a:r>
          </a:p>
        </p:txBody>
      </p:sp>
      <p:sp>
        <p:nvSpPr>
          <p:cNvPr id="17" name="Hexagon 16"/>
          <p:cNvSpPr/>
          <p:nvPr/>
        </p:nvSpPr>
        <p:spPr>
          <a:xfrm>
            <a:off x="548640" y="2743200"/>
            <a:ext cx="960120" cy="960120"/>
          </a:xfrm>
          <a:prstGeom prst="hexagon">
            <a:avLst/>
          </a:prstGeom>
          <a:solidFill>
            <a:srgbClr val="067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2926080"/>
            <a:ext cx="8138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24/7</a:t>
            </a:r>
            <a:br/>
            <a:r>
              <a:t>поддержка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017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На русском языке</a:t>
            </a:r>
          </a:p>
        </p:txBody>
      </p:sp>
      <p:sp>
        <p:nvSpPr>
          <p:cNvPr id="20" name="Hexagon 19"/>
          <p:cNvSpPr/>
          <p:nvPr/>
        </p:nvSpPr>
        <p:spPr>
          <a:xfrm>
            <a:off x="2724912" y="2743200"/>
            <a:ext cx="960120" cy="960120"/>
          </a:xfrm>
          <a:prstGeom prst="hexagon">
            <a:avLst/>
          </a:prstGeom>
          <a:solidFill>
            <a:srgbClr val="82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98064" y="2926080"/>
            <a:ext cx="8138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6500+</a:t>
            </a:r>
            <a:br/>
            <a:r>
              <a:t>инсталляций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76472" y="3017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80+ партнёров</a:t>
            </a:r>
          </a:p>
        </p:txBody>
      </p:sp>
      <p:sp>
        <p:nvSpPr>
          <p:cNvPr id="23" name="Hexagon 22"/>
          <p:cNvSpPr/>
          <p:nvPr/>
        </p:nvSpPr>
        <p:spPr>
          <a:xfrm>
            <a:off x="4901184" y="2743200"/>
            <a:ext cx="960120" cy="960120"/>
          </a:xfrm>
          <a:prstGeom prst="hexagon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74336" y="2926080"/>
            <a:ext cx="8138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ФСТЭК</a:t>
            </a:r>
            <a:br/>
            <a:r>
              <a:t>лицензия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52744" y="3017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Разработка СЗКИ</a:t>
            </a:r>
          </a:p>
        </p:txBody>
      </p:sp>
      <p:sp>
        <p:nvSpPr>
          <p:cNvPr id="26" name="Hexagon 25"/>
          <p:cNvSpPr/>
          <p:nvPr/>
        </p:nvSpPr>
        <p:spPr>
          <a:xfrm>
            <a:off x="7077456" y="2743200"/>
            <a:ext cx="960120" cy="960120"/>
          </a:xfrm>
          <a:prstGeom prst="hexagon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50608" y="2926080"/>
            <a:ext cx="81381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п.29.3</a:t>
            </a:r>
            <a:br/>
            <a:r>
              <a:t>Приказ №239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29016" y="3017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Соответствие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777240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Протоколы и коннекторы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77240"/>
            <a:ext cx="1097280" cy="27432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868680"/>
            <a:ext cx="2743200" cy="27432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91840" y="868680"/>
            <a:ext cx="1371600" cy="27432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09160" y="868680"/>
            <a:ext cx="914400" cy="27432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88696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Протокол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8869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Режим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8869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Статус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188720"/>
            <a:ext cx="5120640" cy="2743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20700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5497"/>
                </a:solidFill>
                <a:latin typeface="Arial"/>
              </a:defRPr>
            </a:pPr>
            <a:r>
              <a:t>OPC UA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20700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C+S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120700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2C444"/>
                </a:solidFill>
                <a:latin typeface="Arial"/>
              </a:defRPr>
            </a:pPr>
            <a:r>
              <a:t>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463040"/>
            <a:ext cx="51206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14813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5497"/>
                </a:solidFill>
                <a:latin typeface="Arial"/>
              </a:defRPr>
            </a:pPr>
            <a:r>
              <a:t>OPC DA/HDA/AE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148132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C+S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148132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375AD"/>
                </a:solidFill>
                <a:latin typeface="Arial"/>
              </a:defRPr>
            </a:pPr>
            <a:r>
              <a:t>✅ Win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1737360"/>
            <a:ext cx="5120640" cy="2743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175564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5497"/>
                </a:solidFill>
                <a:latin typeface="Arial"/>
              </a:defRPr>
            </a:pPr>
            <a:r>
              <a:t>Modbus TCP/RTU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175564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M+S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17556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2C444"/>
                </a:solidFill>
                <a:latin typeface="Arial"/>
              </a:defRPr>
            </a:pPr>
            <a:r>
              <a:t>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011680"/>
            <a:ext cx="51206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202996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5497"/>
                </a:solidFill>
                <a:latin typeface="Arial"/>
              </a:defRPr>
            </a:pPr>
            <a:r>
              <a:t>IEC 60870-5-104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20299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M+S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20299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2C444"/>
                </a:solidFill>
                <a:latin typeface="Arial"/>
              </a:defRPr>
            </a:pPr>
            <a:r>
              <a:t>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2286000"/>
            <a:ext cx="5120640" cy="2743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230428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5497"/>
                </a:solidFill>
                <a:latin typeface="Arial"/>
              </a:defRPr>
            </a:pPr>
            <a:r>
              <a:t>IEC 60870-5-101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230428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M+S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230428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2C444"/>
                </a:solidFill>
                <a:latin typeface="Arial"/>
              </a:defRPr>
            </a:pPr>
            <a:r>
              <a:t>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2560320"/>
            <a:ext cx="51206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257860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5497"/>
                </a:solidFill>
                <a:latin typeface="Arial"/>
              </a:defRPr>
            </a:pPr>
            <a:r>
              <a:t>IEC 61850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257860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Client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0600" y="257860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2C444"/>
                </a:solidFill>
                <a:latin typeface="Arial"/>
              </a:defRPr>
            </a:pPr>
            <a:r>
              <a:t>✅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2834640"/>
            <a:ext cx="5120640" cy="2743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28529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5497"/>
                </a:solidFill>
                <a:latin typeface="Arial"/>
              </a:defRPr>
            </a:pPr>
            <a:r>
              <a:t>Siemens S7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80" y="285292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Client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00600" y="285292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2C444"/>
                </a:solidFill>
                <a:latin typeface="Arial"/>
              </a:defRPr>
            </a:pPr>
            <a:r>
              <a:t>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3108960"/>
            <a:ext cx="51206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312724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5497"/>
                </a:solidFill>
                <a:latin typeface="Arial"/>
              </a:defRPr>
            </a:pPr>
            <a:r>
              <a:t>EtherNet/IP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83280" y="312724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Client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00600" y="31272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2C444"/>
                </a:solidFill>
                <a:latin typeface="Arial"/>
              </a:defRPr>
            </a:pPr>
            <a:r>
              <a:t>✅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3383280"/>
            <a:ext cx="5120640" cy="2743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" y="340156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5497"/>
                </a:solidFill>
                <a:latin typeface="Arial"/>
              </a:defRPr>
            </a:pPr>
            <a:r>
              <a:t>FINS (Omron)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340156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Client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00600" y="340156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2C444"/>
                </a:solidFill>
                <a:latin typeface="Arial"/>
              </a:defRPr>
            </a:pPr>
            <a:r>
              <a:t>✅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3657600"/>
            <a:ext cx="51206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367588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5497"/>
                </a:solidFill>
                <a:latin typeface="Arial"/>
              </a:defRPr>
            </a:pPr>
            <a:r>
              <a:t>BACnet IP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83280" y="367588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Client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00600" y="367588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2C444"/>
                </a:solidFill>
                <a:latin typeface="Arial"/>
              </a:defRPr>
            </a:pPr>
            <a:r>
              <a:t>✅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3931920"/>
            <a:ext cx="5120640" cy="2743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4360" y="395020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5497"/>
                </a:solidFill>
                <a:latin typeface="Arial"/>
              </a:defRPr>
            </a:pPr>
            <a:r>
              <a:t>MQTT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83280" y="395020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Pub/Sub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00600" y="395020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2C444"/>
                </a:solidFill>
                <a:latin typeface="Arial"/>
              </a:defRPr>
            </a:pPr>
            <a:r>
              <a:t>✅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4206240"/>
            <a:ext cx="51206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4360" y="42245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5497"/>
                </a:solidFill>
                <a:latin typeface="Arial"/>
              </a:defRPr>
            </a:pPr>
            <a:r>
              <a:t>SNMP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83280" y="422452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Manager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00600" y="422452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2C444"/>
                </a:solidFill>
                <a:latin typeface="Arial"/>
              </a:defRPr>
            </a:pPr>
            <a:r>
              <a:t>✅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2920" y="4480560"/>
            <a:ext cx="5120640" cy="2743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4360" y="449884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5497"/>
                </a:solidFill>
                <a:latin typeface="Arial"/>
              </a:defRPr>
            </a:pPr>
            <a:r>
              <a:t>SQL Connector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83280" y="449884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PG/MS/Ora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00600" y="44988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2C444"/>
                </a:solidFill>
                <a:latin typeface="Arial"/>
              </a:defRPr>
            </a:pPr>
            <a:r>
              <a:t>✅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943600" y="1005840"/>
            <a:ext cx="2926080" cy="365760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26480" y="1188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997C8"/>
                </a:solidFill>
                <a:latin typeface="Arial"/>
              </a:defRPr>
            </a:pPr>
            <a:r>
              <a:t>~30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0" y="1737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5497"/>
                </a:solidFill>
                <a:latin typeface="Arial"/>
              </a:defRPr>
            </a:pPr>
            <a:r>
              <a:t>коммуникационных</a:t>
            </a:r>
            <a:br/>
            <a:r>
              <a:t>модулей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26480" y="24688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2C444"/>
                </a:solidFill>
                <a:latin typeface="Arial"/>
              </a:defRPr>
            </a:pPr>
            <a:r>
              <a:t>~80%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26480" y="3017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5497"/>
                </a:solidFill>
                <a:latin typeface="Arial"/>
              </a:defRPr>
            </a:pPr>
            <a:r>
              <a:t>промышленных</a:t>
            </a:r>
            <a:br/>
            <a:r>
              <a:t>протоколов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26480" y="374903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45469"/>
                </a:solidFill>
                <a:latin typeface="Arial"/>
              </a:defRPr>
            </a:pPr>
            <a:r>
              <a:t>Остальное через</a:t>
            </a:r>
            <a:br/>
            <a:r>
              <a:t>OPC UA шлюзы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777240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План миграции: 5 фаз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77240"/>
            <a:ext cx="1097280" cy="27432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148840"/>
            <a:ext cx="8229600" cy="54864"/>
          </a:xfrm>
          <a:prstGeom prst="rect">
            <a:avLst/>
          </a:prstGeom>
          <a:solidFill>
            <a:srgbClr val="337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2980" y="1993392"/>
            <a:ext cx="365760" cy="365760"/>
          </a:xfrm>
          <a:prstGeom prst="ellipse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2980" y="202996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868680"/>
            <a:ext cx="1417320" cy="100584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868680"/>
            <a:ext cx="1417320" cy="36576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941832"/>
            <a:ext cx="12710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997C8"/>
                </a:solidFill>
                <a:latin typeface="Arial"/>
              </a:defRPr>
            </a:pPr>
            <a:r>
              <a:t>АУДИТ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143000"/>
            <a:ext cx="12710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997C8"/>
                </a:solidFill>
                <a:latin typeface="Arial"/>
              </a:defRPr>
            </a:pPr>
            <a:r>
              <a:t>1-2 мес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65860" y="2377440"/>
            <a:ext cx="13716" cy="228600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2651760"/>
            <a:ext cx="1417320" cy="146304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743200"/>
            <a:ext cx="1234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Инвентаризация PI:</a:t>
            </a:r>
            <a:br/>
            <a:r>
              <a:t>теги, AF-модели,</a:t>
            </a:r>
            <a:br/>
            <a:r>
              <a:t>интерфейсы, отчёты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901952" y="2075688"/>
            <a:ext cx="164592" cy="182880"/>
          </a:xfrm>
          <a:prstGeom prst="rightArrow">
            <a:avLst/>
          </a:prstGeom>
          <a:solidFill>
            <a:srgbClr val="337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628900" y="1993392"/>
            <a:ext cx="365760" cy="365760"/>
          </a:xfrm>
          <a:prstGeom prst="ellipse">
            <a:avLst/>
          </a:prstGeom>
          <a:solidFill>
            <a:srgbClr val="337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28900" y="202996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03120" y="868680"/>
            <a:ext cx="1417320" cy="100584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03120" y="868680"/>
            <a:ext cx="1417320" cy="36576"/>
          </a:xfrm>
          <a:prstGeom prst="rect">
            <a:avLst/>
          </a:prstGeom>
          <a:solidFill>
            <a:srgbClr val="337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76272" y="941832"/>
            <a:ext cx="12710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375AD"/>
                </a:solidFill>
                <a:latin typeface="Arial"/>
              </a:defRPr>
            </a:pPr>
            <a:r>
              <a:t>АРХИТЕКТУРА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76272" y="1143000"/>
            <a:ext cx="12710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997C8"/>
                </a:solidFill>
                <a:latin typeface="Arial"/>
              </a:defRPr>
            </a:pPr>
            <a:r>
              <a:t>1 мес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1780" y="2377440"/>
            <a:ext cx="13716" cy="228600"/>
          </a:xfrm>
          <a:prstGeom prst="rect">
            <a:avLst/>
          </a:prstGeom>
          <a:solidFill>
            <a:srgbClr val="337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103120" y="2651760"/>
            <a:ext cx="1417320" cy="146304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2743200"/>
            <a:ext cx="1234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Целевая архитектура,</a:t>
            </a:r>
            <a:br/>
            <a:r>
              <a:t>расчёт лицензий,</a:t>
            </a:r>
            <a:br/>
            <a:r>
              <a:t>перечень доработок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3547872" y="2075688"/>
            <a:ext cx="164592" cy="182880"/>
          </a:xfrm>
          <a:prstGeom prst="rightArrow">
            <a:avLst/>
          </a:prstGeom>
          <a:solidFill>
            <a:srgbClr val="337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274820" y="1993392"/>
            <a:ext cx="365760" cy="365760"/>
          </a:xfrm>
          <a:prstGeom prst="ellipse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74820" y="202996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49040" y="868680"/>
            <a:ext cx="1417320" cy="100584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749040" y="868680"/>
            <a:ext cx="1417320" cy="36576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22192" y="941832"/>
            <a:ext cx="12710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5497"/>
                </a:solidFill>
                <a:latin typeface="Arial"/>
              </a:defRPr>
            </a:pPr>
            <a:r>
              <a:t>ПИЛОТ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22192" y="1143000"/>
            <a:ext cx="12710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997C8"/>
                </a:solidFill>
                <a:latin typeface="Arial"/>
              </a:defRPr>
            </a:pPr>
            <a:r>
              <a:t>2-3 мес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57700" y="2377440"/>
            <a:ext cx="13716" cy="22860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749040" y="2651760"/>
            <a:ext cx="1417320" cy="146304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40480" y="2743200"/>
            <a:ext cx="1234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Пилотный объект,</a:t>
            </a:r>
            <a:br/>
            <a:r>
              <a:t>миграция тегов,</a:t>
            </a:r>
            <a:br/>
            <a:r>
              <a:t>тестирование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5193792" y="2075688"/>
            <a:ext cx="164592" cy="182880"/>
          </a:xfrm>
          <a:prstGeom prst="rightArrow">
            <a:avLst/>
          </a:prstGeom>
          <a:solidFill>
            <a:srgbClr val="337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920740" y="1993392"/>
            <a:ext cx="365760" cy="365760"/>
          </a:xfrm>
          <a:prstGeom prst="ellipse">
            <a:avLst/>
          </a:prstGeom>
          <a:solidFill>
            <a:srgbClr val="067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20740" y="202996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94960" y="868680"/>
            <a:ext cx="1417320" cy="100584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394960" y="868680"/>
            <a:ext cx="1417320" cy="36576"/>
          </a:xfrm>
          <a:prstGeom prst="rect">
            <a:avLst/>
          </a:prstGeom>
          <a:solidFill>
            <a:srgbClr val="067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68112" y="941832"/>
            <a:ext cx="12710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67196"/>
                </a:solidFill>
                <a:latin typeface="Arial"/>
              </a:defRPr>
            </a:pPr>
            <a:r>
              <a:t>МИГРАЦИЯ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68112" y="1143000"/>
            <a:ext cx="12710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997C8"/>
                </a:solidFill>
                <a:latin typeface="Arial"/>
              </a:defRPr>
            </a:pPr>
            <a:r>
              <a:t>3-6 мес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3620" y="2377440"/>
            <a:ext cx="13716" cy="228600"/>
          </a:xfrm>
          <a:prstGeom prst="rect">
            <a:avLst/>
          </a:prstGeom>
          <a:solidFill>
            <a:srgbClr val="067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394960" y="2651760"/>
            <a:ext cx="1417320" cy="146304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0" y="2743200"/>
            <a:ext cx="1234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Последовательный</a:t>
            </a:r>
            <a:br/>
            <a:r>
              <a:t>перевод объектов,</a:t>
            </a:r>
            <a:br/>
            <a:r>
              <a:t>обучение персонала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6839712" y="2075688"/>
            <a:ext cx="164592" cy="182880"/>
          </a:xfrm>
          <a:prstGeom prst="rightArrow">
            <a:avLst/>
          </a:prstGeom>
          <a:solidFill>
            <a:srgbClr val="337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566660" y="1993392"/>
            <a:ext cx="365760" cy="365760"/>
          </a:xfrm>
          <a:prstGeom prst="ellipse">
            <a:avLst/>
          </a:prstGeom>
          <a:solidFill>
            <a:srgbClr val="82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66660" y="202996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040880" y="868680"/>
            <a:ext cx="1417320" cy="100584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040880" y="868680"/>
            <a:ext cx="1417320" cy="36576"/>
          </a:xfrm>
          <a:prstGeom prst="rect">
            <a:avLst/>
          </a:prstGeom>
          <a:solidFill>
            <a:srgbClr val="82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14032" y="941832"/>
            <a:ext cx="12710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2C444"/>
                </a:solidFill>
                <a:latin typeface="Arial"/>
              </a:defRPr>
            </a:pPr>
            <a:r>
              <a:t>ЗАКРЫТИЕ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14032" y="1143000"/>
            <a:ext cx="12710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997C8"/>
                </a:solidFill>
                <a:latin typeface="Arial"/>
              </a:defRPr>
            </a:pPr>
            <a:r>
              <a:t>1-2 мес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49540" y="2377440"/>
            <a:ext cx="13716" cy="228600"/>
          </a:xfrm>
          <a:prstGeom prst="rect">
            <a:avLst/>
          </a:prstGeom>
          <a:solidFill>
            <a:srgbClr val="82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040880" y="2651760"/>
            <a:ext cx="1417320" cy="146304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32320" y="2743200"/>
            <a:ext cx="1234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Отключение PI,</a:t>
            </a:r>
            <a:br/>
            <a:r>
              <a:t>перенос истории,</a:t>
            </a:r>
            <a:br/>
            <a:r>
              <a:t>документация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286000" y="4572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5497"/>
                </a:solidFill>
                <a:latin typeface="Arial"/>
              </a:defRPr>
            </a:pPr>
            <a:r>
              <a:t>Общая длительность: 8-14 месяцев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777240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Оценка рисков и митигация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77240"/>
            <a:ext cx="1097280" cy="27432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14400"/>
            <a:ext cx="8138160" cy="5486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024128"/>
            <a:ext cx="731520" cy="320040"/>
          </a:xfrm>
          <a:prstGeom prst="roundRect">
            <a:avLst/>
          </a:prstGeom>
          <a:solidFill>
            <a:srgbClr val="E89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4241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Средний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960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497"/>
                </a:solidFill>
                <a:latin typeface="Arial"/>
              </a:defRPr>
            </a:pPr>
            <a:r>
              <a:t>Event Frames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474720" y="1097280"/>
            <a:ext cx="228600" cy="164592"/>
          </a:xfrm>
          <a:prstGeom prst="rightArrow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98755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Аудит использования EF → кастомная доработка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508760"/>
            <a:ext cx="81381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618488"/>
            <a:ext cx="731520" cy="320040"/>
          </a:xfrm>
          <a:prstGeom prst="roundRect">
            <a:avLst/>
          </a:prstGeom>
          <a:solidFill>
            <a:srgbClr val="E89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63677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Средний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1554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497"/>
                </a:solidFill>
                <a:latin typeface="Arial"/>
              </a:defRPr>
            </a:pPr>
            <a:r>
              <a:t>Формат архива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474720" y="1691640"/>
            <a:ext cx="228600" cy="164592"/>
          </a:xfrm>
          <a:prstGeom prst="rightArrow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0" y="158191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Параллельная запись, экспорт/импорт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103120"/>
            <a:ext cx="8138160" cy="5486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2212848"/>
            <a:ext cx="731520" cy="320040"/>
          </a:xfrm>
          <a:prstGeom prst="roundRect">
            <a:avLst/>
          </a:prstGeom>
          <a:solidFill>
            <a:srgbClr val="82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23113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Низкий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2148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497"/>
                </a:solidFill>
                <a:latin typeface="Arial"/>
              </a:defRPr>
            </a:pPr>
            <a:r>
              <a:t>Переобучение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474720" y="2286000"/>
            <a:ext cx="228600" cy="164592"/>
          </a:xfrm>
          <a:prstGeom prst="rightArrow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0" y="21762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5 лабораторий в ВУЗах, онлайн-курсы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697480"/>
            <a:ext cx="81381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8640" y="2807208"/>
            <a:ext cx="731520" cy="320040"/>
          </a:xfrm>
          <a:prstGeom prst="roundRect">
            <a:avLst/>
          </a:prstGeom>
          <a:solidFill>
            <a:srgbClr val="E89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82549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Средний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497"/>
                </a:solidFill>
                <a:latin typeface="Arial"/>
              </a:defRPr>
            </a:pPr>
            <a:r>
              <a:t>Простой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474720" y="2880360"/>
            <a:ext cx="228600" cy="164592"/>
          </a:xfrm>
          <a:prstGeom prst="rightArrow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0" y="277063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Параллельная работа PI + Альфа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291840"/>
            <a:ext cx="8138160" cy="5486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48640" y="3401568"/>
            <a:ext cx="731520" cy="320040"/>
          </a:xfrm>
          <a:prstGeom prst="roundRect">
            <a:avLst/>
          </a:prstGeom>
          <a:solidFill>
            <a:srgbClr val="82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41985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Низкий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3337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497"/>
                </a:solidFill>
                <a:latin typeface="Arial"/>
              </a:defRPr>
            </a:pPr>
            <a:r>
              <a:t>Недостающие протоколы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3474720" y="3474720"/>
            <a:ext cx="228600" cy="164592"/>
          </a:xfrm>
          <a:prstGeom prst="rightArrow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40480" y="336499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OPC UA шлюзы для экзотики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3886200"/>
            <a:ext cx="813816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48640" y="3995928"/>
            <a:ext cx="731520" cy="320040"/>
          </a:xfrm>
          <a:prstGeom prst="round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01421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Высокий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17320" y="3931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5497"/>
                </a:solidFill>
                <a:latin typeface="Arial"/>
              </a:defRPr>
            </a:pPr>
            <a:r>
              <a:t>Облачные сервисы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3474720" y="4069080"/>
            <a:ext cx="228600" cy="164592"/>
          </a:xfrm>
          <a:prstGeom prst="rightArrow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40480" y="395935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5469"/>
                </a:solidFill>
                <a:latin typeface="Arial"/>
              </a:defRPr>
            </a:pPr>
            <a:r>
              <a:t>On-prem аналитика, Grafana + SQL</a:t>
            </a:r>
          </a:p>
        </p:txBody>
      </p:sp>
      <p:sp>
        <p:nvSpPr>
          <p:cNvPr id="41" name="Oval 40"/>
          <p:cNvSpPr/>
          <p:nvPr/>
        </p:nvSpPr>
        <p:spPr>
          <a:xfrm>
            <a:off x="548640" y="4572000"/>
            <a:ext cx="137160" cy="137160"/>
          </a:xfrm>
          <a:prstGeom prst="ellipse">
            <a:avLst/>
          </a:prstGeom>
          <a:solidFill>
            <a:srgbClr val="82C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454456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2C444"/>
                </a:solidFill>
                <a:latin typeface="Arial"/>
              </a:defRPr>
            </a:pPr>
            <a:r>
              <a:t>Низкий</a:t>
            </a:r>
          </a:p>
        </p:txBody>
      </p:sp>
      <p:sp>
        <p:nvSpPr>
          <p:cNvPr id="43" name="Oval 42"/>
          <p:cNvSpPr/>
          <p:nvPr/>
        </p:nvSpPr>
        <p:spPr>
          <a:xfrm>
            <a:off x="1920240" y="4572000"/>
            <a:ext cx="137160" cy="137160"/>
          </a:xfrm>
          <a:prstGeom prst="ellipse">
            <a:avLst/>
          </a:prstGeom>
          <a:solidFill>
            <a:srgbClr val="E89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103120" y="454456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9C00"/>
                </a:solidFill>
                <a:latin typeface="Arial"/>
              </a:defRPr>
            </a:pPr>
            <a:r>
              <a:t>Средний</a:t>
            </a:r>
          </a:p>
        </p:txBody>
      </p:sp>
      <p:sp>
        <p:nvSpPr>
          <p:cNvPr id="45" name="Oval 44"/>
          <p:cNvSpPr/>
          <p:nvPr/>
        </p:nvSpPr>
        <p:spPr>
          <a:xfrm>
            <a:off x="3291840" y="4572000"/>
            <a:ext cx="137160" cy="137160"/>
          </a:xfrm>
          <a:prstGeom prst="ellipse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74720" y="454456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3333"/>
                </a:solidFill>
                <a:latin typeface="Arial"/>
              </a:defRPr>
            </a:pPr>
            <a:r>
              <a:t>Высокий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777240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Экономика: TCO сравнение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77240"/>
            <a:ext cx="1097280" cy="27432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3657600" cy="3474720"/>
          </a:xfrm>
          <a:prstGeom prst="round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C3333"/>
                </a:solidFill>
                <a:latin typeface="Arial"/>
              </a:defRPr>
            </a:pPr>
            <a:r>
              <a:t>AVEVA PI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2560320" cy="45720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1848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~$108K / год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645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25-50K тегов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94560"/>
            <a:ext cx="3291840" cy="45720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5856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~$325K / 3 года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286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5469"/>
                </a:solidFill>
                <a:latin typeface="Arial"/>
              </a:defRPr>
            </a:pPr>
            <a:r>
              <a:t>публичный контракт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175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3333"/>
                </a:solidFill>
                <a:latin typeface="Arial"/>
              </a:defRPr>
            </a:pPr>
            <a:r>
              <a:t>⚠️ Ежегодная подписка</a:t>
            </a:r>
            <a:br/>
            <a:r>
              <a:t>⚠️ Валютные риски ($)</a:t>
            </a:r>
            <a:br/>
            <a:r>
              <a:t>⚠️ Risk of deactivation</a:t>
            </a:r>
          </a:p>
        </p:txBody>
      </p:sp>
      <p:sp>
        <p:nvSpPr>
          <p:cNvPr id="14" name="Oval 13"/>
          <p:cNvSpPr/>
          <p:nvPr/>
        </p:nvSpPr>
        <p:spPr>
          <a:xfrm>
            <a:off x="4160520" y="2286000"/>
            <a:ext cx="548640" cy="548640"/>
          </a:xfrm>
          <a:prstGeom prst="ellipse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0520" y="23317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VS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1005840"/>
            <a:ext cx="3840480" cy="3474720"/>
          </a:xfrm>
          <a:prstGeom prst="roundRect">
            <a:avLst/>
          </a:prstGeom>
          <a:solidFill>
            <a:srgbClr val="F0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10515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2C444"/>
                </a:solidFill>
                <a:latin typeface="Arial"/>
              </a:defRPr>
            </a:pPr>
            <a:r>
              <a:t>Альфа платформа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15544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82C444"/>
                </a:solidFill>
                <a:latin typeface="Arial"/>
              </a:defRPr>
            </a:pPr>
            <a:r>
              <a:t>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23774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5497"/>
                </a:solidFill>
                <a:latin typeface="Arial"/>
              </a:defRPr>
            </a:pPr>
            <a:r>
              <a:t>Бессрочная лицензия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28346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2C444"/>
                </a:solidFill>
                <a:latin typeface="Arial"/>
              </a:defRPr>
            </a:pPr>
            <a:r>
              <a:t>✅ Разовая закупка</a:t>
            </a:r>
            <a:br/>
            <a:r>
              <a:t>✅ Расчёты в рублях</a:t>
            </a:r>
            <a:br/>
            <a:r>
              <a:t>✅ Работает без интернета</a:t>
            </a:r>
            <a:br/>
            <a:r>
              <a:t>✅ Окупаемость: 1.5-3 года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777240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Следующие шаги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77240"/>
            <a:ext cx="1097280" cy="27432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1143000"/>
            <a:ext cx="457200" cy="457200"/>
          </a:xfrm>
          <a:prstGeom prst="ellipse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188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1005840"/>
            <a:ext cx="3474720" cy="96012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1560" y="1005840"/>
            <a:ext cx="36576" cy="960120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143000"/>
            <a:ext cx="3246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Согласование объёма аудита</a:t>
            </a:r>
            <a:br/>
            <a:r>
              <a:t>PI-инфраструктуры НОВАТЭК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94360" y="1965960"/>
            <a:ext cx="182880" cy="182880"/>
          </a:xfrm>
          <a:prstGeom prst="down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46320" y="1143000"/>
            <a:ext cx="457200" cy="457200"/>
          </a:xfrm>
          <a:prstGeom prst="ellipse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4608" y="1188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40680" y="1005840"/>
            <a:ext cx="3474720" cy="96012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40680" y="1005840"/>
            <a:ext cx="36576" cy="960120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0" y="1143000"/>
            <a:ext cx="3246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Определение пилотного</a:t>
            </a:r>
            <a:br/>
            <a:r>
              <a:t>объекта для миграции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4983480" y="1965960"/>
            <a:ext cx="182880" cy="182880"/>
          </a:xfrm>
          <a:prstGeom prst="down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7200" y="2377440"/>
            <a:ext cx="457200" cy="457200"/>
          </a:xfrm>
          <a:prstGeom prst="ellipse">
            <a:avLst/>
          </a:prstGeom>
          <a:solidFill>
            <a:srgbClr val="337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2423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" y="2240280"/>
            <a:ext cx="3474720" cy="96012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51560" y="2240280"/>
            <a:ext cx="36576" cy="960120"/>
          </a:xfrm>
          <a:prstGeom prst="rect">
            <a:avLst/>
          </a:prstGeom>
          <a:solidFill>
            <a:srgbClr val="337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2377440"/>
            <a:ext cx="3246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Перечень критичных функций PI</a:t>
            </a:r>
            <a:br/>
            <a:r>
              <a:t>(Event Frames? DataLink? API?)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594360" y="3200400"/>
            <a:ext cx="182880" cy="182880"/>
          </a:xfrm>
          <a:prstGeom prst="down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46320" y="2377440"/>
            <a:ext cx="457200" cy="457200"/>
          </a:xfrm>
          <a:prstGeom prst="ellipse">
            <a:avLst/>
          </a:prstGeom>
          <a:solidFill>
            <a:srgbClr val="337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4608" y="2423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40680" y="2240280"/>
            <a:ext cx="3474720" cy="96012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40680" y="2240280"/>
            <a:ext cx="36576" cy="960120"/>
          </a:xfrm>
          <a:prstGeom prst="rect">
            <a:avLst/>
          </a:prstGeom>
          <a:solidFill>
            <a:srgbClr val="337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77840" y="2377440"/>
            <a:ext cx="3246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Расчёт лицензий Альфа</a:t>
            </a:r>
            <a:br/>
            <a:r>
              <a:t>под целевую архитектуру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4983480" y="3200400"/>
            <a:ext cx="182880" cy="182880"/>
          </a:xfrm>
          <a:prstGeom prst="down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7200" y="3611880"/>
            <a:ext cx="457200" cy="457200"/>
          </a:xfrm>
          <a:prstGeom prst="ellipse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" y="3657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51560" y="3474720"/>
            <a:ext cx="3474720" cy="96012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51560" y="3474720"/>
            <a:ext cx="36576" cy="96012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3611880"/>
            <a:ext cx="3246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Рабочая группа:</a:t>
            </a:r>
            <a:br/>
            <a:r>
              <a:t>НОВАТЭК + АС + интегратор</a:t>
            </a:r>
          </a:p>
        </p:txBody>
      </p:sp>
      <p:sp>
        <p:nvSpPr>
          <p:cNvPr id="34" name="Oval 33"/>
          <p:cNvSpPr/>
          <p:nvPr/>
        </p:nvSpPr>
        <p:spPr>
          <a:xfrm>
            <a:off x="4846320" y="3611880"/>
            <a:ext cx="457200" cy="457200"/>
          </a:xfrm>
          <a:prstGeom prst="ellipse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64608" y="3657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40680" y="3474720"/>
            <a:ext cx="3474720" cy="960120"/>
          </a:xfrm>
          <a:prstGeom prst="round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40680" y="3474720"/>
            <a:ext cx="36576" cy="96012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77840" y="3611880"/>
            <a:ext cx="3246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5469"/>
                </a:solidFill>
                <a:latin typeface="Arial"/>
              </a:defRPr>
            </a:pPr>
            <a:r>
              <a:t>Детальный план-график</a:t>
            </a:r>
            <a:br/>
            <a:r>
              <a:t>и бюджет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0" y="914400"/>
            <a:ext cx="2286000" cy="2286000"/>
          </a:xfrm>
          <a:prstGeom prst="ellipse">
            <a:avLst/>
          </a:prstGeom>
          <a:solidFill>
            <a:srgbClr val="0997C8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0" y="2743200"/>
            <a:ext cx="1371600" cy="1371600"/>
          </a:xfrm>
          <a:prstGeom prst="ellipse">
            <a:avLst/>
          </a:prstGeom>
          <a:solidFill>
            <a:srgbClr val="0997C8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315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Контакты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Станислав Павловский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03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2CCF7"/>
                </a:solidFill>
                <a:latin typeface="Arial"/>
              </a:defRPr>
            </a:pPr>
            <a:r>
              <a:t>Telegram: @Integraleus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651760"/>
            <a:ext cx="2286000" cy="18288"/>
          </a:xfrm>
          <a:prstGeom prst="rect">
            <a:avLst/>
          </a:prstGeom>
          <a:solidFill>
            <a:srgbClr val="099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B0D0"/>
                </a:solidFill>
                <a:latin typeface="Arial"/>
              </a:defRPr>
            </a:pPr>
            <a:r>
              <a:t>АО «Атомик Софт»</a:t>
            </a:r>
            <a:br/>
            <a:r>
              <a:t>634050 Томск, пр. Ленина 60/1</a:t>
            </a:r>
            <a:br/>
            <a:r>
              <a:t>+7 (3822) 281 914</a:t>
            </a:r>
            <a:br/>
            <a:r>
              <a:t>info@automiq.ru  •  automiq.ru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13716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0997C8"/>
                </a:solidFill>
                <a:latin typeface="Arial"/>
              </a:defRPr>
            </a:pPr>
            <a:r>
              <a:t>Будущее</a:t>
            </a:r>
            <a:br/>
            <a:r>
              <a:t>автоматизации</a:t>
            </a:r>
            <a:br/>
            <a:r>
              <a:t>в ваших руках.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_Атомик">
  <a:themeElements>
    <a:clrScheme name="Custom 2">
      <a:dk1>
        <a:srgbClr val="000000"/>
      </a:dk1>
      <a:lt1>
        <a:sysClr val="window" lastClr="FFFFFF"/>
      </a:lt1>
      <a:dk2>
        <a:srgbClr val="6E6E6E"/>
      </a:dk2>
      <a:lt2>
        <a:srgbClr val="FFFFFF"/>
      </a:lt2>
      <a:accent1>
        <a:srgbClr val="005497"/>
      </a:accent1>
      <a:accent2>
        <a:srgbClr val="3375AD"/>
      </a:accent2>
      <a:accent3>
        <a:srgbClr val="0997C8"/>
      </a:accent3>
      <a:accent4>
        <a:srgbClr val="52CCF7"/>
      </a:accent4>
      <a:accent5>
        <a:srgbClr val="82C444"/>
      </a:accent5>
      <a:accent6>
        <a:srgbClr val="CDE7B4"/>
      </a:accent6>
      <a:hlink>
        <a:srgbClr val="0997C8"/>
      </a:hlink>
      <a:folHlink>
        <a:srgbClr val="CDE7B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Тема_Атомик" id="{CEB1B155-F77A-4A19-9AEE-767E43EEE002}" vid="{E33B8DA0-9C2E-4591-9D92-CDFA1B99F6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28FB12FA238B29479C15A3FBF1901892" ma:contentTypeVersion="15" ma:contentTypeDescription="Создание документа." ma:contentTypeScope="" ma:versionID="ecc35f767065df6b4e4d6498d5eac02d">
  <xsd:schema xmlns:xsd="http://www.w3.org/2001/XMLSchema" xmlns:xs="http://www.w3.org/2001/XMLSchema" xmlns:p="http://schemas.microsoft.com/office/2006/metadata/properties" xmlns:ns2="0502b1be-0fe2-4509-97a9-ec0fd3fafc9b" xmlns:ns3="b723f446-6c9e-405e-84d5-4916a0afa7d5" targetNamespace="http://schemas.microsoft.com/office/2006/metadata/properties" ma:root="true" ma:fieldsID="7bfcc36716481aa470f9f4409057f6cb" ns2:_="" ns3:_="">
    <xsd:import namespace="0502b1be-0fe2-4509-97a9-ec0fd3fafc9b"/>
    <xsd:import namespace="b723f446-6c9e-405e-84d5-4916a0afa7d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02b1be-0fe2-4509-97a9-ec0fd3fafc9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5e2e7791-cded-476b-940f-30d7621795f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23f446-6c9e-405e-84d5-4916a0afa7d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20520b3-41b0-41ba-9884-d7cef35bb1b8}" ma:internalName="TaxCatchAll" ma:showField="CatchAllData" ma:web="b723f446-6c9e-405e-84d5-4916a0afa7d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502b1be-0fe2-4509-97a9-ec0fd3fafc9b">
      <Terms xmlns="http://schemas.microsoft.com/office/infopath/2007/PartnerControls"/>
    </lcf76f155ced4ddcb4097134ff3c332f>
    <TaxCatchAll xmlns="b723f446-6c9e-405e-84d5-4916a0afa7d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BAA56F4-2A60-49CC-AA53-5AA9356824FD}">
  <ds:schemaRefs>
    <ds:schemaRef ds:uri="0502b1be-0fe2-4509-97a9-ec0fd3fafc9b"/>
    <ds:schemaRef ds:uri="b723f446-6c9e-405e-84d5-4916a0afa7d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F8006AA-1608-4641-B256-E4528952F154}">
  <ds:schemaRefs>
    <ds:schemaRef ds:uri="0502b1be-0fe2-4509-97a9-ec0fd3fafc9b"/>
    <ds:schemaRef ds:uri="b723f446-6c9e-405e-84d5-4916a0afa7d5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86A3223D-C643-4D8A-962C-239797B11A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Тема_Атомик</Template>
  <TotalTime>52805</TotalTime>
  <Words>627</Words>
  <Application>Microsoft Office PowerPoint</Application>
  <PresentationFormat>Экран (16:9)</PresentationFormat>
  <Paragraphs>129</Paragraphs>
  <Slides>13</Slides>
  <Notes>11</Notes>
  <HiddenSlides>2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3" baseType="lpstr">
      <vt:lpstr>Arial</vt:lpstr>
      <vt:lpstr>Calibri</vt:lpstr>
      <vt:lpstr>Circe ExtraBold</vt:lpstr>
      <vt:lpstr>Gill Sans</vt:lpstr>
      <vt:lpstr>Helvetica</vt:lpstr>
      <vt:lpstr>HelveticaNeueCyr Light</vt:lpstr>
      <vt:lpstr>HelveticaNeueCyr Medium</vt:lpstr>
      <vt:lpstr>Verdana</vt:lpstr>
      <vt:lpstr>Wingdings</vt:lpstr>
      <vt:lpstr>Тема_Атомик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Jetfabrik</dc:creator>
  <cp:keywords/>
  <dc:description/>
  <cp:lastModifiedBy>Иващенко Наталья Владимировна</cp:lastModifiedBy>
  <cp:revision>115</cp:revision>
  <dcterms:created xsi:type="dcterms:W3CDTF">2014-11-12T21:47:38Z</dcterms:created>
  <dcterms:modified xsi:type="dcterms:W3CDTF">2025-05-12T07:19:19Z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0x01010028FB12FA238B29479C15A3FBF1901892</vt:lpwstr>
  </property>
  <property fmtid="{D5CDD505-2E9C-101B-9397-08002B2CF9AE}" pid="3" name="MediaServiceImageTags">
    <vt:lpwstr/>
  </property>
</Properties>
</file>