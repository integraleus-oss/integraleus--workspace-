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C2C2C"/>
                </a:solidFill>
                <a:latin typeface="Arial"/>
              </a:defRPr>
            </a:pPr>
            <a:r>
              <a:t>SCADA Лацерта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68880"/>
            <a:ext cx="36576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E6E6E"/>
                </a:solidFill>
                <a:latin typeface="Arial"/>
              </a:defRPr>
            </a:pPr>
            <a:r>
              <a:t>Российская платформа промышленной автоматизации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E4D"/>
                </a:solidFill>
                <a:latin typeface="Arial"/>
              </a:defRPr>
            </a:pPr>
            <a:r>
              <a:t>Версия 1.0  •  Реестр ПО Минцифры №17502  •  Патент РФ №2797756  •  Патент ЕАПО №045687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2377440" cy="822960"/>
          </a:xfrm>
          <a:prstGeom prst="rect">
            <a:avLst/>
          </a:prstGeom>
          <a:solidFill>
            <a:srgbClr val="F5F5F5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E4D"/>
                </a:solidFill>
                <a:latin typeface="Arial"/>
              </a:defRPr>
            </a:pPr>
            <a:r>
              <a:t>Безлимитные теги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Без ограничений лицензией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389120"/>
            <a:ext cx="2377440" cy="822960"/>
          </a:xfrm>
          <a:prstGeom prst="rect">
            <a:avLst/>
          </a:prstGeom>
          <a:solidFill>
            <a:srgbClr val="F5F5F5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E4D"/>
                </a:solidFill>
                <a:latin typeface="Arial"/>
              </a:defRPr>
            </a:pPr>
            <a:r>
              <a:t>13+ протоколов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OPC UA, Modbus, IEC, MQTT...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389120"/>
            <a:ext cx="2377440" cy="822960"/>
          </a:xfrm>
          <a:prstGeom prst="rect">
            <a:avLst/>
          </a:prstGeom>
          <a:solidFill>
            <a:srgbClr val="F5F5F5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E4D"/>
                </a:solidFill>
                <a:latin typeface="Arial"/>
              </a:defRPr>
            </a:pPr>
            <a:r>
              <a:t>Кластер master-master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Горячее резервирование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4389120"/>
            <a:ext cx="2377440" cy="822960"/>
          </a:xfrm>
          <a:prstGeom prst="rect">
            <a:avLst/>
          </a:prstGeom>
          <a:solidFill>
            <a:srgbClr val="F5F5F5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E4D"/>
                </a:solidFill>
                <a:latin typeface="Arial"/>
              </a:defRPr>
            </a:pPr>
            <a:r>
              <a:t>Скриптинг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Программируемая логика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Arial"/>
              </a:defRPr>
            </a:pPr>
            <a:r>
              <a:t>АО «Лаборатория Технологий Автоматизации» (ЛТА)  |  apcslab.ru  |  8 (800) 550-26-21  |  info@apcslab.ru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2C2C"/>
                </a:solidFill>
                <a:latin typeface="Arial"/>
              </a:defRPr>
            </a:pPr>
            <a:r>
              <a:t>О платформе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8288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Платформа «Лацерта» — инструмент для построения, разработки и эксплуатации АСУ объектами информационно-технологической инфраструктуры на всём протяжении их жизненного цикла.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1A1A1A"/>
                </a:solidFill>
                <a:latin typeface="Arial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009E4D"/>
                </a:solidFill>
                <a:latin typeface="Arial"/>
              </a:defRPr>
            </a:pPr>
            <a:r>
              <a:t>Низкий порог входа: требуется высокая квалификация в предметной области, но не навыки программирования или дизайна.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1A1A1A"/>
                </a:solidFill>
                <a:latin typeface="Arial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2C2C2C"/>
                </a:solidFill>
                <a:latin typeface="Arial"/>
              </a:defRPr>
            </a:pPr>
            <a:r>
              <a:t>Ключевые функции: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E6E6E"/>
                </a:solidFill>
                <a:latin typeface="Arial"/>
              </a:defRPr>
            </a:pPr>
            <a:r>
              <a:t>• Сбор и обработка данных от распределённых источников, ПЛК, IIoT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E6E6E"/>
                </a:solidFill>
                <a:latin typeface="Arial"/>
              </a:defRPr>
            </a:pPr>
            <a:r>
              <a:t>• Двусторонний обмен с внешними информационными системами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E6E6E"/>
                </a:solidFill>
                <a:latin typeface="Arial"/>
              </a:defRPr>
            </a:pPr>
            <a:r>
              <a:t>• Формирование управляющих воздействий по логике техпроцесса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E6E6E"/>
                </a:solidFill>
                <a:latin typeface="Arial"/>
              </a:defRPr>
            </a:pPr>
            <a:r>
              <a:t>• Визуализация данных: мнемосхемы, виджеты, тренды, таблицы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E6E6E"/>
                </a:solidFill>
                <a:latin typeface="Arial"/>
              </a:defRPr>
            </a:pPr>
            <a:r>
              <a:t>• Предиктивная аналитика и поддержка принятия решений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4D"/>
                </a:solidFill>
                <a:latin typeface="Arial"/>
              </a:defRPr>
            </a:pPr>
            <a:r>
              <a:t>Области применения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86868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86868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941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АСУ ТП / АСУ ПП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РСУ / SCADA / HMI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7452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7452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47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IIoT — промышленный интернет вещей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7744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37744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50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Диспетчерские центры (до федерального уровня)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88036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88036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953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Системы предиктивной аналитики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38328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38328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456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Системы поддержки принятия решений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88620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88620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59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Диагностика и мониторинг оборудования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89120"/>
            <a:ext cx="50292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389120"/>
            <a:ext cx="50800" cy="43891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62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Arial"/>
              </a:defRPr>
            </a:pPr>
            <a:r>
              <a:t>Мониторинг телеком/серверной инфраструктуры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Отрасли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74920"/>
            <a:ext cx="112471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38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Arial"/>
              </a:defRPr>
            </a:pPr>
            <a:r>
              <a:t>Энергетика (тепло, гидро, атом, ВИЭ)  •  Электросети и подстанции  •  Нефтегаз  •  Металлургия  •  Химия  •  Машиностроение  •  Транспорт  •  Умный город / ЖКХ  •  ЦОД и ИТ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Реестр ПО №17502  •  Патент РФ №2797756  •  Патент ЕАПО №045687  •  Свидетельство №2022660501  •  ОГРН 1257700513113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2C2C"/>
                </a:solidFill>
                <a:latin typeface="Arial"/>
              </a:defRPr>
            </a:pPr>
            <a:r>
              <a:t>Архитектура ядра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8288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4D"/>
                </a:solidFill>
                <a:latin typeface="Arial"/>
              </a:defRPr>
            </a:pPr>
            <a:r>
              <a:t>Событийно-ориентированная (EDA) + сервис-ориентированная (SOA) архитектура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Подсистема реального времени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ОДА в оперативной памяти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93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Временные метки на каждом изменении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13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Расчёт latency, jitter, deadline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Кэш → вытеснение в долгосрочный архив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Управление данными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74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ОДА (оперативные) отделены от МДА (мета)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093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Разные физические каналы для ОДА/МДА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13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Архив: сжатие, разрежение, циклические записи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32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TSDB: PostgreSQL 11 + ClickHouse 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Кластерная модель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Multi-active (master-master), не active-passive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93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Синхронизация по защищённому протоколу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13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Балансировка нагрузки между узлами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32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Линейное масштабирование — добавление узлов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7523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Клиент подключён к нескольким узлам сразу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03320"/>
            <a:ext cx="35661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Сервисная модель (SOA)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Сервисы: события, расчёты, имитация, архив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25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Драйверы: 13+ протоколов + внешние системы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645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Клиенты: REST API + WebSocket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64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ППИ для разработки своих сервисов/драйверов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03320"/>
            <a:ext cx="35661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7033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Событийная модель (EDA)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Событие = реакция на изменение переменных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425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Атрибуты: класс, приоритет 1-10, квитирование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645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Тревоги с аудиовизуальными эффектами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864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Активное/неактивное состояние события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703320"/>
            <a:ext cx="35661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37033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Безопасность и доступ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RBAC с гранулярностью до объекта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425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Аутентификация: логин/пароль, токены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645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Встроенная / LDAP / Keycloak (SSO)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864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Разделение каналов ОДА/МДА для КБ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2C2C"/>
                </a:solidFill>
                <a:latin typeface="Arial"/>
              </a:defRPr>
            </a:pPr>
            <a:r>
              <a:t>Состав платформы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22860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SCADA/HMI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Мнемосхемы (SVG) с динамическими элементами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110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Виджеты: тренды, таблицы, события, видео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Фрагменты для внешних библиотек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Многоэкранные стенды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94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Web-доступ через браузер (nginx)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5661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Промышленная СУБД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Кэш РВ в оперативной памяти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110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Циклический архив (сжатие, разрежение)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30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PostgreSQL 11 (метаданные, конфиг)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50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ClickHouse 23 (временные ряды, архив)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5694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Экспорт/импорт данных в файлы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5661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1887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Шлюз сопряжения (драйверы)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9 промышленных: OPC UA, Modbus, Profinet...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9110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2 сетевых: ICMP, SNMP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130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5 внешних: Trassir, Perco, FindFace...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50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ППИ для разработки своих драйверов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5694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Двусторонний обмен данными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35661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SCADA Designtime (IDE)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Редактор моделей и объектов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25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Конфигуратор событий и тревог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645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Конфигуратор драйверов и сервисов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64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Скриптинг на TypeScript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Редактор кода с подсветкой синтаксиса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703320"/>
            <a:ext cx="35661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37033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Библиотека элементов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Типовые элементы (датчики, задвижки...)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425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SVG-формат, импорт из любого редактора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645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Статические и динамические элементы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864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Экспорт/импорт между проектами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Привязка к абстрактным моделям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703320"/>
            <a:ext cx="35661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3703320"/>
            <a:ext cx="35661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Шлюз безопасности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LDAP / Active Directory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425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Keycloak (SSO)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645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Межсетевые экраны, однонаправленные шлюзы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864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Разделение каналов ОДА/МДА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Мультитенантность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Протоколы, интеграции и платформы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7432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CD58"/>
                </a:solidFill>
                <a:latin typeface="Arial"/>
              </a:defRPr>
            </a:pPr>
            <a:r>
              <a:t>Промышленные протоколы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OPC UA (клиент + сервер)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Modbus TCP (master + slave)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Profinet / S7Comm (Siemens S7-300/400/1200/1500)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951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MQTT (IIoT, облако)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BACnet (автоматизация зданий)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IEC 61850 (подстанции, энергетика)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IEC 60870-5-104 (телемеханика, master+slave)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NTP (синхронизация времени)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95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ICMP (доступность узлов)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SNMP (мониторинг сети)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CD58"/>
                </a:solidFill>
                <a:latin typeface="Arial"/>
              </a:defRPr>
            </a:pPr>
            <a:r>
              <a:t>Внешние интеграции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554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Trassir — видеонаблюдение DSSL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801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Perco — СКУД PERCo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482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FindFace — распознавание лиц NtechLab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2951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Zabbix — IT-мониторинг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42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OrionPro — СКУД Болид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Asterisk — IP-телефония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CD58"/>
                </a:solidFill>
                <a:latin typeface="Arial"/>
              </a:defRPr>
            </a:pPr>
            <a:r>
              <a:t>API и протоколы связи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REST API (клиентский доступ)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8130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WebSocket (рекомендуемый)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0599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Внутренний lacerta-протокол (кластер)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06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▸  ППИ для разработки сервисов/драйверов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CD58"/>
                </a:solidFill>
                <a:latin typeface="Arial"/>
              </a:defRPr>
            </a:pPr>
            <a:r>
              <a:t>Поддерживаемые ОС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554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✓  Astra Linux 1.6 SE «Смоленск»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801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✓  ALT Server / ALT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0482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✓  РЕД ОС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2951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✓  ROSA Linux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542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✓  Ubuntu Server 18.04+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✓  Debian 10 (базовая установка)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0358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✓  Windows 10 (клиент)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CD58"/>
                </a:solidFill>
                <a:latin typeface="Arial"/>
              </a:defRPr>
            </a:pPr>
            <a:r>
              <a:t>Технологический стек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7490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▸  lacerta-server (порт 8000) — ядро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99592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▸  nginx (порт 80) — web-frontend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2428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▸  PostgreSQL 11 (порт 5432) — метаданные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8970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▸  ClickHouse 23 (порт 9000) — архив TSDB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73659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▸  lacerta-ui — web-интерфейс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9834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▸  lacerta-drivers — драйверы протоколов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523036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▸  Конфиг: /etc/lacerta-server/config.toml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solidFill>
            <a:srgbClr val="303030"/>
          </a:solidFill>
          <a:ln w="1270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DCD58"/>
                </a:solidFill>
                <a:latin typeface="Arial"/>
              </a:defRPr>
            </a:pPr>
            <a:r>
              <a:t>Совместимость:   PostgresPro  •  Росплатформа  •  ROSA Virtualization  •  Установка: dpkg -i lacerta-server-1.0.deb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2C2C"/>
                </a:solidFill>
                <a:latin typeface="Arial"/>
              </a:defRPr>
            </a:pPr>
            <a:r>
              <a:t>Разработка и визуализация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22860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949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4D"/>
                </a:solidFill>
                <a:latin typeface="Arial"/>
              </a:defRPr>
            </a:pPr>
            <a:r>
              <a:t>Объектно-ориентированная модель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Модели → Объекты с наследованием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Каскадное изменение при обновлении модели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Иерархия с любой вложенностью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Типы: boolean, float, string, integer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799"/>
            <a:ext cx="5394960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799"/>
            <a:ext cx="53949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4D"/>
                </a:solidFill>
                <a:latin typeface="Arial"/>
              </a:defRPr>
            </a:pPr>
            <a:r>
              <a:t>Интегрированная среда разработки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Редактор моделей с иерархической навигацией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94175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Редактор объектов с привязкой к драйверам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Конфигуратор событий, ролей, кластера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3308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Скриптинг на TypeScript с подсветкой синтаксиса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18"/>
            <a:ext cx="5394960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46318"/>
            <a:ext cx="53949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7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4D"/>
                </a:solidFill>
                <a:latin typeface="Arial"/>
              </a:defRPr>
            </a:pPr>
            <a:r>
              <a:t>Вычислительная модель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3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Калькулятор: +−×÷^, &gt;, &lt;, =, !=, интегрирование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6869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Операторы ЕСЛИ / ЕСЛИМН (многоусловные)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8815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Имитатор: синус, треугольник, пила, прямоугольник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0760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Расширяемый набор функций через ППИ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5394960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097280"/>
            <a:ext cx="53949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4D"/>
                </a:solidFill>
                <a:latin typeface="Arial"/>
              </a:defRPr>
            </a:pPr>
            <a:r>
              <a:t>Мнемосхемы (SVG)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600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Статические и динамические элементы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8196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Виджеты: тренды, таблицы, события, камеры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Композитные мнемосхемы (вложенные)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585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Фрагменты для внешних приложений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4780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Многоэкранные стенды и мобильные устройства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971799"/>
            <a:ext cx="5394960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971799"/>
            <a:ext cx="53949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1089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4D"/>
                </a:solidFill>
                <a:latin typeface="Arial"/>
              </a:defRPr>
            </a:pPr>
            <a:r>
              <a:t>Привязка данных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4747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Модель ↔ типовой элемент (M:N связь)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694175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Автоматическая валидация связок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91363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Скрипты поведения компонентов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13308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Сценарии мнемосхем (TypeScript)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846318"/>
            <a:ext cx="5394960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4846318"/>
            <a:ext cx="539496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98347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4D"/>
                </a:solidFill>
                <a:latin typeface="Arial"/>
              </a:defRPr>
            </a:pPr>
            <a:r>
              <a:t>Представление данных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34923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Таблицы: срез, изменения, временная шкала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56869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Тренды: вертикальные, наложенные, сглаживание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78815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Архивные запросы за период до 24ч (быстрый доступ)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600760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• Экспорт данных в файл / печать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2C2C"/>
                </a:solidFill>
                <a:latin typeface="Arial"/>
              </a:defRPr>
            </a:pPr>
            <a:r>
              <a:t>Лицензирование и контакты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22860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4D"/>
                </a:solidFill>
                <a:latin typeface="Arial"/>
              </a:defRPr>
            </a:pPr>
            <a:r>
              <a:t>Лицензия по серверу  •  Безлимитные теги  •  Безлимитные клиенты  •  Безлимитные подключения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01752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01752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4D"/>
                </a:solidFill>
                <a:latin typeface="Arial"/>
              </a:defRPr>
            </a:pPr>
            <a:r>
              <a:t>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  <a:latin typeface="Arial"/>
              </a:defRPr>
            </a:pPr>
            <a:r>
              <a:t>990 000 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22860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Платформа + Runtime + 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3405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Библиотека элементов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5351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4 базовых драйвера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6440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Небольшие объекты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83864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Пилотные проекты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463040"/>
            <a:ext cx="301752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03320" y="1463040"/>
            <a:ext cx="301752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4D"/>
                </a:solidFill>
                <a:latin typeface="Arial"/>
              </a:defRPr>
            </a:pPr>
            <a:r>
              <a:t>ПРО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  <a:latin typeface="Arial"/>
              </a:defRPr>
            </a:pPr>
            <a:r>
              <a:t>1 690 000 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377440"/>
            <a:ext cx="22860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51460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Всё из «Старт» плюс: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73405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Промышленная СУБД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95351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13+ драйверов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17296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Калькулятор / Имитатор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Средние/крупные объекты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463040"/>
            <a:ext cx="301752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1463040"/>
            <a:ext cx="3017520" cy="635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4D"/>
                </a:solidFill>
                <a:latin typeface="Arial"/>
              </a:defRPr>
            </a:pPr>
            <a:r>
              <a:t>КОРПОРАТИВНЫЙ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  <a:latin typeface="Arial"/>
              </a:defRPr>
            </a:pPr>
            <a:r>
              <a:t>2 490 000 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2377440"/>
            <a:ext cx="2286000" cy="508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51460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Всё из «Про» плюс: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73405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Кластер multi-active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95351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Шлюз безопасности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17296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Arial"/>
              </a:defRPr>
            </a:pPr>
            <a:r>
              <a:t>LDAP / Keycloak / SSO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483864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РСУ, КИИ, диспетчерские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1463040"/>
            <a:ext cx="1188720" cy="3291840"/>
          </a:xfrm>
          <a:prstGeom prst="rect">
            <a:avLst/>
          </a:prstGeom>
          <a:solidFill>
            <a:srgbClr val="F5F5F5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95560" y="1463040"/>
            <a:ext cx="1188720" cy="63500"/>
          </a:xfrm>
          <a:prstGeom prst="rect">
            <a:avLst/>
          </a:prstGeom>
          <a:solidFill>
            <a:srgbClr val="009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1600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E4D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2C2C"/>
                </a:solidFill>
                <a:latin typeface="Arial"/>
              </a:defRPr>
            </a:pPr>
            <a:r>
              <a:t>120 000 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37744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Шлюз для</a:t>
            </a:r>
            <a:br/>
            <a:r>
              <a:t>удалённых</a:t>
            </a:r>
            <a:br/>
            <a:r>
              <a:t>объектов</a:t>
            </a:r>
            <a:br/>
            <a:br/>
            <a:r>
              <a:t>Скидки</a:t>
            </a:r>
            <a:br/>
            <a:r>
              <a:t>от 10 шт.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Готовы обсудить ваш проект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5760720"/>
            <a:ext cx="2286000" cy="548640"/>
          </a:xfrm>
          <a:prstGeom prst="rect">
            <a:avLst/>
          </a:prstGeom>
          <a:solidFill>
            <a:srgbClr val="009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5833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🌐  apcslab.ru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5760720"/>
            <a:ext cx="2286000" cy="548640"/>
          </a:xfrm>
          <a:prstGeom prst="rect">
            <a:avLst/>
          </a:prstGeom>
          <a:solidFill>
            <a:srgbClr val="009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5833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📞  8 (800) 550-26-21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5760720"/>
            <a:ext cx="2286000" cy="548640"/>
          </a:xfrm>
          <a:prstGeom prst="rect">
            <a:avLst/>
          </a:prstGeom>
          <a:solidFill>
            <a:srgbClr val="009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5833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✉️  info@apcslab.ru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Реестр ПО №17502  •  Патент РФ №2797756  •  Патент ЕАПО №045687  •  Импортозамещение  •  Российские ОС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