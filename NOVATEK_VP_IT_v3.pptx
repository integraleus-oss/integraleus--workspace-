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46" r:id="rId4"/>
  </p:sldMasterIdLst>
  <p:notesMasterIdLst>
    <p:notesMasterId r:id="rId18"/>
  </p:notesMasterIdLst>
  <p:handoutMasterIdLst>
    <p:handoutMasterId r:id="rId19"/>
  </p:handoutMasterIdLst>
  <p:sldIdLst>
    <p:sldId id="256" r:id="rId12"/>
    <p:sldId id="257" r:id="rId13"/>
    <p:sldId id="258" r:id="rId14"/>
    <p:sldId id="259" r:id="rId15"/>
    <p:sldId id="260" r:id="rId16"/>
    <p:sldId id="262" r:id="rId11"/>
    <p:sldId id="264" r:id="rId9"/>
    <p:sldId id="265" r:id="rId8"/>
    <p:sldId id="266" r:id="rId7"/>
  </p:sldIdLst>
  <p:sldSz cx="9144000" cy="5143500" type="screen16x9"/>
  <p:notesSz cx="6858000" cy="9144000"/>
  <p:defaultTextStyle>
    <a:defPPr>
      <a:defRPr lang="en-US"/>
    </a:defPPr>
    <a:lvl1pPr marL="0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31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663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494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326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157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6989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399820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2651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Отчалко Алексей Валерьевич" initials="ОАВ" lastIdx="2" clrIdx="0">
    <p:extLst>
      <p:ext uri="{19B8F6BF-5375-455C-9EA6-DF929625EA0E}">
        <p15:presenceInfo xmlns:p15="http://schemas.microsoft.com/office/powerpoint/2012/main" userId="S-1-5-21-4150067811-3172932439-921807814-2128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0000"/>
    <a:srgbClr val="740000"/>
    <a:srgbClr val="0997C8"/>
    <a:srgbClr val="151320"/>
    <a:srgbClr val="14121F"/>
    <a:srgbClr val="18597F"/>
    <a:srgbClr val="00559A"/>
    <a:srgbClr val="005497"/>
    <a:srgbClr val="82C444"/>
    <a:srgbClr val="669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3216" autoAdjust="0"/>
  </p:normalViewPr>
  <p:slideViewPr>
    <p:cSldViewPr snapToGrid="0">
      <p:cViewPr varScale="1">
        <p:scale>
          <a:sx n="137" d="100"/>
          <a:sy n="137" d="100"/>
        </p:scale>
        <p:origin x="82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7" Type="http://schemas.openxmlformats.org/officeDocument/2006/relationships/slide" Target="slides/slide9.xml"/><Relationship Id="rId8" Type="http://schemas.openxmlformats.org/officeDocument/2006/relationships/slide" Target="slides/slide8.xml"/><Relationship Id="rId9" Type="http://schemas.openxmlformats.org/officeDocument/2006/relationships/slide" Target="slides/slide7.xml"/><Relationship Id="rId11" Type="http://schemas.openxmlformats.org/officeDocument/2006/relationships/slide" Target="slides/slide6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FD982-2CA3-466A-871B-FBBB36BA29C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CB1D8-357D-4FC8-88B1-BB2FE4247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21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342831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685663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028494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371326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1714157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6989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820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651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lium_Brea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5434B0F-F40F-C569-0068-3A0AB96CC7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679" y="318581"/>
            <a:ext cx="2793054" cy="42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64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119B87-EEDF-34A8-548B-284B244760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70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54216" y="4700240"/>
            <a:ext cx="2651893" cy="3763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77043EC-7684-4F7C-AE01-8FA32FBACF43}"/>
              </a:ext>
            </a:extLst>
          </p:cNvPr>
          <p:cNvSpPr/>
          <p:nvPr userDrawn="1"/>
        </p:nvSpPr>
        <p:spPr>
          <a:xfrm>
            <a:off x="3254216" y="4700240"/>
            <a:ext cx="2651893" cy="3763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1A8D3A3-4F2D-2E8E-7343-C5D3CB90EA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9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8E6E261-E28D-12DF-8306-615240014F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68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 noChangeAspect="1"/>
          </p:cNvSpPr>
          <p:nvPr>
            <p:ph type="pic" sz="quarter" idx="10"/>
          </p:nvPr>
        </p:nvSpPr>
        <p:spPr>
          <a:xfrm>
            <a:off x="0" y="1132105"/>
            <a:ext cx="9144000" cy="2540000"/>
          </a:xfrm>
        </p:spPr>
        <p:txBody>
          <a:bodyPr>
            <a:normAutofit/>
          </a:bodyPr>
          <a:lstStyle>
            <a:lvl1pPr marL="0" indent="0">
              <a:buNone/>
              <a:defRPr sz="1575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C68DF6-DF0E-5EC9-4183-B981DC9B51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6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reveal/>
      </p:transition>
    </mc:Choice>
    <mc:Fallback xmlns="">
      <p:transition spd="slow" advClick="0" advTm="300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C61F1-CCD4-F743-B10E-178ED077E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EDE89-36E4-5146-825B-076388FFB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D8E4A-25BD-604C-9B38-4ACD6517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05/12/2025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27B86-0F08-2840-85D5-C4833950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61260-A9CF-D746-A2C9-B7B2A67A9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553496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7"/>
            <a:ext cx="7886700" cy="994172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8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  <p:sldLayoutId id="2147483947" r:id="rId2"/>
    <p:sldLayoutId id="2147483948" r:id="rId3"/>
    <p:sldLayoutId id="2147483955" r:id="rId4"/>
    <p:sldLayoutId id="2147483942" r:id="rId5"/>
    <p:sldLayoutId id="2147483961" r:id="rId6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hf hdr="0" ftr="0" dt="0"/>
  <p:txStyles>
    <p:titleStyle>
      <a:lvl1pPr algn="l" defTabSz="685663" rtl="0" eaLnBrk="1" latinLnBrk="0" hangingPunct="1">
        <a:lnSpc>
          <a:spcPct val="90000"/>
        </a:lnSpc>
        <a:spcBef>
          <a:spcPct val="0"/>
        </a:spcBef>
        <a:buNone/>
        <a:defRPr lang="en-US" sz="2250" kern="1200">
          <a:solidFill>
            <a:schemeClr val="tx1"/>
          </a:solidFill>
          <a:latin typeface="Verdana" panose="020B0604030504040204" pitchFamily="34" charset="0"/>
          <a:ea typeface="+mj-ea"/>
          <a:cs typeface="+mj-cs"/>
        </a:defRPr>
      </a:lvl1pPr>
    </p:titleStyle>
    <p:bodyStyle>
      <a:lvl1pPr marL="171416" indent="-171416" algn="l" defTabSz="68566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lang="en-US" sz="18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1pPr>
      <a:lvl2pPr marL="51424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5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2pPr>
      <a:lvl3pPr marL="857079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35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3pPr>
      <a:lvl4pPr marL="1199910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4pPr>
      <a:lvl5pPr marL="1542741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5pPr>
      <a:lvl6pPr marL="1885573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4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6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6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3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4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6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57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89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46888"/>
            <a:ext cx="226771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146304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Переход с AVEVA PI System</a:t>
            </a:r>
            <a:br/>
            <a:r>
              <a:t>на Альфа платформу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D0F0"/>
                </a:solidFill>
                <a:latin typeface="Arial"/>
              </a:defRPr>
            </a:pPr>
            <a:r>
              <a:t>Стратегическое обоснование для руководства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617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B0D0"/>
                </a:solidFill>
                <a:latin typeface="Arial"/>
              </a:defRPr>
            </a:pPr>
            <a:r>
              <a:t>АО «Атомик Софт»  •  automiq.ru  •  Конфиденциально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Ситуация: почему нужно действовать сейчас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868680"/>
            <a:ext cx="2697480" cy="3474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2697480" cy="4572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51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3333"/>
                </a:solidFill>
                <a:latin typeface="Arial"/>
              </a:defRPr>
            </a:pPr>
            <a:r>
              <a:t>Санкционный риск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AVEVA прекратила поддержку</a:t>
            </a:r>
            <a:br/>
            <a:r>
              <a:t>и продажу в РФ.</a:t>
            </a:r>
            <a:br/>
            <a:r>
              <a:t>Нет обновлений. Нет патчей</a:t>
            </a:r>
            <a:br/>
            <a:r>
              <a:t>безопасности. Нет техподдержки.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868680"/>
            <a:ext cx="2697480" cy="3474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868680"/>
            <a:ext cx="2697480" cy="45720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051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9C00"/>
                </a:solidFill>
                <a:latin typeface="Arial"/>
              </a:defRPr>
            </a:pPr>
            <a:r>
              <a:t>Финансовый риск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50876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AVEVA Flex: ~$108K/год</a:t>
            </a:r>
            <a:br/>
            <a:r>
              <a:t>за подписку.</a:t>
            </a:r>
            <a:br/>
            <a:r>
              <a:t>При неоплате — ПО</a:t>
            </a:r>
            <a:br/>
            <a:r>
              <a:t>перестаёт работать.</a:t>
            </a:r>
            <a:br/>
            <a:r>
              <a:t>Валютный риск.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868680"/>
            <a:ext cx="2697480" cy="3474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868680"/>
            <a:ext cx="2697480" cy="4572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1051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Регуляторный риск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50876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ФЗ-187 о КИИ требует</a:t>
            </a:r>
            <a:br/>
            <a:r>
              <a:t>перехода на отечественное ПО.</a:t>
            </a:r>
            <a:br/>
            <a:r>
              <a:t>Сроки ужесточаются.</a:t>
            </a:r>
            <a:br/>
            <a:r>
              <a:t>ФСТЭК-аудиты.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3333"/>
                </a:solidFill>
                <a:latin typeface="Arial"/>
              </a:defRPr>
            </a:pPr>
            <a:r>
              <a:t>Каждый месяц без действий — это $9K подписки + растущий риск деактивации</a:t>
            </a:r>
          </a:p>
        </p:txBody>
      </p:sp>
      <p:pic>
        <p:nvPicPr>
          <p:cNvPr id="21" name="Picture 20" descr="shield-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05840"/>
            <a:ext cx="503999" cy="503999"/>
          </a:xfrm>
          <a:prstGeom prst="rect">
            <a:avLst/>
          </a:prstGeom>
        </p:spPr>
      </p:pic>
      <p:pic>
        <p:nvPicPr>
          <p:cNvPr id="22" name="Picture 21" descr="chart-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005840"/>
            <a:ext cx="503999" cy="503999"/>
          </a:xfrm>
          <a:prstGeom prst="rect">
            <a:avLst/>
          </a:prstGeom>
        </p:spPr>
      </p:pic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005840"/>
            <a:ext cx="503999" cy="503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Решение: Альфа платформа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Российская SCADA-платформа №1</a:t>
            </a:r>
            <a:br/>
            <a:r>
              <a:t>от АО «Атомик Софт» (Томск)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997C8"/>
                </a:solidFill>
                <a:latin typeface="Arial"/>
              </a:defRPr>
            </a:pPr>
            <a:r>
              <a:t>6500+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5469"/>
                </a:solidFill>
                <a:latin typeface="Arial"/>
              </a:defRPr>
            </a:pPr>
            <a:r>
              <a:t>инсталляций</a:t>
            </a:r>
            <a:br/>
            <a:r>
              <a:t>в промышленности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997C8"/>
                </a:solidFill>
                <a:latin typeface="Arial"/>
              </a:defRPr>
            </a:pPr>
            <a:r>
              <a:t>80+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965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5469"/>
                </a:solidFill>
                <a:latin typeface="Arial"/>
              </a:defRPr>
            </a:pPr>
            <a:r>
              <a:t>партнёров-</a:t>
            </a:r>
            <a:br/>
            <a:r>
              <a:t>интеграторов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997C8"/>
                </a:solidFill>
                <a:latin typeface="Arial"/>
              </a:defRPr>
            </a:pPr>
            <a:r>
              <a:t>140+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965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5469"/>
                </a:solidFill>
                <a:latin typeface="Arial"/>
              </a:defRPr>
            </a:pPr>
            <a:r>
              <a:t>сотрудников</a:t>
            </a:r>
            <a:br/>
            <a:r>
              <a:t>разработки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997C8"/>
                </a:solidFill>
                <a:latin typeface="Arial"/>
              </a:defRPr>
            </a:pPr>
            <a:r>
              <a:t>10 лет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965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5469"/>
                </a:solidFill>
                <a:latin typeface="Arial"/>
              </a:defRPr>
            </a:pPr>
            <a:r>
              <a:t>на рынке</a:t>
            </a:r>
            <a:br/>
            <a:r>
              <a:t>АСУ ТП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60320"/>
            <a:ext cx="8046720" cy="914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974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69748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Реестр Минцифры — полное соответствие ФЗ-187 о КИИ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175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Бессрочная лицензия в рублях — предсказуемый бюджет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3375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375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Windows + Linux (Astra, РЕД ОС) — сертифицированные ОС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65760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Лицензия ФСТЭК на разработку СЗКИ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776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97764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Техподдержка 24/7 на русском языке, вендор в России</a:t>
            </a:r>
          </a:p>
        </p:txBody>
      </p:sp>
      <p:pic>
        <p:nvPicPr>
          <p:cNvPr id="25" name="Picture 24" descr="building-fa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00" y="815040"/>
            <a:ext cx="540000" cy="540000"/>
          </a:xfrm>
          <a:prstGeom prst="rect">
            <a:avLst/>
          </a:prstGeom>
        </p:spPr>
      </p:pic>
      <p:pic>
        <p:nvPicPr>
          <p:cNvPr id="26" name="Picture 25" descr="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320" y="815040"/>
            <a:ext cx="540000" cy="540000"/>
          </a:xfrm>
          <a:prstGeom prst="rect">
            <a:avLst/>
          </a:prstGeom>
        </p:spPr>
      </p:pic>
      <p:pic>
        <p:nvPicPr>
          <p:cNvPr id="27" name="Picture 26" descr="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440" y="815040"/>
            <a:ext cx="540000" cy="540000"/>
          </a:xfrm>
          <a:prstGeom prst="rect">
            <a:avLst/>
          </a:prstGeom>
        </p:spPr>
      </p:pic>
      <p:pic>
        <p:nvPicPr>
          <p:cNvPr id="28" name="Picture 27" descr="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560" y="81504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Что меняется: суть перехода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822960"/>
            <a:ext cx="402336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4023360" cy="36576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AVEVA PI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9C00"/>
                </a:solidFill>
                <a:latin typeface="Arial"/>
              </a:defRPr>
            </a:pPr>
            <a:r>
              <a:t>«Склад данных»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Собирает данные и раздаёт —</a:t>
            </a:r>
            <a:br/>
            <a:r>
              <a:t>аналитикам, Excel, облаку, BI.</a:t>
            </a:r>
            <a:br/>
            <a:r>
              <a:t>Управление процессом — не его задача.</a:t>
            </a:r>
            <a:br/>
            <a:r>
              <a:t>Подписка в долларах. Облако за рубежом.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822960"/>
            <a:ext cx="4206240" cy="22860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822960"/>
            <a:ext cx="4206240" cy="36576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Альфа платформа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1887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«Диспетчерская с пультом»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55448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Оператор видит и управляет процессом.</a:t>
            </a:r>
            <a:br/>
            <a:r>
              <a:t>Хранение данных тоже есть (Historian).</a:t>
            </a:r>
            <a:br/>
            <a:r>
              <a:t>Но главное — пульт управления.</a:t>
            </a:r>
            <a:br/>
            <a:r>
              <a:t>Бессрочная лицензия в рублях. On-prem.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8229600" cy="914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83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497"/>
                </a:solidFill>
                <a:latin typeface="Arial"/>
              </a:defRPr>
            </a:pPr>
            <a:r>
              <a:t>Что это значит для бизнеса: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576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Переход с «хранилища данных» на «систему управления с хранилищем» — функционал расширяется</a:t>
            </a:r>
            <a:br/>
            <a:r>
              <a:t>• Некоторые «курьерские сервисы» (REST API, облако, Event Frames) потребуют доработки</a:t>
            </a:r>
            <a:br/>
            <a:r>
              <a:t>• Основные функции (архив, визуализация, тревоги, протоколы) заменяются полностью</a:t>
            </a:r>
          </a:p>
        </p:txBody>
      </p:sp>
      <p:pic>
        <p:nvPicPr>
          <p:cNvPr id="18" name="Picture 17" descr="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1360" y="914400"/>
            <a:ext cx="468000" cy="468000"/>
          </a:xfrm>
          <a:prstGeom prst="rect">
            <a:avLst/>
          </a:prstGeom>
        </p:spPr>
      </p:pic>
      <p:pic>
        <p:nvPicPr>
          <p:cNvPr id="19" name="Picture 18" descr="layout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880" y="914400"/>
            <a:ext cx="468000" cy="46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Покрытие функционала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2697480" cy="365760"/>
          </a:xfrm>
          <a:prstGeom prst="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503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✅ Полная замена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Архив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Экраны оператора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Тревоги и события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Буферизация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Администрирование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Программный доступ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822960"/>
            <a:ext cx="2697480" cy="365760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8503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⚠️ Частичная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280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Коннекторы (450→30,</a:t>
            </a:r>
            <a:br/>
            <a:r>
              <a:t>но 80% покрыто)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783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Self-service дашборды</a:t>
            </a:r>
            <a:br/>
            <a:r>
              <a:t>(есть, но проще)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2860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Модель активов</a:t>
            </a:r>
            <a:br/>
            <a:r>
              <a:t>(не «на лету»)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7889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Excel-отчёты</a:t>
            </a:r>
            <a:br/>
            <a:r>
              <a:t>(другой формат)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822960"/>
            <a:ext cx="2697480" cy="36576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8503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❌ Требует доработки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280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Запись событий</a:t>
            </a:r>
            <a:br/>
            <a:r>
              <a:t>(Event Frames)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783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HTTP-доступ (REST API)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1488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Синхронизация серверов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5146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BI-интеграция</a:t>
            </a:r>
            <a:br/>
            <a:r>
              <a:t>(через SQL обход)</a:t>
            </a:r>
          </a:p>
        </p:txBody>
      </p:sp>
      <p:pic>
        <p:nvPicPr>
          <p:cNvPr id="25" name="Picture 24" descr="shield-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800" y="904392"/>
            <a:ext cx="360000" cy="360000"/>
          </a:xfrm>
          <a:prstGeom prst="rect">
            <a:avLst/>
          </a:prstGeom>
        </p:spPr>
      </p:pic>
      <p:pic>
        <p:nvPicPr>
          <p:cNvPr id="26" name="Picture 25" descr="alert-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160" y="904392"/>
            <a:ext cx="360000" cy="360000"/>
          </a:xfrm>
          <a:prstGeom prst="rect">
            <a:avLst/>
          </a:prstGeom>
        </p:spPr>
      </p:pic>
      <p:pic>
        <p:nvPicPr>
          <p:cNvPr id="27" name="Picture 26" descr="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520" y="904392"/>
            <a:ext cx="360000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План перехода: сроки и ресурсы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8229600" cy="914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965960"/>
            <a:ext cx="274320" cy="27432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997C8"/>
                </a:solidFill>
                <a:latin typeface="Arial"/>
              </a:defRPr>
            </a:pPr>
            <a:r>
              <a:t>АУДИТ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1-2 мес.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Считаем: сколько тегов,</a:t>
            </a:r>
            <a:br/>
            <a:r>
              <a:t>какие протоколы, какие</a:t>
            </a:r>
            <a:br/>
            <a:r>
              <a:t>скрипты, что критично</a:t>
            </a:r>
          </a:p>
        </p:txBody>
      </p:sp>
      <p:sp>
        <p:nvSpPr>
          <p:cNvPr id="11" name="Oval 10"/>
          <p:cNvSpPr/>
          <p:nvPr/>
        </p:nvSpPr>
        <p:spPr>
          <a:xfrm>
            <a:off x="2697480" y="1965960"/>
            <a:ext cx="274320" cy="27432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997C8"/>
                </a:solidFill>
                <a:latin typeface="Arial"/>
              </a:defRPr>
            </a:pPr>
            <a:r>
              <a:t>ПРОЕКТ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1 мес.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Архитектура, лицензии,</a:t>
            </a:r>
            <a:br/>
            <a:r>
              <a:t>бюджет, рабочая группа</a:t>
            </a:r>
          </a:p>
        </p:txBody>
      </p:sp>
      <p:sp>
        <p:nvSpPr>
          <p:cNvPr id="16" name="Oval 15"/>
          <p:cNvSpPr/>
          <p:nvPr/>
        </p:nvSpPr>
        <p:spPr>
          <a:xfrm>
            <a:off x="4343400" y="1965960"/>
            <a:ext cx="274320" cy="274320"/>
          </a:xfrm>
          <a:prstGeom prst="ellipse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75AD"/>
                </a:solidFill>
                <a:latin typeface="Arial"/>
              </a:defRPr>
            </a:pPr>
            <a:r>
              <a:t>ПИЛОТ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2-3 мес.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Один объект — проверяем</a:t>
            </a:r>
            <a:br/>
            <a:r>
              <a:t>всё на практике</a:t>
            </a:r>
          </a:p>
        </p:txBody>
      </p:sp>
      <p:sp>
        <p:nvSpPr>
          <p:cNvPr id="21" name="Oval 20"/>
          <p:cNvSpPr/>
          <p:nvPr/>
        </p:nvSpPr>
        <p:spPr>
          <a:xfrm>
            <a:off x="5989320" y="1965960"/>
            <a:ext cx="274320" cy="274320"/>
          </a:xfrm>
          <a:prstGeom prst="ellipse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0760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5497"/>
                </a:solidFill>
                <a:latin typeface="Arial"/>
              </a:defRPr>
            </a:pPr>
            <a:r>
              <a:t>МИГРАЦИЯ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3-6 мес.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Переводим объекты.</a:t>
            </a:r>
            <a:br/>
            <a:r>
              <a:t>PI + Альфа параллельно.</a:t>
            </a:r>
            <a:br/>
            <a:r>
              <a:t>Обучаем людей</a:t>
            </a:r>
          </a:p>
        </p:txBody>
      </p:sp>
      <p:sp>
        <p:nvSpPr>
          <p:cNvPr id="26" name="Oval 25"/>
          <p:cNvSpPr/>
          <p:nvPr/>
        </p:nvSpPr>
        <p:spPr>
          <a:xfrm>
            <a:off x="7635240" y="1965960"/>
            <a:ext cx="274320" cy="274320"/>
          </a:xfrm>
          <a:prstGeom prst="ellipse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5352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2C444"/>
                </a:solidFill>
                <a:latin typeface="Arial"/>
              </a:defRPr>
            </a:pPr>
            <a:r>
              <a:t>СДАЧА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1-2 мес.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Отключаем PI.</a:t>
            </a:r>
            <a:br/>
            <a:r>
              <a:t>Документация. SLA.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114800"/>
            <a:ext cx="8229600" cy="5486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497"/>
                </a:solidFill>
                <a:latin typeface="Arial"/>
              </a:defRPr>
            </a:pPr>
            <a:r>
              <a:t>Общая длительность: 8–14 месяцев.  Нулевой простой — PI и Альфа работают параллельно.</a:t>
            </a:r>
          </a:p>
        </p:txBody>
      </p:sp>
      <p:pic>
        <p:nvPicPr>
          <p:cNvPr id="33" name="Picture 32" descr="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240" y="878400"/>
            <a:ext cx="324000" cy="324000"/>
          </a:xfrm>
          <a:prstGeom prst="rect">
            <a:avLst/>
          </a:prstGeom>
        </p:spPr>
      </p:pic>
      <p:pic>
        <p:nvPicPr>
          <p:cNvPr id="34" name="Picture 33" descr="chart-info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160" y="878400"/>
            <a:ext cx="324000" cy="324000"/>
          </a:xfrm>
          <a:prstGeom prst="rect">
            <a:avLst/>
          </a:prstGeom>
        </p:spPr>
      </p:pic>
      <p:pic>
        <p:nvPicPr>
          <p:cNvPr id="35" name="Picture 34" descr="a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080" y="878400"/>
            <a:ext cx="324000" cy="324000"/>
          </a:xfrm>
          <a:prstGeom prst="rect">
            <a:avLst/>
          </a:prstGeom>
        </p:spPr>
      </p:pic>
      <p:pic>
        <p:nvPicPr>
          <p:cNvPr id="36" name="Picture 35" descr="database-impo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000" y="878400"/>
            <a:ext cx="324000" cy="324000"/>
          </a:xfrm>
          <a:prstGeom prst="rect">
            <a:avLst/>
          </a:prstGeom>
        </p:spPr>
      </p:pic>
      <p:pic>
        <p:nvPicPr>
          <p:cNvPr id="37" name="Picture 36" descr="shield-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920" y="878400"/>
            <a:ext cx="324000" cy="32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Сравнение: ключевые параметры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103120" cy="292608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51760" y="777240"/>
            <a:ext cx="2834640" cy="292608"/>
          </a:xfrm>
          <a:prstGeom prst="rect">
            <a:avLst/>
          </a:prstGeom>
          <a:solidFill>
            <a:srgbClr val="8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77840" y="777240"/>
            <a:ext cx="3108960" cy="292608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80467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Параметр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80467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PI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80467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Альфа платформа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5214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Лицензия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152144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~$108K/год, подписка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152144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Разовая покупка, рубли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453896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490472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ОС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490472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Только Windows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490472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Windows + Linux (Astra, РЕД ОС)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792224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82880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Реестр Минцифры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1828800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1828800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Да — соответствие ФЗ-187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130552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16712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Поддержка в РФ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167128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 (санкции)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2167128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24/7 на русском, вендор в Томске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50545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Визуализация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2505456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PI Vision — простая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2505456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Alpha.HMI 2.0 — мощная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807208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84378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Коннекторы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2843784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450+ протоколов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2843784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~30 + OPC UA шлюзы (~80%)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145536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182112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Облако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3182112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AVEVA Data Hub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3182112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 (on-prem = безопаснее)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483864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52044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Event Frames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3520440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Есть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20440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 (доработка если нужно)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822192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85876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REST 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3858768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Есть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3858768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 (доступ через TCP/SQL)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19709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ФСТЭК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4197096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4197096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Лицензия на разработку СЗКИ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Запрос на решение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Предлагаем утвердить: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325880"/>
            <a:ext cx="320040" cy="32004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62456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8016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Запуск аудита PI-инфраструктуры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Инвентаризация: теги, протоколы, скрипты, отчёты, Event Frames.</a:t>
            </a:r>
            <a:br/>
            <a:r>
              <a:t>Срок: 1-2 месяца. Результат: отчёт с рекомендациями.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194560"/>
            <a:ext cx="320040" cy="32004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31136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4884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Определение пилотного объекта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231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Один объект для проверки на практике.</a:t>
            </a:r>
            <a:br/>
            <a:r>
              <a:t>PI и Альфа работают параллельно 2-4 недели.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63240"/>
            <a:ext cx="320040" cy="32004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099816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1752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Формирование рабочей группы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29184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НОВАТЭК (КИПиА + IT) + Атомик Софт + интегратор.</a:t>
            </a:r>
            <a:br/>
            <a:r>
              <a:t>Еженедельные статус-встречи.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931920"/>
            <a:ext cx="320040" cy="32004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968496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8620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Бюджет и контур пилота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60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Согласование бюджета по итогам аудита.</a:t>
            </a:r>
            <a:br/>
            <a:r>
              <a:t/>
            </a:r>
          </a:p>
        </p:txBody>
      </p:sp>
      <p:pic>
        <p:nvPicPr>
          <p:cNvPr id="22" name="Picture 21" descr="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360" y="1280160"/>
            <a:ext cx="360000" cy="360000"/>
          </a:xfrm>
          <a:prstGeom prst="rect">
            <a:avLst/>
          </a:prstGeom>
        </p:spPr>
      </p:pic>
      <p:pic>
        <p:nvPicPr>
          <p:cNvPr id="23" name="Picture 22" descr="building-fa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360" y="2148840"/>
            <a:ext cx="360000" cy="360000"/>
          </a:xfrm>
          <a:prstGeom prst="rect">
            <a:avLst/>
          </a:prstGeom>
        </p:spPr>
      </p:pic>
      <p:pic>
        <p:nvPicPr>
          <p:cNvPr id="24" name="Picture 23" descr="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360" y="3017520"/>
            <a:ext cx="360000" cy="360000"/>
          </a:xfrm>
          <a:prstGeom prst="rect">
            <a:avLst/>
          </a:prstGeom>
        </p:spPr>
      </p:pic>
      <p:pic>
        <p:nvPicPr>
          <p:cNvPr id="25" name="Picture 24" descr="chart-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360" y="3886200"/>
            <a:ext cx="360000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pic>
        <p:nvPicPr>
          <p:cNvPr id="3" name="Picture 2" descr="contact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3657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5497"/>
                </a:solidFill>
                <a:latin typeface="Arial"/>
              </a:defRPr>
            </a:pPr>
            <a:r>
              <a:t>Будущее автоматизации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5497"/>
                </a:solidFill>
                <a:latin typeface="Arial"/>
              </a:defRPr>
            </a:pPr>
            <a:r>
              <a:t>в ваших руках.</a:t>
            </a:r>
          </a:p>
        </p:txBody>
      </p:sp>
      <p:pic>
        <p:nvPicPr>
          <p:cNvPr id="6" name="Picture 5" descr="qr_or_de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194560"/>
            <a:ext cx="1554480" cy="1554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233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АО «Атомик Софт»</a:t>
            </a:r>
            <a:br/>
            <a:r>
              <a:t>634050 Томск, пр. Ленина 60/1</a:t>
            </a:r>
            <a:br/>
            <a:r>
              <a:t>+7 (3822) 281 914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0233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info@automiq.ru</a:t>
            </a:r>
            <a:br/>
            <a:r>
              <a:t>www.automiq.ru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0233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Станислав Павловский</a:t>
            </a:r>
            <a:br/>
            <a:r>
              <a:t>Telegram: @Integraleus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_Атомик">
  <a:themeElements>
    <a:clrScheme name="Custom 2">
      <a:dk1>
        <a:srgbClr val="000000"/>
      </a:dk1>
      <a:lt1>
        <a:sysClr val="window" lastClr="FFFFFF"/>
      </a:lt1>
      <a:dk2>
        <a:srgbClr val="6E6E6E"/>
      </a:dk2>
      <a:lt2>
        <a:srgbClr val="FFFFFF"/>
      </a:lt2>
      <a:accent1>
        <a:srgbClr val="005497"/>
      </a:accent1>
      <a:accent2>
        <a:srgbClr val="3375AD"/>
      </a:accent2>
      <a:accent3>
        <a:srgbClr val="0997C8"/>
      </a:accent3>
      <a:accent4>
        <a:srgbClr val="52CCF7"/>
      </a:accent4>
      <a:accent5>
        <a:srgbClr val="82C444"/>
      </a:accent5>
      <a:accent6>
        <a:srgbClr val="CDE7B4"/>
      </a:accent6>
      <a:hlink>
        <a:srgbClr val="0997C8"/>
      </a:hlink>
      <a:folHlink>
        <a:srgbClr val="CDE7B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_Атомик" id="{CEB1B155-F77A-4A19-9AEE-767E43EEE002}" vid="{E33B8DA0-9C2E-4591-9D92-CDFA1B99F6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8FB12FA238B29479C15A3FBF1901892" ma:contentTypeVersion="15" ma:contentTypeDescription="Создание документа." ma:contentTypeScope="" ma:versionID="ecc35f767065df6b4e4d6498d5eac02d">
  <xsd:schema xmlns:xsd="http://www.w3.org/2001/XMLSchema" xmlns:xs="http://www.w3.org/2001/XMLSchema" xmlns:p="http://schemas.microsoft.com/office/2006/metadata/properties" xmlns:ns2="0502b1be-0fe2-4509-97a9-ec0fd3fafc9b" xmlns:ns3="b723f446-6c9e-405e-84d5-4916a0afa7d5" targetNamespace="http://schemas.microsoft.com/office/2006/metadata/properties" ma:root="true" ma:fieldsID="7bfcc36716481aa470f9f4409057f6cb" ns2:_="" ns3:_="">
    <xsd:import namespace="0502b1be-0fe2-4509-97a9-ec0fd3fafc9b"/>
    <xsd:import namespace="b723f446-6c9e-405e-84d5-4916a0afa7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02b1be-0fe2-4509-97a9-ec0fd3fafc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5e2e7791-cded-476b-940f-30d7621795f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23f446-6c9e-405e-84d5-4916a0afa7d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20520b3-41b0-41ba-9884-d7cef35bb1b8}" ma:internalName="TaxCatchAll" ma:showField="CatchAllData" ma:web="b723f446-6c9e-405e-84d5-4916a0afa7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02b1be-0fe2-4509-97a9-ec0fd3fafc9b">
      <Terms xmlns="http://schemas.microsoft.com/office/infopath/2007/PartnerControls"/>
    </lcf76f155ced4ddcb4097134ff3c332f>
    <TaxCatchAll xmlns="b723f446-6c9e-405e-84d5-4916a0afa7d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AA56F4-2A60-49CC-AA53-5AA9356824FD}">
  <ds:schemaRefs>
    <ds:schemaRef ds:uri="0502b1be-0fe2-4509-97a9-ec0fd3fafc9b"/>
    <ds:schemaRef ds:uri="b723f446-6c9e-405e-84d5-4916a0afa7d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F8006AA-1608-4641-B256-E4528952F154}">
  <ds:schemaRefs>
    <ds:schemaRef ds:uri="0502b1be-0fe2-4509-97a9-ec0fd3fafc9b"/>
    <ds:schemaRef ds:uri="b723f446-6c9e-405e-84d5-4916a0afa7d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6A3223D-C643-4D8A-962C-239797B11A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Тема_Атомик</Template>
  <TotalTime>52805</TotalTime>
  <Words>627</Words>
  <Application>Microsoft Office PowerPoint</Application>
  <PresentationFormat>Экран (16:9)</PresentationFormat>
  <Paragraphs>129</Paragraphs>
  <Slides>13</Slides>
  <Notes>11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3" baseType="lpstr">
      <vt:lpstr>Arial</vt:lpstr>
      <vt:lpstr>Calibri</vt:lpstr>
      <vt:lpstr>Circe ExtraBold</vt:lpstr>
      <vt:lpstr>Gill Sans</vt:lpstr>
      <vt:lpstr>Helvetica</vt:lpstr>
      <vt:lpstr>HelveticaNeueCyr Light</vt:lpstr>
      <vt:lpstr>HelveticaNeueCyr Medium</vt:lpstr>
      <vt:lpstr>Verdana</vt:lpstr>
      <vt:lpstr>Wingdings</vt:lpstr>
      <vt:lpstr>Тема_Атомик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Jetfabrik</dc:creator>
  <cp:keywords/>
  <dc:description/>
  <cp:lastModifiedBy>Иващенко Наталья Владимировна</cp:lastModifiedBy>
  <cp:revision>115</cp:revision>
  <dcterms:created xsi:type="dcterms:W3CDTF">2014-11-12T21:47:38Z</dcterms:created>
  <dcterms:modified xsi:type="dcterms:W3CDTF">2025-05-12T07:19:19Z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0x01010028FB12FA238B29479C15A3FBF1901892</vt:lpwstr>
  </property>
  <property fmtid="{D5CDD505-2E9C-101B-9397-08002B2CF9AE}" pid="3" name="MediaServiceImageTags">
    <vt:lpwstr/>
  </property>
</Properties>
</file>