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6.png"/><Relationship Id="rId11" Type="http://schemas.openxmlformats.org/officeDocument/2006/relationships/image" Target="../media/image17.png"/><Relationship Id="rId12" Type="http://schemas.openxmlformats.org/officeDocument/2006/relationships/image" Target="../media/image5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22.png"/><Relationship Id="rId7" Type="http://schemas.openxmlformats.org/officeDocument/2006/relationships/image" Target="../media/image6.png"/><Relationship Id="rId8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4.png"/><Relationship Id="rId7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9.png"/><Relationship Id="rId4" Type="http://schemas.openxmlformats.org/officeDocument/2006/relationships/image" Target="../media/image16.png"/><Relationship Id="rId5" Type="http://schemas.openxmlformats.org/officeDocument/2006/relationships/image" Target="../media/image30.png"/><Relationship Id="rId6" Type="http://schemas.openxmlformats.org/officeDocument/2006/relationships/image" Target="../media/image6.png"/><Relationship Id="rId7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3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dustri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274320"/>
            <a:ext cx="27432" cy="27432"/>
          </a:xfrm>
          <a:prstGeom prst="ellipse">
            <a:avLst/>
          </a:prstGeom>
          <a:solidFill>
            <a:srgbClr val="18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1680" y="6035040"/>
            <a:ext cx="27432" cy="27432"/>
          </a:xfrm>
          <a:prstGeom prst="ellipse">
            <a:avLst/>
          </a:prstGeom>
          <a:solidFill>
            <a:srgbClr val="18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88920" y="4389120"/>
            <a:ext cx="27432" cy="27432"/>
          </a:xfrm>
          <a:prstGeom prst="ellipse">
            <a:avLst/>
          </a:prstGeom>
          <a:solidFill>
            <a:srgbClr val="18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66160" y="2743200"/>
            <a:ext cx="27432" cy="27432"/>
          </a:xfrm>
          <a:prstGeom prst="ellipse">
            <a:avLst/>
          </a:prstGeom>
          <a:solidFill>
            <a:srgbClr val="18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43400" y="1097280"/>
            <a:ext cx="27432" cy="27432"/>
          </a:xfrm>
          <a:prstGeom prst="ellipse">
            <a:avLst/>
          </a:prstGeom>
          <a:solidFill>
            <a:srgbClr val="18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5212080"/>
            <a:ext cx="27432" cy="27432"/>
          </a:xfrm>
          <a:prstGeom prst="ellipse">
            <a:avLst/>
          </a:prstGeom>
          <a:solidFill>
            <a:srgbClr val="18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52359" y="3566160"/>
            <a:ext cx="27432" cy="27432"/>
          </a:xfrm>
          <a:prstGeom prst="ellipse">
            <a:avLst/>
          </a:prstGeom>
          <a:solidFill>
            <a:srgbClr val="18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0" y="1920240"/>
            <a:ext cx="27432" cy="27432"/>
          </a:xfrm>
          <a:prstGeom prst="ellipse">
            <a:avLst/>
          </a:prstGeom>
          <a:solidFill>
            <a:srgbClr val="18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06840" y="274320"/>
            <a:ext cx="27432" cy="27432"/>
          </a:xfrm>
          <a:prstGeom prst="ellipse">
            <a:avLst/>
          </a:prstGeom>
          <a:solidFill>
            <a:srgbClr val="18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61319" y="6035040"/>
            <a:ext cx="27432" cy="27432"/>
          </a:xfrm>
          <a:prstGeom prst="ellipse">
            <a:avLst/>
          </a:prstGeom>
          <a:solidFill>
            <a:srgbClr val="18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38560" y="4389120"/>
            <a:ext cx="27432" cy="27432"/>
          </a:xfrm>
          <a:prstGeom prst="ellipse">
            <a:avLst/>
          </a:prstGeom>
          <a:solidFill>
            <a:srgbClr val="18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SCADA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9144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Лацерта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28600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514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C4D8"/>
                </a:solidFill>
              </a:defRPr>
            </a:pPr>
            <a:r>
              <a:t>Российская платформа</a:t>
            </a:r>
            <a:br/>
            <a:r>
              <a:t>промышленной автоматизации</a:t>
            </a:r>
          </a:p>
        </p:txBody>
      </p:sp>
      <p:pic>
        <p:nvPicPr>
          <p:cNvPr id="21" name="Picture 20" descr="settings-auto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83280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54480" y="3456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099"/>
                </a:solidFill>
              </a:defRPr>
            </a:pPr>
            <a:r>
              <a:t>Версия 1.0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114800"/>
            <a:ext cx="1508760" cy="685800"/>
          </a:xfrm>
          <a:prstGeom prst="roundRect">
            <a:avLst/>
          </a:prstGeom>
          <a:noFill/>
          <a:ln w="19050">
            <a:solidFill>
              <a:srgbClr val="6B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hield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60520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41605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8099"/>
                </a:solidFill>
              </a:defRPr>
            </a:pPr>
            <a:r>
              <a:t>Реестр ПО</a:t>
            </a:r>
            <a:br/>
            <a:r>
              <a:t>№17502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06040" y="4114800"/>
            <a:ext cx="1508760" cy="685800"/>
          </a:xfrm>
          <a:prstGeom prst="roundRect">
            <a:avLst/>
          </a:prstGeom>
          <a:noFill/>
          <a:ln w="19050">
            <a:solidFill>
              <a:srgbClr val="6B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hield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4160520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063240" y="41605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8099"/>
                </a:solidFill>
              </a:defRPr>
            </a:pPr>
            <a:r>
              <a:t>Патент РФ</a:t>
            </a:r>
            <a:br/>
            <a:r>
              <a:t>№2797756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4114800"/>
            <a:ext cx="1508760" cy="685800"/>
          </a:xfrm>
          <a:prstGeom prst="roundRect">
            <a:avLst/>
          </a:prstGeom>
          <a:noFill/>
          <a:ln w="19050">
            <a:solidFill>
              <a:srgbClr val="6B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hield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4160520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54880" y="41605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8099"/>
                </a:solidFill>
              </a:defRPr>
            </a:pPr>
            <a:r>
              <a:t>ЕАПО</a:t>
            </a:r>
            <a:br/>
            <a:r>
              <a:t>№045687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365760"/>
            <a:ext cx="1645920" cy="1645920"/>
          </a:xfrm>
          <a:prstGeom prst="ellipse">
            <a:avLst/>
          </a:prstGeom>
          <a:noFill/>
          <a:ln w="317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29984" y="694944"/>
            <a:ext cx="987552" cy="987552"/>
          </a:xfrm>
          <a:prstGeom prst="ellipse">
            <a:avLst/>
          </a:prstGeom>
          <a:solidFill>
            <a:srgbClr val="0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694944"/>
            <a:ext cx="1645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D4FF"/>
                </a:solidFill>
              </a:defRPr>
            </a:pPr>
            <a:r>
              <a:t>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221638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ТЕГИ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48498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8099"/>
                </a:solidFill>
              </a:defRPr>
            </a:pPr>
            <a:r>
              <a:t>Безлимитные</a:t>
            </a:r>
          </a:p>
        </p:txBody>
      </p:sp>
      <p:sp>
        <p:nvSpPr>
          <p:cNvPr id="37" name="Oval 36"/>
          <p:cNvSpPr/>
          <p:nvPr/>
        </p:nvSpPr>
        <p:spPr>
          <a:xfrm>
            <a:off x="8686800" y="365760"/>
            <a:ext cx="1645920" cy="1645920"/>
          </a:xfrm>
          <a:prstGeom prst="ellipse">
            <a:avLst/>
          </a:prstGeom>
          <a:noFill/>
          <a:ln w="317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15984" y="694944"/>
            <a:ext cx="987552" cy="987552"/>
          </a:xfrm>
          <a:prstGeom prst="ellipse">
            <a:avLst/>
          </a:prstGeom>
          <a:solidFill>
            <a:srgbClr val="002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694944"/>
            <a:ext cx="1645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E676"/>
                </a:solidFill>
              </a:defRPr>
            </a:pPr>
            <a:r>
              <a:t>13+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1221638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ПРОТОКОЛОВ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148498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8099"/>
                </a:solidFill>
              </a:defRPr>
            </a:pPr>
            <a:r>
              <a:t>OPC UA, Modbus...</a:t>
            </a:r>
          </a:p>
        </p:txBody>
      </p:sp>
      <p:sp>
        <p:nvSpPr>
          <p:cNvPr id="42" name="Oval 41"/>
          <p:cNvSpPr/>
          <p:nvPr/>
        </p:nvSpPr>
        <p:spPr>
          <a:xfrm>
            <a:off x="6400800" y="2286000"/>
            <a:ext cx="1645920" cy="1645920"/>
          </a:xfrm>
          <a:prstGeom prst="ellipse">
            <a:avLst/>
          </a:prstGeom>
          <a:noFill/>
          <a:ln w="317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729984" y="2615184"/>
            <a:ext cx="987552" cy="987552"/>
          </a:xfrm>
          <a:prstGeom prst="ellipse">
            <a:avLst/>
          </a:prstGeom>
          <a:solidFill>
            <a:srgbClr val="2A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2615184"/>
            <a:ext cx="1645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8C00"/>
                </a:solidFill>
              </a:defRPr>
            </a:pPr>
            <a:r>
              <a:t>M:M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141878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КЛАСТЕР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40522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8099"/>
                </a:solidFill>
              </a:defRPr>
            </a:pPr>
            <a:r>
              <a:t>Master-Master</a:t>
            </a:r>
          </a:p>
        </p:txBody>
      </p:sp>
      <p:sp>
        <p:nvSpPr>
          <p:cNvPr id="47" name="Oval 46"/>
          <p:cNvSpPr/>
          <p:nvPr/>
        </p:nvSpPr>
        <p:spPr>
          <a:xfrm>
            <a:off x="8686800" y="2286000"/>
            <a:ext cx="1645920" cy="1645920"/>
          </a:xfrm>
          <a:prstGeom prst="ellipse">
            <a:avLst/>
          </a:prstGeom>
          <a:noFill/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15984" y="2615184"/>
            <a:ext cx="987552" cy="987552"/>
          </a:xfrm>
          <a:prstGeom prst="ellipse">
            <a:avLst/>
          </a:prstGeom>
          <a:solidFill>
            <a:srgbClr val="170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0" y="2615184"/>
            <a:ext cx="1645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B5CF6"/>
                </a:solidFill>
              </a:defRPr>
            </a:pPr>
            <a:r>
              <a:t>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3141878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СКРИПТИНГ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40522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8099"/>
                </a:solidFill>
              </a:defRPr>
            </a:pPr>
            <a:r>
              <a:t>TypeScript</a:t>
            </a:r>
          </a:p>
        </p:txBody>
      </p:sp>
      <p:sp>
        <p:nvSpPr>
          <p:cNvPr id="52" name="Oval 51"/>
          <p:cNvSpPr/>
          <p:nvPr/>
        </p:nvSpPr>
        <p:spPr>
          <a:xfrm>
            <a:off x="6400800" y="4206240"/>
            <a:ext cx="1645920" cy="1645920"/>
          </a:xfrm>
          <a:prstGeom prst="ellipse">
            <a:avLst/>
          </a:prstGeom>
          <a:noFill/>
          <a:ln w="317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729984" y="4535424"/>
            <a:ext cx="987552" cy="987552"/>
          </a:xfrm>
          <a:prstGeom prst="ellipse">
            <a:avLst/>
          </a:prstGeom>
          <a:solidFill>
            <a:srgbClr val="0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4535424"/>
            <a:ext cx="1645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D4FF"/>
                </a:solidFill>
              </a:defRPr>
            </a:pPr>
            <a:r>
              <a:t>7+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062118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ОС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32546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8099"/>
                </a:solidFill>
              </a:defRPr>
            </a:pPr>
            <a:r>
              <a:t>Astra, ALT, РЕД</a:t>
            </a:r>
          </a:p>
        </p:txBody>
      </p:sp>
      <p:sp>
        <p:nvSpPr>
          <p:cNvPr id="57" name="Oval 56"/>
          <p:cNvSpPr/>
          <p:nvPr/>
        </p:nvSpPr>
        <p:spPr>
          <a:xfrm>
            <a:off x="8686800" y="4206240"/>
            <a:ext cx="1645920" cy="1645920"/>
          </a:xfrm>
          <a:prstGeom prst="ellipse">
            <a:avLst/>
          </a:prstGeom>
          <a:noFill/>
          <a:ln w="31750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015984" y="4535424"/>
            <a:ext cx="987552" cy="987552"/>
          </a:xfrm>
          <a:prstGeom prst="ellipse">
            <a:avLst/>
          </a:prstGeom>
          <a:solidFill>
            <a:srgbClr val="2A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0" y="4535424"/>
            <a:ext cx="1645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0080"/>
                </a:solidFill>
              </a:defRPr>
            </a:pPr>
            <a:r>
              <a:t>API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5062118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ДОСТУП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532546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8099"/>
                </a:solidFill>
              </a:defRPr>
            </a:pPr>
            <a:r>
              <a:t>REST + WebSocket</a:t>
            </a:r>
          </a:p>
        </p:txBody>
      </p:sp>
      <p:pic>
        <p:nvPicPr>
          <p:cNvPr id="62" name="Picture 61" descr="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457200"/>
            <a:ext cx="320040" cy="320040"/>
          </a:xfrm>
          <a:prstGeom prst="rect">
            <a:avLst/>
          </a:prstGeom>
        </p:spPr>
      </p:pic>
      <p:pic>
        <p:nvPicPr>
          <p:cNvPr id="63" name="Picture 62" descr="pl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457200"/>
            <a:ext cx="320040" cy="320040"/>
          </a:xfrm>
          <a:prstGeom prst="rect">
            <a:avLst/>
          </a:prstGeom>
        </p:spPr>
      </p:pic>
      <p:pic>
        <p:nvPicPr>
          <p:cNvPr id="64" name="Picture 63" descr="netwo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0" y="2377440"/>
            <a:ext cx="320040" cy="320040"/>
          </a:xfrm>
          <a:prstGeom prst="rect">
            <a:avLst/>
          </a:prstGeom>
        </p:spPr>
      </p:pic>
      <p:pic>
        <p:nvPicPr>
          <p:cNvPr id="65" name="Picture 64" descr="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1160" y="2377440"/>
            <a:ext cx="320040" cy="320040"/>
          </a:xfrm>
          <a:prstGeom prst="rect">
            <a:avLst/>
          </a:prstGeom>
        </p:spPr>
      </p:pic>
      <p:pic>
        <p:nvPicPr>
          <p:cNvPr id="66" name="Picture 65" descr="device-deskt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5160" y="4297680"/>
            <a:ext cx="320040" cy="320040"/>
          </a:xfrm>
          <a:prstGeom prst="rect">
            <a:avLst/>
          </a:prstGeom>
        </p:spPr>
      </p:pic>
      <p:pic>
        <p:nvPicPr>
          <p:cNvPr id="67" name="Picture 66" descr="ap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1160" y="4297680"/>
            <a:ext cx="320040" cy="320040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building-factor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0" y="6382512"/>
            <a:ext cx="320040" cy="32004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2743200" y="6382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8099"/>
                </a:solidFill>
              </a:defRPr>
            </a:pPr>
            <a:r>
              <a:t>АО «Лаборатория Технологий Автоматизации» (ЛТА)  │  apcslab.ru  │  8 (800) 550-26-21  │  info@apcslab.ru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О платформе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7132320" cy="21031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ttings-auto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0160" y="150876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</a:defRPr>
            </a:pPr>
            <a:r>
              <a:t>Что такое «Лацерта»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2024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E0ECF5"/>
                </a:solidFill>
              </a:defRPr>
            </a:pPr>
            <a:r>
              <a:t>▸  Платформа для построения и эксплуатации АСУ на всём жизненном цикле</a:t>
            </a:r>
          </a:p>
          <a:p>
            <a:pPr>
              <a:spcAft>
                <a:spcPts val="500"/>
              </a:spcAft>
              <a:defRPr sz="1200">
                <a:solidFill>
                  <a:srgbClr val="E0ECF5"/>
                </a:solidFill>
              </a:defRPr>
            </a:pPr>
            <a:r>
              <a:t>▸  Низкий порог входа: предметная квалификация без навыков программирования</a:t>
            </a:r>
          </a:p>
          <a:p>
            <a:pPr>
              <a:spcAft>
                <a:spcPts val="500"/>
              </a:spcAft>
              <a:defRPr sz="1200">
                <a:solidFill>
                  <a:srgbClr val="E0ECF5"/>
                </a:solidFill>
              </a:defRPr>
            </a:pPr>
            <a:r>
              <a:t>▸  Сбор данных от ПЛК/IIoT, визуализация, управление, предиктивная аналитика</a:t>
            </a:r>
          </a:p>
          <a:p>
            <a:pPr>
              <a:spcAft>
                <a:spcPts val="500"/>
              </a:spcAft>
              <a:defRPr sz="1200">
                <a:solidFill>
                  <a:srgbClr val="E0ECF5"/>
                </a:solidFill>
              </a:defRPr>
            </a:pPr>
            <a:r>
              <a:t>▸  Двусторонний обмен с внешними информационными системами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840480" cy="21031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463040"/>
            <a:ext cx="365760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5360" y="1508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Области применения</a:t>
            </a:r>
          </a:p>
        </p:txBody>
      </p:sp>
      <p:pic>
        <p:nvPicPr>
          <p:cNvPr id="13" name="Picture 12" descr="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874519"/>
            <a:ext cx="164592" cy="164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66760" y="1874519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CF5"/>
                </a:solidFill>
              </a:defRPr>
            </a:pPr>
            <a:r>
              <a:t>АСУ ТП / АСУ ПП</a:t>
            </a:r>
          </a:p>
        </p:txBody>
      </p:sp>
      <p:pic>
        <p:nvPicPr>
          <p:cNvPr id="15" name="Picture 14" descr="layout-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093976"/>
            <a:ext cx="164592" cy="164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66760" y="209397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CF5"/>
                </a:solidFill>
              </a:defRPr>
            </a:pPr>
            <a:r>
              <a:t>SCADA / HMI / РСУ</a:t>
            </a:r>
          </a:p>
        </p:txBody>
      </p:sp>
      <p:pic>
        <p:nvPicPr>
          <p:cNvPr id="17" name="Picture 16" descr="cloud-da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2313432"/>
            <a:ext cx="164592" cy="1645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66760" y="231343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CF5"/>
                </a:solidFill>
              </a:defRPr>
            </a:pPr>
            <a:r>
              <a:t>IIoT — промышленный IoT</a:t>
            </a:r>
          </a:p>
        </p:txBody>
      </p:sp>
      <p:pic>
        <p:nvPicPr>
          <p:cNvPr id="19" name="Picture 18" descr="device-analytic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2532887"/>
            <a:ext cx="164592" cy="1645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66760" y="2532887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CF5"/>
                </a:solidFill>
              </a:defRPr>
            </a:pPr>
            <a:r>
              <a:t>Диспетчерские центры</a:t>
            </a:r>
          </a:p>
        </p:txBody>
      </p:sp>
      <p:pic>
        <p:nvPicPr>
          <p:cNvPr id="21" name="Picture 20" descr="chart-l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2752344"/>
            <a:ext cx="164592" cy="1645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66760" y="275234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CF5"/>
                </a:solidFill>
              </a:defRPr>
            </a:pPr>
            <a:r>
              <a:t>Предиктивная аналитика</a:t>
            </a:r>
          </a:p>
        </p:txBody>
      </p:sp>
      <p:pic>
        <p:nvPicPr>
          <p:cNvPr id="23" name="Picture 22" descr="gau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2440" y="2971800"/>
            <a:ext cx="164592" cy="1645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66760" y="29718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CF5"/>
                </a:solidFill>
              </a:defRPr>
            </a:pPr>
            <a:r>
              <a:t>Диагностика оборудования</a:t>
            </a:r>
          </a:p>
        </p:txBody>
      </p:sp>
      <p:pic>
        <p:nvPicPr>
          <p:cNvPr id="25" name="Picture 24" descr="netwo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2440" y="3191256"/>
            <a:ext cx="164592" cy="16459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66760" y="319125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CF5"/>
                </a:solidFill>
              </a:defRPr>
            </a:pPr>
            <a:r>
              <a:t>Мониторинг инфраструктуры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49039"/>
            <a:ext cx="2103120" cy="196596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749039"/>
            <a:ext cx="21031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7280" y="3931920"/>
            <a:ext cx="685800" cy="685800"/>
          </a:xfrm>
          <a:prstGeom prst="ellipse">
            <a:avLst/>
          </a:prstGeom>
          <a:solidFill>
            <a:srgbClr val="00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database-impor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7007" y="4041648"/>
            <a:ext cx="457200" cy="457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7200" y="4709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Сбор данных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983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8099"/>
                </a:solidFill>
              </a:defRPr>
            </a:pPr>
            <a:r>
              <a:t>Распределённые</a:t>
            </a:r>
            <a:br/>
            <a:r>
              <a:t>источники, ПЛК, IIoT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54570"/>
                </a:solidFill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88920" y="3749039"/>
            <a:ext cx="2103120" cy="196596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88920" y="3749039"/>
            <a:ext cx="210312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29000" y="3931920"/>
            <a:ext cx="685800" cy="685800"/>
          </a:xfrm>
          <a:prstGeom prst="ellipse">
            <a:avLst/>
          </a:prstGeom>
          <a:solidFill>
            <a:srgbClr val="002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plu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8727" y="4041648"/>
            <a:ext cx="457200" cy="457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788920" y="4709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Обмен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79" y="4983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8099"/>
                </a:solidFill>
              </a:defRPr>
            </a:pPr>
            <a:r>
              <a:t>Двусторонний обмен</a:t>
            </a:r>
            <a:br/>
            <a:r>
              <a:t>с внешними ИС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79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54570"/>
                </a:solidFill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0" y="3749039"/>
            <a:ext cx="2103120" cy="196596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120640" y="3749039"/>
            <a:ext cx="210312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760720" y="3931920"/>
            <a:ext cx="685800" cy="685800"/>
          </a:xfrm>
          <a:prstGeom prst="ellipse">
            <a:avLst/>
          </a:prstGeom>
          <a:solidFill>
            <a:srgbClr val="33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bol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70448" y="4041648"/>
            <a:ext cx="457200" cy="4572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120640" y="4709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00"/>
                </a:solidFill>
              </a:defRPr>
            </a:pPr>
            <a:r>
              <a:t>Управление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4983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8099"/>
                </a:solidFill>
              </a:defRPr>
            </a:pPr>
            <a:r>
              <a:t>Логика техпроцесса,</a:t>
            </a:r>
            <a:br/>
            <a:r>
              <a:t>воздействия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54570"/>
                </a:solidFill>
              </a:defRPr>
            </a:pPr>
            <a: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52359" y="3749039"/>
            <a:ext cx="2103120" cy="196596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452359" y="3749039"/>
            <a:ext cx="21031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092439" y="3931920"/>
            <a:ext cx="685800" cy="685800"/>
          </a:xfrm>
          <a:prstGeom prst="ellipse">
            <a:avLst/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layout-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7" y="4041648"/>
            <a:ext cx="457200" cy="4572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452359" y="4709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t>Визуализация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19" y="4983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8099"/>
                </a:solidFill>
              </a:defRPr>
            </a:pPr>
            <a:r>
              <a:t>Мнемосхемы, виджеты,</a:t>
            </a:r>
            <a:br/>
            <a:r>
              <a:t>тренды, таблицы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19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54570"/>
                </a:solidFill>
              </a:defRPr>
            </a:pPr>
            <a: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84080" y="3749039"/>
            <a:ext cx="2103120" cy="196596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784080" y="3749039"/>
            <a:ext cx="2103120" cy="45720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24159" y="3931920"/>
            <a:ext cx="685800" cy="685800"/>
          </a:xfrm>
          <a:prstGeom prst="ellipse">
            <a:avLst/>
          </a:prstGeom>
          <a:solidFill>
            <a:srgbClr val="33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chart-infographi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33888" y="4041648"/>
            <a:ext cx="457200" cy="4572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784080" y="4709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0080"/>
                </a:solidFill>
              </a:defRPr>
            </a:pPr>
            <a:r>
              <a:t>Аналитика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21240" y="4983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8099"/>
                </a:solidFill>
              </a:defRPr>
            </a:pPr>
            <a:r>
              <a:t>Предиктивная,</a:t>
            </a:r>
            <a:br/>
            <a:r>
              <a:t>поддержка решений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5943600"/>
            <a:ext cx="11247120" cy="411480"/>
          </a:xfrm>
          <a:prstGeom prst="roundRect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building-factor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" y="5971032"/>
            <a:ext cx="274320" cy="27432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51560" y="59893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</a:defRPr>
            </a:pPr>
            <a:r>
              <a:t>Энергетика  •  Электросети  •  Нефтегаз  •  Металлургия  •  Химия  •  Машиностроение  •  Транспорт  •  Умный город  •  ЦОД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91695" cy="320039"/>
          </a:xfrm>
          <a:prstGeom prst="rect">
            <a:avLst/>
          </a:prstGeom>
          <a:solidFill>
            <a:srgbClr val="06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8099"/>
                </a:solidFill>
              </a:defRPr>
            </a:pPr>
            <a:r>
              <a:t>Реестр ПО №17502  •  Патент РФ №2797756  •  Патент ЕАПО №045687  •  Свидетельство №2022660501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Архитектура ядра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099"/>
                </a:solidFill>
              </a:defRPr>
            </a:pPr>
            <a:r>
              <a:t>EDA + SOA — событийно-ориентированная и сервис-ориентированная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371600"/>
            <a:ext cx="4846320" cy="7772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1371600"/>
            <a:ext cx="54864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527048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14447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КЛИЕНТЫ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6479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</a:defRPr>
            </a:pPr>
            <a:r>
              <a:t>REST API  •  WebSocket  •  Web-браузер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240280"/>
            <a:ext cx="6309360" cy="7772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2240280"/>
            <a:ext cx="54864" cy="7772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ettings-auto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395728"/>
            <a:ext cx="41148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0" y="23134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</a:defRPr>
            </a:pPr>
            <a:r>
              <a:t>СЕРВИСЫ (SOA)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334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</a:defRPr>
            </a:pPr>
            <a:r>
              <a:t>События  •  Расчёты  •  Имитация  •  Архив  •  Скриптинг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3108960"/>
            <a:ext cx="7772400" cy="7772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94560" y="3108960"/>
            <a:ext cx="54864" cy="777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3264408"/>
            <a:ext cx="411480" cy="4114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26080" y="318211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</a:defRPr>
            </a:pPr>
            <a:r>
              <a:t>ЯДРО РЕАЛЬНОГО ВРЕМЕНИ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50215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</a:defRPr>
            </a:pPr>
            <a:r>
              <a:t>ОДА в RAM  •  Временные метки  •  Latency/Jitter  •  Кэш → Архив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3977639"/>
            <a:ext cx="9235440" cy="7772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63040" y="3977639"/>
            <a:ext cx="54864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l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4133087"/>
            <a:ext cx="411480" cy="4114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194560" y="4050791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ДРАЙВЕРЫ И ШЛЮЗЫ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370831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</a:defRPr>
            </a:pPr>
            <a:r>
              <a:t>OPC UA  •  Modbus  •  Profinet  •  MQTT  •  IEC 61850  •  13+ протоколов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846320"/>
            <a:ext cx="10698480" cy="7772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846320"/>
            <a:ext cx="54864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001768"/>
            <a:ext cx="411480" cy="411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463040" y="491947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ДАННЫЕ И ХРАНЕНИЕ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2395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</a:defRPr>
            </a:pPr>
            <a:r>
              <a:t>PostgreSQL 11 (мета)  •  ClickHouse 23 (TSDB)  •  Циклический архив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1371600"/>
            <a:ext cx="3017520" cy="14630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1371600"/>
            <a:ext cx="301752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netwo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508760"/>
            <a:ext cx="365760" cy="3657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14400" y="15361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</a:defRPr>
            </a:pPr>
            <a:r>
              <a:t>Кластер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19202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Multi-active (master-master)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Защищённая синхронизация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Балансировка нагрузки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Линейное масштабирование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1371600"/>
            <a:ext cx="3017520" cy="14630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69680" y="1371600"/>
            <a:ext cx="3017520" cy="45720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hield-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0" y="1508760"/>
            <a:ext cx="365760" cy="36576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509760" y="15361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0080"/>
                </a:solidFill>
              </a:defRPr>
            </a:pPr>
            <a:r>
              <a:t>Безопасность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19202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RBAC до уровня объекта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LDAP / Keycloak / SSO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Разделение ОДА/МДА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Межсетевые экраны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06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852159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8099"/>
                </a:solidFill>
              </a:defRPr>
            </a:pPr>
            <a:r>
              <a:t>Событие = реакция на изменение  •  Приоритеты 1–10  •  Квитирование  •  Аудиовизуальные тревоги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Состав платформы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1188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536192"/>
            <a:ext cx="548640" cy="548640"/>
          </a:xfrm>
          <a:prstGeom prst="ellipse">
            <a:avLst/>
          </a:prstGeom>
          <a:solidFill>
            <a:srgbClr val="00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you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0020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15361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SCADA/HMI 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7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Мнемосхемы (SVG) с динамикой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Виджеты: тренды, таблицы, видео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Фрагменты для внешних библиотек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Многоэкранные стенды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Web-доступ (nginx)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1188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0560" y="1536192"/>
            <a:ext cx="548640" cy="548640"/>
          </a:xfrm>
          <a:prstGeom prst="ellipse">
            <a:avLst/>
          </a:prstGeom>
          <a:solidFill>
            <a:srgbClr val="002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1600200"/>
            <a:ext cx="411480" cy="411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20640" y="15361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</a:defRPr>
            </a:pPr>
            <a:r>
              <a:t>Промышленная СУБД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029967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Кэш РВ в оперативной памяти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Циклический архив (сжатие)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PostgreSQL 11 — метаданные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ClickHouse 23 — TSDB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Экспорт/импорт данных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716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6118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1040" y="1536192"/>
            <a:ext cx="548640" cy="548640"/>
          </a:xfrm>
          <a:prstGeom prst="ellipse">
            <a:avLst/>
          </a:prstGeom>
          <a:solidFill>
            <a:srgbClr val="33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1600200"/>
            <a:ext cx="411480" cy="411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61120" y="15361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</a:defRPr>
            </a:pPr>
            <a:r>
              <a:t>Шлюз сопряжения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029967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9 промышленных протоколов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2 сетевых: ICMP, SNMP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5 внешних: Trassir, Perco...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ППИ для своих драйверов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Двусторонний обмен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148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36118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4279392"/>
            <a:ext cx="548640" cy="548640"/>
          </a:xfrm>
          <a:prstGeom prst="ellipse">
            <a:avLst/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4343400"/>
            <a:ext cx="411480" cy="411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80160" y="42793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SCADA IDE (Designtime)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773168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Редактор моделей и объектов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Конфигуратор событий/тревог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Конфигуратор драйверов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Скриптинг TypeScript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Подсветка синтаксиса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1148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4114800"/>
            <a:ext cx="3611880" cy="45720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80560" y="4279392"/>
            <a:ext cx="548640" cy="548640"/>
          </a:xfrm>
          <a:prstGeom prst="ellipse">
            <a:avLst/>
          </a:prstGeom>
          <a:solidFill>
            <a:srgbClr val="33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u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4568" y="4343400"/>
            <a:ext cx="411480" cy="4114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120640" y="42793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80"/>
                </a:solidFill>
              </a:defRPr>
            </a:pPr>
            <a:r>
              <a:t>Библиотека элементов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773168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Датчики, задвижки, насосы...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SVG-формат, любой редактор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Статика + динамика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Экспорт между проектами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Привязка к моделям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1148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4114800"/>
            <a:ext cx="3611880" cy="457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21040" y="4279392"/>
            <a:ext cx="548640" cy="548640"/>
          </a:xfrm>
          <a:prstGeom prst="ellipse">
            <a:avLst/>
          </a:prstGeom>
          <a:solidFill>
            <a:srgbClr val="33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hield-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5048" y="4343400"/>
            <a:ext cx="411480" cy="4114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961120" y="42793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0"/>
                </a:solidFill>
              </a:defRPr>
            </a:pPr>
            <a:r>
              <a:t>Шлюз безопасности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773168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LDAP / Active Directory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Keycloak (SSO)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Межсетевые экраны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Разделение ОДА/МДА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Мультитенантность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Протоколы, интеграции и платформы</a:t>
            </a:r>
          </a:p>
        </p:txBody>
      </p:sp>
      <p:sp>
        <p:nvSpPr>
          <p:cNvPr id="6" name="Oval 5"/>
          <p:cNvSpPr/>
          <p:nvPr/>
        </p:nvSpPr>
        <p:spPr>
          <a:xfrm>
            <a:off x="4754880" y="2377440"/>
            <a:ext cx="2651760" cy="2651760"/>
          </a:xfrm>
          <a:prstGeom prst="ellipse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754880" y="2377440"/>
            <a:ext cx="2651760" cy="2651760"/>
          </a:xfrm>
          <a:prstGeom prst="ellipse">
            <a:avLst/>
          </a:prstGeom>
          <a:noFill/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20640" y="2743200"/>
            <a:ext cx="1920240" cy="1920240"/>
          </a:xfrm>
          <a:prstGeom prst="ellipse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rver-sp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926080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0" y="3566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</a:defRPr>
            </a:pPr>
            <a:r>
              <a:t>SCADA Лацерта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931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8099"/>
                </a:solidFill>
              </a:defRPr>
            </a:pPr>
            <a:r>
              <a:t>Ядро платформы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188720"/>
            <a:ext cx="320040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188720"/>
            <a:ext cx="32004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l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79" y="1325880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59" y="1325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</a:defRPr>
            </a:pPr>
            <a:r>
              <a:t>Промышленные протоколы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645920"/>
            <a:ext cx="28346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OPC UA (клиент + сервер)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Modbus TCP (master + slave)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Profinet / S7Comm (Siemens)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MQTT (IIoT, облако)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BACnet (автоматизация зданий)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IEC 61850 (подстанции)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IEC 60870-5-104 (телемеханика)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NTP (синхронизация)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023360"/>
            <a:ext cx="3200400" cy="137160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023360"/>
            <a:ext cx="320040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nten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79" y="4160520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59" y="4160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</a:defRPr>
            </a:pPr>
            <a:r>
              <a:t>Сетевые и мониторинг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805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ICMP (доступность узлов)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SNMP v2/v3 (мониторинг сети)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Zabbix (IT-мониторинг)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1188720"/>
            <a:ext cx="3200400" cy="201168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188720"/>
            <a:ext cx="32004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evice-cct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325880"/>
            <a:ext cx="320040" cy="320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235440" y="1325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</a:defRPr>
            </a:pPr>
            <a:r>
              <a:t>Внешние системы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1645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Trassir — видеонаблюдение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Perco — СКУД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FindFace — распознавание лиц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OrionPro — СКУД Болид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Asterisk — IP-телефония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3383280"/>
            <a:ext cx="3200400" cy="16459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0" y="3383280"/>
            <a:ext cx="32004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3520440"/>
            <a:ext cx="320040" cy="3200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35440" y="3520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</a:defRPr>
            </a:pPr>
            <a:r>
              <a:t>API и связь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8404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REST API (клиентский)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WebSocket (рекомендуемый)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lacerta-протокол (кластер)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ППИ (SDK) для расширения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623560"/>
            <a:ext cx="5669280" cy="7315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566928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device-deskt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760720"/>
            <a:ext cx="274320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8680" y="57424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</a:defRPr>
            </a:pPr>
            <a:r>
              <a:t>Платформы: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0167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C4D8"/>
                </a:solidFill>
              </a:defRPr>
            </a:pPr>
            <a:r>
              <a:t>Astra Linux  •  ALT  •  РЕД ОС  •  ROSA  •  Ubuntu 18+  •  Debian 10  •  Windows 10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5623560"/>
            <a:ext cx="5669280" cy="7315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5623560"/>
            <a:ext cx="5669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ta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5760720"/>
            <a:ext cx="274320" cy="2743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12280" y="57424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</a:defRPr>
            </a:pPr>
            <a:r>
              <a:t>Стек: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0167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C4D8"/>
                </a:solidFill>
              </a:defRPr>
            </a:pPr>
            <a:r>
              <a:t>lacerta-server :8000  •  nginx :80  •  PostgreSQL :5432  •  ClickHouse :9000  •  lacerta-ui  •  drivers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Разработка и визуализация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1188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536192"/>
            <a:ext cx="548640" cy="548640"/>
          </a:xfrm>
          <a:prstGeom prst="ellipse">
            <a:avLst/>
          </a:prstGeom>
          <a:solidFill>
            <a:srgbClr val="00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0020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15361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Объектная модель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7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Модели → Объекты + наследование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Каскадное изменение при обновлении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Иерархия любой вложенности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Типы: bool, float, string, 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54570"/>
                </a:solidFill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61188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0560" y="1536192"/>
            <a:ext cx="548640" cy="548640"/>
          </a:xfrm>
          <a:prstGeom prst="ellipse">
            <a:avLst/>
          </a:prstGeom>
          <a:solidFill>
            <a:srgbClr val="002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1600200"/>
            <a:ext cx="411480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20640" y="15361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</a:defRPr>
            </a:pPr>
            <a:r>
              <a:t>IDE (Designtime)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29967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Редактор моделей и навигация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Привязка объектов к драйверам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Конфигуратор событий/ролей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TypeScript + подсветка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54570"/>
                </a:solidFill>
              </a:defRPr>
            </a:pPr>
            <a: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3716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6118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21040" y="1536192"/>
            <a:ext cx="548640" cy="548640"/>
          </a:xfrm>
          <a:prstGeom prst="ellipse">
            <a:avLst/>
          </a:prstGeom>
          <a:solidFill>
            <a:srgbClr val="33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gau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1600200"/>
            <a:ext cx="411480" cy="411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61120" y="15361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</a:defRPr>
            </a:pPr>
            <a:r>
              <a:t>Вычисления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029967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Калькулятор: арифметика, ∫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ЕСЛИ / ЕСЛИМН (условия)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Имитатор: sin, △, /|, □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Расширение через ППИ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1148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114800"/>
            <a:ext cx="36118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" y="4279392"/>
            <a:ext cx="548640" cy="548640"/>
          </a:xfrm>
          <a:prstGeom prst="ellipse">
            <a:avLst/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4343400"/>
            <a:ext cx="411480" cy="411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80160" y="42793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Мнемосхемы SVG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773168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Статика + динамика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Тренды, таблицы, камеры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Композитные (вложенные)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Многоэкранные + мобильные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49377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54570"/>
                </a:solidFill>
              </a:defRPr>
            </a:pPr>
            <a: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41148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114800"/>
            <a:ext cx="3611880" cy="45720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480560" y="4279392"/>
            <a:ext cx="548640" cy="548640"/>
          </a:xfrm>
          <a:prstGeom prst="ellipse">
            <a:avLst/>
          </a:prstGeom>
          <a:solidFill>
            <a:srgbClr val="33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netwo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4568" y="4343400"/>
            <a:ext cx="411480" cy="4114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120640" y="42793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80"/>
                </a:solidFill>
              </a:defRPr>
            </a:pPr>
            <a:r>
              <a:t>Привязка данных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4773168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Модель ↔ элемент (M:N)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Автовалидация связок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Скрипты поведения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Сценарии на TypeScript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49377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54570"/>
                </a:solidFill>
              </a:defRPr>
            </a:pPr>
            <a: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41148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4114800"/>
            <a:ext cx="3611880" cy="457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321040" y="4279392"/>
            <a:ext cx="548640" cy="548640"/>
          </a:xfrm>
          <a:prstGeom prst="ellipse">
            <a:avLst/>
          </a:prstGeom>
          <a:solidFill>
            <a:srgbClr val="33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hart-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5048" y="4343400"/>
            <a:ext cx="411480" cy="41148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961120" y="42793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0"/>
                </a:solidFill>
              </a:defRPr>
            </a:pPr>
            <a:r>
              <a:t>Данные и отчёты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773168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Таблицы: срез, изменения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Тренды: наложенные, сглаж.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Архив до 24ч (быстрый)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Экспорт / печать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Лицензирование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697480" cy="5486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69748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CF5"/>
                </a:solidFill>
              </a:defRPr>
            </a:pPr>
            <a:r>
              <a:t>∞  Безлимитные теги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697480" cy="5486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280160"/>
            <a:ext cx="269748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evice-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371600"/>
            <a:ext cx="320040" cy="320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3192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CF5"/>
                </a:solidFill>
              </a:defRPr>
            </a:pPr>
            <a:r>
              <a:t>∞  Безлимитные клиенты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80160"/>
            <a:ext cx="2697480" cy="5486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80160"/>
            <a:ext cx="269748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371600"/>
            <a:ext cx="320040" cy="320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800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CF5"/>
                </a:solidFill>
              </a:defRPr>
            </a:pPr>
            <a:r>
              <a:t>∞  Безлимитные подключения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280160"/>
            <a:ext cx="2697480" cy="5486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280160"/>
            <a:ext cx="26974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1371600"/>
            <a:ext cx="320040" cy="320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8408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CF5"/>
                </a:solidFill>
              </a:defRPr>
            </a:pPr>
            <a:r>
              <a:t>Лицензия по серверу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057400"/>
            <a:ext cx="2697480" cy="338328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269748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31620" y="2240280"/>
            <a:ext cx="548640" cy="548640"/>
          </a:xfrm>
          <a:prstGeom prst="ellipse">
            <a:avLst/>
          </a:prstGeom>
          <a:solidFill>
            <a:srgbClr val="00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313432"/>
            <a:ext cx="402336" cy="40233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7200" y="28803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СТАРТ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1546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990 000 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566160"/>
            <a:ext cx="2148840" cy="18288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6576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Платформа + Runtime + IDE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Библиотека элементов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4 базовых драйвера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Небольшие объекты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Пилотные проекты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1965960"/>
            <a:ext cx="2788920" cy="3566160"/>
          </a:xfrm>
          <a:prstGeom prst="roundRect">
            <a:avLst/>
          </a:prstGeom>
          <a:noFill/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83280" y="2057400"/>
            <a:ext cx="2697480" cy="3383280"/>
          </a:xfrm>
          <a:prstGeom prst="round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40480" y="1984248"/>
            <a:ext cx="1783080" cy="164592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1993392"/>
            <a:ext cx="1783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A1428"/>
                </a:solidFill>
              </a:defRPr>
            </a:pPr>
            <a:r>
              <a:t>★ ПОПУЛЯРНЫЙ</a:t>
            </a:r>
          </a:p>
        </p:txBody>
      </p:sp>
      <p:sp>
        <p:nvSpPr>
          <p:cNvPr id="34" name="Oval 33"/>
          <p:cNvSpPr/>
          <p:nvPr/>
        </p:nvSpPr>
        <p:spPr>
          <a:xfrm>
            <a:off x="4457700" y="2240280"/>
            <a:ext cx="548640" cy="548640"/>
          </a:xfrm>
          <a:prstGeom prst="ellipse">
            <a:avLst/>
          </a:prstGeom>
          <a:solidFill>
            <a:srgbClr val="002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0852" y="2313432"/>
            <a:ext cx="402336" cy="4023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383280" y="28803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</a:defRPr>
            </a:pPr>
            <a:r>
              <a:t>ПРО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31546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1 690 000 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0" y="3566160"/>
            <a:ext cx="2148840" cy="18288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0" y="36576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Всё из «Старт» плюс: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Промышленная СУБД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13+ драйверов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Калькулятор / Имитатор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Средние/крупные объекты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2057400"/>
            <a:ext cx="2697480" cy="338328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2057400"/>
            <a:ext cx="26974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383779" y="2240280"/>
            <a:ext cx="548640" cy="548640"/>
          </a:xfrm>
          <a:prstGeom prst="ellipse">
            <a:avLst/>
          </a:prstGeom>
          <a:solidFill>
            <a:srgbClr val="33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shield-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6931" y="2313432"/>
            <a:ext cx="402336" cy="40233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309360" y="28803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</a:defRPr>
            </a:pPr>
            <a:r>
              <a:t>КОРПОРАТИВНЫЙ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1546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2 490 000 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566160"/>
            <a:ext cx="2148840" cy="18288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36576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Всё из «Про» плюс: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Кластер multi-active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Шлюз безопасности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LDAP / Keycloak / SSO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РСУ, КИИ, диспетчерские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2057400"/>
            <a:ext cx="2697480" cy="338328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35440" y="2057400"/>
            <a:ext cx="2697480" cy="45720"/>
          </a:xfrm>
          <a:prstGeom prst="rect">
            <a:avLst/>
          </a:prstGeom>
          <a:solidFill>
            <a:srgbClr val="6B8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9860" y="2240280"/>
            <a:ext cx="548640" cy="548640"/>
          </a:xfrm>
          <a:prstGeom prst="ellipse">
            <a:avLst/>
          </a:prstGeom>
          <a:solidFill>
            <a:srgbClr val="15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rou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3012" y="2313432"/>
            <a:ext cx="402336" cy="40233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235440" y="28803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8099"/>
                </a:solidFill>
              </a:defRPr>
            </a:pPr>
            <a:r>
              <a:t>EDGE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31546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120 000 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760" y="3566160"/>
            <a:ext cx="2148840" cy="18288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18320" y="36576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Шлюз для удалённых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объектов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Скидки от 10 шт.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</a:p>
        </p:txBody>
      </p:sp>
      <p:sp>
        <p:nvSpPr>
          <p:cNvPr id="56" name="Rounded Rectangle 55"/>
          <p:cNvSpPr/>
          <p:nvPr/>
        </p:nvSpPr>
        <p:spPr>
          <a:xfrm>
            <a:off x="457200" y="5669280"/>
            <a:ext cx="11247120" cy="731520"/>
          </a:xfrm>
          <a:prstGeom prst="roundRect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Готовы обсудить ваш проект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0" y="5806440"/>
            <a:ext cx="2103120" cy="41148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wor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5852160"/>
            <a:ext cx="256032" cy="25603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440680" y="5852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</a:defRPr>
            </a:pPr>
            <a:r>
              <a:t>apcslab.ru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0" y="5806440"/>
            <a:ext cx="2103120" cy="41148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device-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5852160"/>
            <a:ext cx="256032" cy="25603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726679" y="5852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</a:defRPr>
            </a:pPr>
            <a:r>
              <a:t>8 (800) 550-26-21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01200" y="5806440"/>
            <a:ext cx="2103120" cy="41148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bol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2640" y="5852160"/>
            <a:ext cx="256032" cy="256032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012680" y="5852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8C00"/>
                </a:solidFill>
              </a:defRPr>
            </a:pPr>
            <a:r>
              <a:t>info@apcslab.ru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37960"/>
            <a:ext cx="12191695" cy="320039"/>
          </a:xfrm>
          <a:prstGeom prst="rect">
            <a:avLst/>
          </a:prstGeom>
          <a:solidFill>
            <a:srgbClr val="06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8099"/>
                </a:solidFill>
              </a:defRPr>
            </a:pPr>
            <a:r>
              <a:t>Реестр ПО №17502  •  Патент РФ  •  Патент ЕАПО  •  Импортозамещение  •  Сертификация ФСТЭК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